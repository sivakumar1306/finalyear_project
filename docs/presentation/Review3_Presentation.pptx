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7" r:id="rId2"/>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52" y="18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i="0">
                <a:solidFill>
                  <a:srgbClr val="1D2F82"/>
                </a:solidFill>
                <a:latin typeface="Calibri"/>
              </a:rPr>
              <a:t>Strict numeric grounding (higher is better)</a:t>
            </a:r>
          </a:p>
        </c:rich>
      </c:tx>
      <c:layout/>
      <c:overlay val="0"/>
    </c:title>
    <c:autoTitleDeleted val="0"/>
    <c:plotArea>
      <c:barChart>
        <c:barDir val="col"/>
        <c:grouping val="clustered"/>
        <c:ser>
          <c:idx val="0"/>
          <c:order val="0"/>
          <c:tx>
            <c:strRef>
              <c:f>Sheet1!$B$1</c:f>
              <c:strCache>
                <c:ptCount val="1"/>
                <c:pt idx="0">
                  <c:v>Strict grounding</c:v>
                </c:pt>
              </c:strCache>
            </c:strRef>
          </c:tx>
          <c:spPr>
            <a:solidFill>
              <a:srgbClr val="1D2F82"/>
            </a:solidFill>
          </c:spPr>
          <c:dPt>
            <c:idx val="0"/>
            <c:spPr>
              <a:solidFill>
                <a:srgbClr val="1D2F82"/>
              </a:solidFill>
            </c:spPr>
          </c:dPt>
          <c:dPt>
            <c:idx val="1"/>
            <c:spPr>
              <a:solidFill>
                <a:srgbClr val="1D2F82"/>
              </a:solidFill>
            </c:spPr>
          </c:dPt>
          <c:dPt>
            <c:idx val="2"/>
            <c:spPr>
              <a:solidFill>
                <a:srgbClr val="1D2F82"/>
              </a:solidFill>
            </c:spPr>
          </c:dPt>
          <c:dPt>
            <c:idx val="3"/>
            <c:spPr>
              <a:solidFill>
                <a:srgbClr val="D96C1E"/>
              </a:solidFill>
            </c:spPr>
          </c:dPt>
          <c:cat>
            <c:strRef>
              <c:f>Sheet1!$A$2:$A$5</c:f>
              <c:strCache>
                <c:ptCount val="4"/>
                <c:pt idx="0">
                  <c:v>A – Plain LLM</c:v>
                </c:pt>
                <c:pt idx="1">
                  <c:v>B – Plain RAG</c:v>
                </c:pt>
                <c:pt idx="2">
                  <c:v>C – Baseline</c:v>
                </c:pt>
                <c:pt idx="3">
                  <c:v>D – Ours</c:v>
                </c:pt>
              </c:strCache>
            </c:strRef>
          </c:cat>
          <c:val>
            <c:numRef>
              <c:f>Sheet1!$B$2:$B$5</c:f>
              <c:numCache>
                <c:formatCode>General</c:formatCode>
                <c:ptCount val="4"/>
                <c:pt idx="0">
                  <c:v>0.723</c:v>
                </c:pt>
                <c:pt idx="1">
                  <c:v>0.606</c:v>
                </c:pt>
                <c:pt idx="2">
                  <c:v>0.955</c:v>
                </c:pt>
                <c:pt idx="3">
                  <c:v>0.979</c:v>
                </c:pt>
              </c:numCache>
            </c:numRef>
          </c:val>
        </c:ser>
        <c:dLbls>
          <c:numFmt formatCode="0.000" sourceLinked="0"/>
          <c:txPr>
            <a:bodyPr/>
            <a:lstStyle/>
            <a:p>
              <a:pPr>
                <a:defRPr sz="1200">
                  <a:solidFill>
                    <a:srgbClr val="000000"/>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FC4D6"/>
            </a:solidFill>
          </a:ln>
        </c:spPr>
        <c:txPr>
          <a:bodyPr/>
          <a:lstStyle/>
          <a:p>
            <a:pPr>
              <a:defRPr sz="1200">
                <a:solidFill>
                  <a:srgbClr val="000000"/>
                </a:solidFill>
              </a:defRPr>
            </a:pPr>
          </a:p>
        </c:txPr>
        <c:crossAx val="-2113994440"/>
        <c:crosses val="autoZero"/>
        <c:auto val="1"/>
        <c:lblAlgn val="ctr"/>
        <c:lblOffset val="100"/>
        <c:noMultiLvlLbl val="0"/>
      </c:catAx>
      <c:valAx>
        <c:axId val="-2113994440"/>
        <c:scaling>
          <c:max val="1.1"/>
          <c:min val="0.0"/>
        </c:scaling>
        <c:delete val="0"/>
        <c:axPos val="l"/>
        <c:majorGridlines>
          <c:spPr>
            <a:ln>
              <a:solidFill>
                <a:srgbClr val="E3E6EF"/>
              </a:solidFill>
            </a:ln>
          </c:spPr>
        </c:majorGridlines>
        <c:majorTickMark val="out"/>
        <c:minorTickMark val="none"/>
        <c:tickLblPos val="nextTo"/>
        <c:spPr>
          <a:ln>
            <a:noFill/>
          </a:ln>
        </c:spPr>
        <c:txPr>
          <a:bodyPr/>
          <a:lstStyle/>
          <a:p>
            <a:pPr>
              <a:defRPr sz="1100">
                <a:solidFill>
                  <a:srgbClr val="595959"/>
                </a:solidFill>
              </a:defRPr>
            </a:pPr>
          </a:p>
        </c:txPr>
        <c:crossAx val="-2068027336"/>
        <c:crosses val="autoZero"/>
      </c:valAx>
    </c:plotArea>
    <c:dispBlanksAs val="gap"/>
  </c:chart>
  <c:txPr>
    <a:bodyPr/>
    <a:lstStyle/>
    <a:p>
      <a:pPr>
        <a:defRPr sz="12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i="0">
                <a:solidFill>
                  <a:srgbClr val="1D2F82"/>
                </a:solidFill>
                <a:latin typeface="Calibri"/>
              </a:rPr>
              <a:t>Physiology risk on normal luteal days</a:t>
            </a:r>
          </a:p>
        </c:rich>
      </c:tx>
      <c:layout/>
      <c:overlay val="0"/>
    </c:title>
    <c:autoTitleDeleted val="0"/>
    <c:plotArea>
      <c:barChart>
        <c:barDir val="col"/>
        <c:grouping val="clustered"/>
        <c:ser>
          <c:idx val="0"/>
          <c:order val="0"/>
          <c:tx>
            <c:strRef>
              <c:f>Sheet1!$B$1</c:f>
              <c:strCache>
                <c:ptCount val="1"/>
                <c:pt idx="0">
                  <c:v>Without cycle-aware baseline</c:v>
                </c:pt>
              </c:strCache>
            </c:strRef>
          </c:tx>
          <c:spPr>
            <a:solidFill>
              <a:srgbClr val="9AA6CF"/>
            </a:solidFill>
          </c:spPr>
          <c:cat>
            <c:strRef>
              <c:f>Sheet1!$A$2:$A$3</c:f>
              <c:strCache>
                <c:ptCount val="2"/>
                <c:pt idx="0">
                  <c:v>Priya (healthy)</c:v>
                </c:pt>
                <c:pt idx="1">
                  <c:v>Meera (strained)</c:v>
                </c:pt>
              </c:strCache>
            </c:strRef>
          </c:cat>
          <c:val>
            <c:numRef>
              <c:f>Sheet1!$B$2:$B$3</c:f>
              <c:numCache>
                <c:formatCode>General</c:formatCode>
                <c:ptCount val="2"/>
                <c:pt idx="0">
                  <c:v>18.1</c:v>
                </c:pt>
                <c:pt idx="1">
                  <c:v>19.3</c:v>
                </c:pt>
              </c:numCache>
            </c:numRef>
          </c:val>
        </c:ser>
        <c:ser>
          <c:idx val="1"/>
          <c:order val="1"/>
          <c:tx>
            <c:strRef>
              <c:f>Sheet1!$C$1</c:f>
              <c:strCache>
                <c:ptCount val="1"/>
                <c:pt idx="0">
                  <c:v>With cycle-aware baseline</c:v>
                </c:pt>
              </c:strCache>
            </c:strRef>
          </c:tx>
          <c:spPr>
            <a:solidFill>
              <a:srgbClr val="1D2F82"/>
            </a:solidFill>
          </c:spPr>
          <c:cat>
            <c:strRef>
              <c:f>Sheet1!$A$2:$A$3</c:f>
              <c:strCache>
                <c:ptCount val="2"/>
                <c:pt idx="0">
                  <c:v>Priya (healthy)</c:v>
                </c:pt>
                <c:pt idx="1">
                  <c:v>Meera (strained)</c:v>
                </c:pt>
              </c:strCache>
            </c:strRef>
          </c:cat>
          <c:val>
            <c:numRef>
              <c:f>Sheet1!$C$2:$C$3</c:f>
              <c:numCache>
                <c:formatCode>General</c:formatCode>
                <c:ptCount val="2"/>
                <c:pt idx="0">
                  <c:v>10.2</c:v>
                </c:pt>
                <c:pt idx="1">
                  <c:v>11.5</c:v>
                </c:pt>
              </c:numCache>
            </c:numRef>
          </c:val>
        </c:ser>
        <c:dLbls>
          <c:numFmt formatCode="0.0" sourceLinked="0"/>
          <c:txPr>
            <a:bodyPr/>
            <a:lstStyle/>
            <a:p>
              <a:pPr>
                <a:defRPr sz="1200">
                  <a:solidFill>
                    <a:srgbClr val="000000"/>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FC4D6"/>
            </a:solidFill>
          </a:ln>
        </c:spPr>
        <c:txPr>
          <a:bodyPr/>
          <a:lstStyle/>
          <a:p>
            <a:pPr>
              <a:defRPr sz="1200">
                <a:solidFill>
                  <a:srgbClr val="000000"/>
                </a:solidFill>
              </a:defRPr>
            </a:pPr>
          </a:p>
        </c:txPr>
        <c:crossAx val="-2113994440"/>
        <c:crosses val="autoZero"/>
        <c:auto val="1"/>
        <c:lblAlgn val="ctr"/>
        <c:lblOffset val="100"/>
        <c:noMultiLvlLbl val="0"/>
      </c:catAx>
      <c:valAx>
        <c:axId val="-2113994440"/>
        <c:scaling>
          <c:max val="25.0"/>
          <c:min val="0.0"/>
        </c:scaling>
        <c:delete val="0"/>
        <c:axPos val="l"/>
        <c:majorGridlines>
          <c:spPr>
            <a:ln>
              <a:solidFill>
                <a:srgbClr val="E3E6EF"/>
              </a:solidFill>
            </a:ln>
          </c:spPr>
        </c:majorGridlines>
        <c:majorTickMark val="out"/>
        <c:minorTickMark val="none"/>
        <c:tickLblPos val="nextTo"/>
        <c:spPr>
          <a:ln>
            <a:noFill/>
          </a:ln>
        </c:spPr>
        <c:txPr>
          <a:bodyPr/>
          <a:lstStyle/>
          <a:p>
            <a:pPr>
              <a:defRPr sz="1100">
                <a:solidFill>
                  <a:srgbClr val="595959"/>
                </a:solidFill>
              </a:defRPr>
            </a:pPr>
          </a:p>
        </c:txPr>
        <c:crossAx val="-2068027336"/>
        <c:crosses val="autoZero"/>
      </c:valAx>
    </c:plotArea>
    <c:legend>
      <c:legendPos val="t"/>
      <c:overlay val="0"/>
      <c:txPr>
        <a:bodyPr/>
        <a:lstStyle/>
        <a:p>
          <a:pPr>
            <a:defRPr sz="1200"/>
          </a:pPr>
        </a:p>
      </c:txPr>
    </c:legend>
    <c:dispBlanksAs val="gap"/>
  </c:chart>
  <c:txPr>
    <a:bodyPr/>
    <a:lstStyle/>
    <a:p>
      <a:pPr>
        <a:defRPr sz="12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i="0">
                <a:solidFill>
                  <a:srgbClr val="1D2F82"/>
                </a:solidFill>
                <a:latin typeface="Calibri"/>
              </a:rPr>
              <a:t>Separating fallers from non-fallers (AUC)</a:t>
            </a:r>
          </a:p>
        </c:rich>
      </c:tx>
      <c:layout/>
      <c:overlay val="0"/>
    </c:title>
    <c:autoTitleDeleted val="0"/>
    <c:plotArea>
      <c:barChart>
        <c:barDir val="bar"/>
        <c:grouping val="clustered"/>
        <c:ser>
          <c:idx val="0"/>
          <c:order val="0"/>
          <c:tx>
            <c:strRef>
              <c:f>Sheet1!$B$1</c:f>
              <c:strCache>
                <c:ptCount val="1"/>
                <c:pt idx="0">
                  <c:v>AUC</c:v>
                </c:pt>
              </c:strCache>
            </c:strRef>
          </c:tx>
          <c:spPr>
            <a:solidFill>
              <a:srgbClr val="1D2F82"/>
            </a:solidFill>
          </c:spPr>
          <c:dPt>
            <c:idx val="0"/>
            <c:spPr>
              <a:solidFill>
                <a:srgbClr val="1D2F82"/>
              </a:solidFill>
            </c:spPr>
          </c:dPt>
          <c:dPt>
            <c:idx val="1"/>
            <c:spPr>
              <a:solidFill>
                <a:srgbClr val="1D2F82"/>
              </a:solidFill>
            </c:spPr>
          </c:dPt>
          <c:dPt>
            <c:idx val="2"/>
            <c:spPr>
              <a:solidFill>
                <a:srgbClr val="D96C1E"/>
              </a:solidFill>
            </c:spPr>
          </c:dPt>
          <c:dPt>
            <c:idx val="3"/>
            <c:spPr>
              <a:solidFill>
                <a:srgbClr val="1D2F82"/>
              </a:solidFill>
            </c:spPr>
          </c:dPt>
          <c:dPt>
            <c:idx val="4"/>
            <c:spPr>
              <a:solidFill>
                <a:srgbClr val="1D2F82"/>
              </a:solidFill>
            </c:spPr>
          </c:dPt>
          <c:cat>
            <c:strRef>
              <c:f>Sheet1!$A$2:$A$6</c:f>
              <c:strCache>
                <c:ptCount val="5"/>
                <c:pt idx="0">
                  <c:v>Berg Balance (clinical)</c:v>
                </c:pt>
                <c:pt idx="1">
                  <c:v>Timed Up and Go (clinical)</c:v>
                </c:pt>
                <c:pt idx="2">
                  <c:v>Our index (no training)</c:v>
                </c:pt>
                <c:pt idx="3">
                  <c:v>Logistic regression (trained)</c:v>
                </c:pt>
                <c:pt idx="4">
                  <c:v>Cadence alone</c:v>
                </c:pt>
              </c:strCache>
            </c:strRef>
          </c:cat>
          <c:val>
            <c:numRef>
              <c:f>Sheet1!$B$2:$B$6</c:f>
              <c:numCache>
                <c:formatCode>General</c:formatCode>
                <c:ptCount val="5"/>
                <c:pt idx="0">
                  <c:v>0.618</c:v>
                </c:pt>
                <c:pt idx="1">
                  <c:v>0.683</c:v>
                </c:pt>
                <c:pt idx="2">
                  <c:v>0.686</c:v>
                </c:pt>
                <c:pt idx="3">
                  <c:v>0.721</c:v>
                </c:pt>
                <c:pt idx="4">
                  <c:v>0.77</c:v>
                </c:pt>
              </c:numCache>
            </c:numRef>
          </c:val>
        </c:ser>
        <c:dLbls>
          <c:numFmt formatCode="0.000" sourceLinked="0"/>
          <c:txPr>
            <a:bodyPr/>
            <a:lstStyle/>
            <a:p>
              <a:pPr>
                <a:defRPr sz="1200">
                  <a:solidFill>
                    <a:srgbClr val="000000"/>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BFC4D6"/>
            </a:solidFill>
          </a:ln>
        </c:spPr>
        <c:txPr>
          <a:bodyPr/>
          <a:lstStyle/>
          <a:p>
            <a:pPr>
              <a:defRPr sz="1200">
                <a:solidFill>
                  <a:srgbClr val="000000"/>
                </a:solidFill>
              </a:defRPr>
            </a:pPr>
          </a:p>
        </c:txPr>
        <c:crossAx val="-2113994440"/>
        <c:crosses val="autoZero"/>
        <c:auto val="1"/>
        <c:lblAlgn val="ctr"/>
        <c:lblOffset val="100"/>
        <c:noMultiLvlLbl val="0"/>
      </c:catAx>
      <c:valAx>
        <c:axId val="-2113994440"/>
        <c:scaling>
          <c:max val="1.0"/>
          <c:min val="0.0"/>
        </c:scaling>
        <c:delete val="0"/>
        <c:axPos val="b"/>
        <c:majorGridlines>
          <c:spPr>
            <a:ln>
              <a:solidFill>
                <a:srgbClr val="E3E6EF"/>
              </a:solidFill>
            </a:ln>
          </c:spPr>
        </c:majorGridlines>
        <c:majorTickMark val="out"/>
        <c:minorTickMark val="none"/>
        <c:tickLblPos val="nextTo"/>
        <c:spPr>
          <a:ln>
            <a:noFill/>
          </a:ln>
        </c:spPr>
        <c:txPr>
          <a:bodyPr/>
          <a:lstStyle/>
          <a:p>
            <a:pPr>
              <a:defRPr sz="1100">
                <a:solidFill>
                  <a:srgbClr val="595959"/>
                </a:solidFill>
              </a:defRPr>
            </a:pPr>
          </a:p>
        </c:txPr>
        <c:crossAx val="-2068027336"/>
        <c:crosses val="autoZero"/>
      </c:valAx>
    </c:plotArea>
    <c:dispBlanksAs val="gap"/>
  </c:chart>
  <c:txPr>
    <a:bodyPr/>
    <a:lstStyle/>
    <a:p>
      <a:pPr>
        <a:defRPr sz="12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i="0">
                <a:solidFill>
                  <a:srgbClr val="1D2F82"/>
                </a:solidFill>
                <a:latin typeface="Calibri"/>
              </a:rPr>
              <a:t>Mean reply latency in the batch run (s)</a:t>
            </a:r>
          </a:p>
        </c:rich>
      </c:tx>
      <c:layout/>
      <c:overlay val="0"/>
    </c:title>
    <c:autoTitleDeleted val="0"/>
    <c:plotArea>
      <c:barChart>
        <c:barDir val="col"/>
        <c:grouping val="clustered"/>
        <c:ser>
          <c:idx val="0"/>
          <c:order val="0"/>
          <c:tx>
            <c:strRef>
              <c:f>Sheet1!$B$1</c:f>
              <c:strCache>
                <c:ptCount val="1"/>
                <c:pt idx="0">
                  <c:v>Mean latency (s)</c:v>
                </c:pt>
              </c:strCache>
            </c:strRef>
          </c:tx>
          <c:spPr>
            <a:solidFill>
              <a:srgbClr val="1D2F82"/>
            </a:solidFill>
          </c:spPr>
          <c:dPt>
            <c:idx val="0"/>
            <c:spPr>
              <a:solidFill>
                <a:srgbClr val="1D2F82"/>
              </a:solidFill>
            </c:spPr>
          </c:dPt>
          <c:dPt>
            <c:idx val="1"/>
            <c:spPr>
              <a:solidFill>
                <a:srgbClr val="1D2F82"/>
              </a:solidFill>
            </c:spPr>
          </c:dPt>
          <c:dPt>
            <c:idx val="2"/>
            <c:spPr>
              <a:solidFill>
                <a:srgbClr val="1D2F82"/>
              </a:solidFill>
            </c:spPr>
          </c:dPt>
          <c:dPt>
            <c:idx val="3"/>
            <c:spPr>
              <a:solidFill>
                <a:srgbClr val="D96C1E"/>
              </a:solidFill>
            </c:spPr>
          </c:dPt>
          <c:cat>
            <c:strRef>
              <c:f>Sheet1!$A$2:$A$5</c:f>
              <c:strCache>
                <c:ptCount val="4"/>
                <c:pt idx="0">
                  <c:v>A – Plain LLM</c:v>
                </c:pt>
                <c:pt idx="1">
                  <c:v>B – Plain RAG</c:v>
                </c:pt>
                <c:pt idx="2">
                  <c:v>C – Baseline</c:v>
                </c:pt>
                <c:pt idx="3">
                  <c:v>D – Ours</c:v>
                </c:pt>
              </c:strCache>
            </c:strRef>
          </c:cat>
          <c:val>
            <c:numRef>
              <c:f>Sheet1!$B$2:$B$5</c:f>
              <c:numCache>
                <c:formatCode>General</c:formatCode>
                <c:ptCount val="4"/>
                <c:pt idx="0">
                  <c:v>2.9</c:v>
                </c:pt>
                <c:pt idx="1">
                  <c:v>16.82</c:v>
                </c:pt>
                <c:pt idx="2">
                  <c:v>15.98</c:v>
                </c:pt>
                <c:pt idx="3">
                  <c:v>19.61</c:v>
                </c:pt>
              </c:numCache>
            </c:numRef>
          </c:val>
        </c:ser>
        <c:dLbls>
          <c:numFmt formatCode="0.0" sourceLinked="0"/>
          <c:txPr>
            <a:bodyPr/>
            <a:lstStyle/>
            <a:p>
              <a:pPr>
                <a:defRPr sz="1200">
                  <a:solidFill>
                    <a:srgbClr val="000000"/>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FC4D6"/>
            </a:solidFill>
          </a:ln>
        </c:spPr>
        <c:txPr>
          <a:bodyPr/>
          <a:lstStyle/>
          <a:p>
            <a:pPr>
              <a:defRPr sz="1200">
                <a:solidFill>
                  <a:srgbClr val="000000"/>
                </a:solidFill>
              </a:defRPr>
            </a:pPr>
          </a:p>
        </c:txPr>
        <c:crossAx val="-2113994440"/>
        <c:crosses val="autoZero"/>
        <c:auto val="1"/>
        <c:lblAlgn val="ctr"/>
        <c:lblOffset val="100"/>
        <c:noMultiLvlLbl val="0"/>
      </c:catAx>
      <c:valAx>
        <c:axId val="-2113994440"/>
        <c:scaling>
          <c:max val="24.0"/>
          <c:min val="0.0"/>
        </c:scaling>
        <c:delete val="0"/>
        <c:axPos val="l"/>
        <c:majorGridlines>
          <c:spPr>
            <a:ln>
              <a:solidFill>
                <a:srgbClr val="E3E6EF"/>
              </a:solidFill>
            </a:ln>
          </c:spPr>
        </c:majorGridlines>
        <c:majorTickMark val="out"/>
        <c:minorTickMark val="none"/>
        <c:tickLblPos val="nextTo"/>
        <c:spPr>
          <a:ln>
            <a:noFill/>
          </a:ln>
        </c:spPr>
        <c:txPr>
          <a:bodyPr/>
          <a:lstStyle/>
          <a:p>
            <a:pPr>
              <a:defRPr sz="1100">
                <a:solidFill>
                  <a:srgbClr val="595959"/>
                </a:solidFill>
              </a:defRPr>
            </a:pPr>
          </a:p>
        </c:txPr>
        <c:crossAx val="-2068027336"/>
        <c:crosses val="autoZero"/>
      </c:valAx>
    </c:plotArea>
    <c:dispBlanksAs val="gap"/>
  </c:chart>
  <c:txPr>
    <a:bodyPr/>
    <a:lstStyle/>
    <a:p>
      <a:pPr>
        <a:defRPr sz="12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8932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title. This slide is signed by the guide and scanned before the review.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Start with the problem: falls are the leading cause of injury in older adults. Wearables detect a fall only after it happens, LLM chatbots invent numbers, and ML risk scores are black boxes. Then introduce the three parts we built.</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Four reasons this matters: predicting instead of reacting, trust through explanations, safety, and fairness for women. Stress that the system is a screening aid, never a diagnosis.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Read the problem statement, then walk through the objectives table: each objective, how it was achieved, and the measured outcome.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Left to right: the ring sends vitals over BLE to the Android app, which stores them on the phone (Room) and syncs to Supabase. The FastAPI backend on the laptop reads Supabase, runs the fall-risk engine and the agent, and answers the app. Key principle: the LLM never computes the score.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Each chat message runs in three stages. Stage 1 runs the router, the LLM safety classifier and the ring fall-event lookup in parallel and fuses the three safety signals. Stage 2 fetches only the needed data. Stage 3 runs the engine, the LLM explains, and every number is verified.</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Show the two screenshots. Explain the native BLE plugin, the measurement loop, local storage and sync, and phone-based fall detection. Mention the pairing fix: measurements now start within seconds of pairing.</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Walk through the four steps with the HRV example: median 45 ms, usual variation 7.4, today 30 gives z = 2.0 and strain 60. The median and MAD are used because one bad day cannot distort them. The dead zone ignores normal day-to-day wobble.</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layer weights come from published odds ratios. In logistic regression each risk factor's coefficient is ln(OR), so using ln(OR) as weights is using the published model's own coefficients, scaled to sum to 1. We did not train a model on a small dataset. Point at the app screenshot: the same weights appear on the score page.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Router: picks only the data needed; when a question is safety-related and the router is unsure, it fetches more, not less. Safety: any one strong signal triggers emergency mode; the biometric signal catches a fall even when the message sounds calm. Grounding: every number is checked and corrected once if wrong.</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Integration path from ring to answer. Optimisations: adaptive measurement cooldown, batched uploads, selective fetching (0.88 streams per answer instead of 12), and high-rate fall sensors only when risk is elevated. The pairing fix means the first reading arrives in seconds instead of minutes.</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Four versions on the same 11 scenarios, 3 of them emergencies. Only version D caught all three — one emergency was visible only through the ring's fall event, because the message sounded calm. D also had the highest grounding and was the only one to disclose stale data.</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engine puts each demo user in the expected tier and explains why — for Lakshmi, past falls and near-falls dominate. On normal luteal days, cycle-aware baselines cut physiology risk by about 40% and removed Meera's two false flags, while her genuine strain was still detected.</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Our ring users have never fallen, so we validated the approach on PhysioNet LTMM: 73 older adults, 35 fallers and 38 non-fallers. With no training, our gait index scored AUC 0.686, the same as the Timed Up and Go test doctors use. A trained model reached only 0.721. Limitations: back-worn sensor, motion layer only, past falls, small sample.</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Each existing work solves part of the problem. Our contribution is combining a transparent evidence-weighted score, cycle-aware baselines, three-signal safety and verified LLM numbers.</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Latency: in the batch evaluation version D averaged 19.6 s because it makes extra router, safety and verification calls — the cost of safety. A single live query on the laptop took about 3 s. Testing: 123 backend and 127 app tests pass, analyser clean, APK builds on every change.</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Standards that guided design, risk management, data protection and reporting. SDG 3 is the main goal; SDG 5 through cycle-aware fairness; SDG 9 and 10 through low-cost, explainable technology.</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Run the demo on the phone hotspot (campus Wi-Fi often blocks phone-to-laptop traffic). Keep the laptop terminal visible to show the Version D log. If anything fails, play the recorded video.</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 complete, working system from ring to verified answer. Read the four numbers, then the summary.</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Be upfront about the limitations, then show that each one maps to a concrete next step.</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IEEE format; the same references as the report bibliography.</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IEEE format; the same references as the report bibliography.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6.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8.xml"/><Relationship Id="rId4" Type="http://schemas.openxmlformats.org/officeDocument/2006/relationships/image" Target="../media/image4.jpg"/><Relationship Id="rId5" Type="http://schemas.openxmlformats.org/officeDocument/2006/relationships/image" Target="../media/image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9.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0.xml"/><Relationship Id="rId4" Type="http://schemas.openxmlformats.org/officeDocument/2006/relationships/image" Target="../media/image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3.xml"/><Relationship Id="rId4" Type="http://schemas.openxmlformats.org/officeDocument/2006/relationships/chart" Target="../charts/char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4.xml"/><Relationship Id="rId4" Type="http://schemas.openxmlformats.org/officeDocument/2006/relationships/chart" Target="../charts/char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5.xml"/><Relationship Id="rId4" Type="http://schemas.openxmlformats.org/officeDocument/2006/relationships/chart" Target="../charts/char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7.xml"/><Relationship Id="rId4" Type="http://schemas.openxmlformats.org/officeDocument/2006/relationships/chart" Target="../charts/char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sz="1000" b="0" i="0">
                <a:solidFill>
                  <a:srgbClr val="808080"/>
                </a:solidFill>
                <a:latin typeface="Calibri"/>
              </a:rPr>
              <a:t>1</a:t>
            </a:r>
            <a:endParaRPr lang="en-US" sz="1000" dirty="0"/>
          </a:p>
        </p:txBody>
      </p:sp>
      <p:pic>
        <p:nvPicPr>
          <p:cNvPr id="3" name="Image 0" descr="logo.png"/>
          <p:cNvPicPr>
            <a:picLocks noChangeAspect="1"/>
          </p:cNvPicPr>
          <p:nvPr/>
        </p:nvPicPr>
        <p:blipFill>
          <a:blip r:embed="rId3"/>
          <a:stretch>
            <a:fillRect/>
          </a:stretch>
        </p:blipFill>
        <p:spPr>
          <a:xfrm>
            <a:off x="548640" y="365760"/>
            <a:ext cx="2011680" cy="760828"/>
          </a:xfrm>
          <a:prstGeom prst="rect">
            <a:avLst/>
          </a:prstGeom>
        </p:spPr>
      </p:pic>
      <p:sp>
        <p:nvSpPr>
          <p:cNvPr id="4" name="Text 1"/>
          <p:cNvSpPr txBox="1"/>
          <p:nvPr/>
        </p:nvSpPr>
        <p:spPr>
          <a:xfrm>
            <a:off x="5486400" y="411480"/>
            <a:ext cx="6217920" cy="320040"/>
          </a:xfrm>
          <a:prstGeom prst="rect">
            <a:avLst/>
          </a:prstGeom>
          <a:noFill/>
          <a:ln/>
        </p:spPr>
        <p:txBody>
          <a:bodyPr wrap="square" lIns="0" tIns="0" rIns="0" bIns="0" rtlCol="0" anchor="ctr"/>
          <a:lstStyle/>
          <a:p>
            <a:pPr marL="0" indent="0" algn="r">
              <a:buNone/>
            </a:pPr>
            <a:r>
              <a:rPr lang="en-US" sz="1400" b="1" dirty="0">
                <a:solidFill>
                  <a:srgbClr val="1D2F82"/>
                </a:solidFill>
                <a:latin typeface="Calibri" pitchFamily="34" charset="0"/>
                <a:ea typeface="Calibri" pitchFamily="34" charset="-122"/>
                <a:cs typeface="Calibri" pitchFamily="34" charset="-120"/>
              </a:rPr>
              <a:t>School of Electronics Engineering (SENSE)</a:t>
            </a:r>
            <a:endParaRPr lang="en-US" sz="1400" dirty="0"/>
          </a:p>
        </p:txBody>
      </p:sp>
      <p:sp>
        <p:nvSpPr>
          <p:cNvPr id="5" name="Text 2"/>
          <p:cNvSpPr txBox="1"/>
          <p:nvPr/>
        </p:nvSpPr>
        <p:spPr>
          <a:xfrm>
            <a:off x="5486400" y="749808"/>
            <a:ext cx="6217920" cy="274320"/>
          </a:xfrm>
          <a:prstGeom prst="rect">
            <a:avLst/>
          </a:prstGeom>
          <a:noFill/>
          <a:ln/>
        </p:spPr>
        <p:txBody>
          <a:bodyPr wrap="square" lIns="0" tIns="0" rIns="0" bIns="0" rtlCol="0" anchor="ctr"/>
          <a:lstStyle/>
          <a:p>
            <a:pPr marL="0" indent="0" algn="r">
              <a:buNone/>
            </a:pPr>
            <a:r>
              <a:rPr lang="en-US" sz="1200" dirty="0">
                <a:solidFill>
                  <a:srgbClr val="000000"/>
                </a:solidFill>
                <a:latin typeface="Calibri" pitchFamily="34" charset="0"/>
                <a:ea typeface="Calibri" pitchFamily="34" charset="-122"/>
                <a:cs typeface="Calibri" pitchFamily="34" charset="-120"/>
              </a:rPr>
              <a:t>Project-I (2026)</a:t>
            </a:r>
            <a:endParaRPr lang="en-US" sz="1200" dirty="0"/>
          </a:p>
        </p:txBody>
      </p:sp>
      <p:sp>
        <p:nvSpPr>
          <p:cNvPr id="6" name="Text 3"/>
          <p:cNvSpPr txBox="1"/>
          <p:nvPr/>
        </p:nvSpPr>
        <p:spPr>
          <a:xfrm>
            <a:off x="548640" y="1280160"/>
            <a:ext cx="11091672" cy="1051560"/>
          </a:xfrm>
          <a:prstGeom prst="rect">
            <a:avLst/>
          </a:prstGeom>
          <a:noFill/>
          <a:ln/>
        </p:spPr>
        <p:txBody>
          <a:bodyPr wrap="square" lIns="0" tIns="0" rIns="0" bIns="0" rtlCol="0" anchor="ctr"/>
          <a:lstStyle/>
          <a:p>
            <a:pPr marL="0" indent="0" algn="ctr">
              <a:buNone/>
            </a:pPr>
            <a:r>
              <a:rPr sz="3000" b="1" i="0">
                <a:solidFill>
                  <a:srgbClr val="1D2F82"/>
                </a:solidFill>
                <a:latin typeface="Calibri"/>
              </a:rPr>
              <a:t>Leveraging Agentic AI for Intelligent Personalized Health Monitoring</a:t>
            </a:r>
            <a:endParaRPr lang="en-US" sz="3200" dirty="0"/>
          </a:p>
        </p:txBody>
      </p:sp>
      <p:sp>
        <p:nvSpPr>
          <p:cNvPr id="7" name="Text 4"/>
          <p:cNvSpPr txBox="1"/>
          <p:nvPr/>
        </p:nvSpPr>
        <p:spPr>
          <a:xfrm>
            <a:off x="822960" y="306324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Student Name(s):</a:t>
            </a:r>
            <a:endParaRPr lang="en-US" sz="1400" dirty="0"/>
          </a:p>
        </p:txBody>
      </p:sp>
      <p:sp>
        <p:nvSpPr>
          <p:cNvPr id="8" name="Text 5"/>
          <p:cNvSpPr txBox="1"/>
          <p:nvPr/>
        </p:nvSpPr>
        <p:spPr>
          <a:xfrm>
            <a:off x="3474720" y="3063240"/>
            <a:ext cx="4023360" cy="749808"/>
          </a:xfrm>
          <a:prstGeom prst="rect">
            <a:avLst/>
          </a:prstGeom>
          <a:noFill/>
          <a:ln/>
        </p:spPr>
        <p:txBody>
          <a:bodyPr wrap="square" lIns="0" tIns="0" rIns="0" bIns="0" rtlCol="0" anchor="ctr"/>
          <a:lstStyle/>
          <a:p>
            <a:pPr marL="0" indent="0">
              <a:buNone/>
            </a:pPr>
            <a:r>
              <a:rPr sz="1400" b="0" i="0">
                <a:solidFill>
                  <a:srgbClr val="000000"/>
                </a:solidFill>
                <a:latin typeface="Calibri"/>
              </a:rPr>
              <a:t>G Sivakumar — 23BCE1834</a:t>
            </a:r>
            <a:endParaRPr lang="en-US" sz="1400" dirty="0"/>
          </a:p>
          <a:p>
            <a:pPr marL="0" indent="0">
              <a:buNone/>
            </a:pPr>
            <a:r>
              <a:rPr sz="1400" b="0" i="0">
                <a:solidFill>
                  <a:srgbClr val="000000"/>
                </a:solidFill>
                <a:latin typeface="Calibri"/>
              </a:rPr>
              <a:t>Kriti Sahana V — 23BCE1868</a:t>
            </a:r>
            <a:endParaRPr lang="en-US" sz="1400" dirty="0"/>
          </a:p>
        </p:txBody>
      </p:sp>
      <p:sp>
        <p:nvSpPr>
          <p:cNvPr id="9" name="Shape 6"/>
          <p:cNvSpPr/>
          <p:nvPr/>
        </p:nvSpPr>
        <p:spPr>
          <a:xfrm>
            <a:off x="3474720" y="3831336"/>
            <a:ext cx="4023360" cy="0"/>
          </a:xfrm>
          <a:prstGeom prst="line">
            <a:avLst/>
          </a:prstGeom>
          <a:noFill/>
          <a:ln w="12700">
            <a:solidFill>
              <a:srgbClr val="BFBFBF"/>
            </a:solidFill>
            <a:prstDash val="solid"/>
          </a:ln>
        </p:spPr>
        <p:txBody>
          <a:bodyPr/>
          <a:lstStyle/>
          <a:p>
            <a:endParaRPr lang="en-US"/>
          </a:p>
        </p:txBody>
      </p:sp>
      <p:sp>
        <p:nvSpPr>
          <p:cNvPr id="10" name="Text 7"/>
          <p:cNvSpPr txBox="1"/>
          <p:nvPr/>
        </p:nvSpPr>
        <p:spPr>
          <a:xfrm>
            <a:off x="822960" y="402336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Guide:</a:t>
            </a:r>
            <a:endParaRPr lang="en-US" sz="1400" dirty="0"/>
          </a:p>
        </p:txBody>
      </p:sp>
      <p:sp>
        <p:nvSpPr>
          <p:cNvPr id="11" name="Text 8"/>
          <p:cNvSpPr txBox="1"/>
          <p:nvPr/>
        </p:nvSpPr>
        <p:spPr>
          <a:xfrm>
            <a:off x="3474720" y="4023360"/>
            <a:ext cx="4023360" cy="384048"/>
          </a:xfrm>
          <a:prstGeom prst="rect">
            <a:avLst/>
          </a:prstGeom>
          <a:noFill/>
          <a:ln/>
        </p:spPr>
        <p:txBody>
          <a:bodyPr wrap="square" lIns="0" tIns="0" rIns="0" bIns="0" rtlCol="0" anchor="ctr"/>
          <a:lstStyle/>
          <a:p>
            <a:pPr marL="0" indent="0">
              <a:buNone/>
            </a:pPr>
            <a:r>
              <a:rPr sz="1400" b="0" i="0">
                <a:solidFill>
                  <a:srgbClr val="000000"/>
                </a:solidFill>
                <a:latin typeface="Calibri"/>
              </a:rPr>
              <a:t>Dr. Sheena Christabel Pravin, SENSE</a:t>
            </a:r>
            <a:endParaRPr lang="en-US" sz="1400" dirty="0"/>
          </a:p>
        </p:txBody>
      </p:sp>
      <p:sp>
        <p:nvSpPr>
          <p:cNvPr id="12" name="Shape 9"/>
          <p:cNvSpPr/>
          <p:nvPr/>
        </p:nvSpPr>
        <p:spPr>
          <a:xfrm>
            <a:off x="3474720" y="4425696"/>
            <a:ext cx="4023360" cy="0"/>
          </a:xfrm>
          <a:prstGeom prst="line">
            <a:avLst/>
          </a:prstGeom>
          <a:noFill/>
          <a:ln w="12700">
            <a:solidFill>
              <a:srgbClr val="BFBFBF"/>
            </a:solidFill>
            <a:prstDash val="solid"/>
          </a:ln>
        </p:spPr>
        <p:txBody>
          <a:bodyPr/>
          <a:lstStyle/>
          <a:p>
            <a:endParaRPr lang="en-US"/>
          </a:p>
        </p:txBody>
      </p:sp>
      <p:sp>
        <p:nvSpPr>
          <p:cNvPr id="13" name="Text 10"/>
          <p:cNvSpPr txBox="1"/>
          <p:nvPr/>
        </p:nvSpPr>
        <p:spPr>
          <a:xfrm>
            <a:off x="822960" y="461772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Programme / School:</a:t>
            </a:r>
            <a:endParaRPr lang="en-US" sz="1400" dirty="0"/>
          </a:p>
        </p:txBody>
      </p:sp>
      <p:sp>
        <p:nvSpPr>
          <p:cNvPr id="14" name="Text 11"/>
          <p:cNvSpPr txBox="1"/>
          <p:nvPr/>
        </p:nvSpPr>
        <p:spPr>
          <a:xfrm>
            <a:off x="3474720" y="4617720"/>
            <a:ext cx="4023360" cy="384048"/>
          </a:xfrm>
          <a:prstGeom prst="rect">
            <a:avLst/>
          </a:prstGeom>
          <a:noFill/>
          <a:ln/>
        </p:spPr>
        <p:txBody>
          <a:bodyPr wrap="square" lIns="0" tIns="0" rIns="0" bIns="0" rtlCol="0" anchor="ctr"/>
          <a:lstStyle/>
          <a:p>
            <a:pPr marL="0" indent="0">
              <a:buNone/>
            </a:pPr>
            <a:r>
              <a:rPr sz="1400" b="0" i="0">
                <a:solidFill>
                  <a:srgbClr val="000000"/>
                </a:solidFill>
                <a:latin typeface="Calibri"/>
              </a:rPr>
              <a:t>B.Tech ECM — SENSE, VIT Chennai</a:t>
            </a:r>
            <a:endParaRPr lang="en-US" sz="1400" dirty="0"/>
          </a:p>
        </p:txBody>
      </p:sp>
      <p:sp>
        <p:nvSpPr>
          <p:cNvPr id="15" name="Shape 12"/>
          <p:cNvSpPr/>
          <p:nvPr/>
        </p:nvSpPr>
        <p:spPr>
          <a:xfrm>
            <a:off x="3474720" y="5020056"/>
            <a:ext cx="4023360" cy="0"/>
          </a:xfrm>
          <a:prstGeom prst="line">
            <a:avLst/>
          </a:prstGeom>
          <a:noFill/>
          <a:ln w="12700">
            <a:solidFill>
              <a:srgbClr val="BFBFBF"/>
            </a:solidFill>
            <a:prstDash val="solid"/>
          </a:ln>
        </p:spPr>
        <p:txBody>
          <a:bodyPr/>
          <a:lstStyle/>
          <a:p>
            <a:endParaRPr lang="en-US"/>
          </a:p>
        </p:txBody>
      </p:sp>
      <p:sp>
        <p:nvSpPr>
          <p:cNvPr id="16" name="Text 13"/>
          <p:cNvSpPr txBox="1"/>
          <p:nvPr/>
        </p:nvSpPr>
        <p:spPr>
          <a:xfrm>
            <a:off x="822960" y="521208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Review &amp; Date:</a:t>
            </a:r>
            <a:endParaRPr lang="en-US" sz="1400" dirty="0"/>
          </a:p>
        </p:txBody>
      </p:sp>
      <p:sp>
        <p:nvSpPr>
          <p:cNvPr id="17" name="Text 14"/>
          <p:cNvSpPr txBox="1"/>
          <p:nvPr/>
        </p:nvSpPr>
        <p:spPr>
          <a:xfrm>
            <a:off x="3474720" y="5212080"/>
            <a:ext cx="4023360" cy="38404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Review-III  ·  28.10.2026 (Wednesday)</a:t>
            </a:r>
            <a:endParaRPr lang="en-US" sz="1400" dirty="0"/>
          </a:p>
        </p:txBody>
      </p:sp>
      <p:sp>
        <p:nvSpPr>
          <p:cNvPr id="18" name="Shape 15"/>
          <p:cNvSpPr/>
          <p:nvPr/>
        </p:nvSpPr>
        <p:spPr>
          <a:xfrm>
            <a:off x="3474720" y="5614416"/>
            <a:ext cx="4023360" cy="0"/>
          </a:xfrm>
          <a:prstGeom prst="line">
            <a:avLst/>
          </a:prstGeom>
          <a:noFill/>
          <a:ln w="12700">
            <a:solidFill>
              <a:srgbClr val="BFBFBF"/>
            </a:solidFill>
            <a:prstDash val="solid"/>
          </a:ln>
        </p:spPr>
        <p:txBody>
          <a:bodyPr/>
          <a:lstStyle/>
          <a:p>
            <a:endParaRPr lang="en-US"/>
          </a:p>
        </p:txBody>
      </p:sp>
      <p:sp>
        <p:nvSpPr>
          <p:cNvPr id="19" name="Shape 16"/>
          <p:cNvSpPr/>
          <p:nvPr/>
        </p:nvSpPr>
        <p:spPr>
          <a:xfrm>
            <a:off x="8046720" y="3246120"/>
            <a:ext cx="3657600" cy="2377440"/>
          </a:xfrm>
          <a:prstGeom prst="rect">
            <a:avLst/>
          </a:prstGeom>
          <a:solidFill>
            <a:srgbClr val="FFFFFF"/>
          </a:solidFill>
          <a:ln w="15875">
            <a:solidFill>
              <a:srgbClr val="1D2F82"/>
            </a:solidFill>
            <a:prstDash val="solid"/>
          </a:ln>
        </p:spPr>
        <p:txBody>
          <a:bodyPr/>
          <a:lstStyle/>
          <a:p>
            <a:endParaRPr lang="en-US"/>
          </a:p>
        </p:txBody>
      </p:sp>
      <p:sp>
        <p:nvSpPr>
          <p:cNvPr id="20" name="Text 17"/>
          <p:cNvSpPr txBox="1"/>
          <p:nvPr/>
        </p:nvSpPr>
        <p:spPr>
          <a:xfrm>
            <a:off x="8229600" y="3520440"/>
            <a:ext cx="3291840" cy="365760"/>
          </a:xfrm>
          <a:prstGeom prst="rect">
            <a:avLst/>
          </a:prstGeom>
          <a:noFill/>
          <a:ln/>
        </p:spPr>
        <p:txBody>
          <a:bodyPr wrap="square" lIns="0" tIns="0" rIns="0" bIns="0" rtlCol="0" anchor="ctr"/>
          <a:lstStyle/>
          <a:p>
            <a:pPr marL="0" indent="0">
              <a:buNone/>
            </a:pPr>
            <a:r>
              <a:rPr lang="en-US" sz="1400" b="1" dirty="0">
                <a:solidFill>
                  <a:srgbClr val="1D2F82"/>
                </a:solidFill>
                <a:latin typeface="Calibri" pitchFamily="34" charset="0"/>
                <a:ea typeface="Calibri" pitchFamily="34" charset="-122"/>
                <a:cs typeface="Calibri" pitchFamily="34" charset="-120"/>
              </a:rPr>
              <a:t>Guide's Signature with Date</a:t>
            </a:r>
            <a:endParaRPr lang="en-US" sz="1400" dirty="0"/>
          </a:p>
        </p:txBody>
      </p:sp>
      <p:sp>
        <p:nvSpPr>
          <p:cNvPr id="21" name="Text 18"/>
          <p:cNvSpPr txBox="1"/>
          <p:nvPr/>
        </p:nvSpPr>
        <p:spPr>
          <a:xfrm>
            <a:off x="8229600" y="4160520"/>
            <a:ext cx="3291840" cy="32004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Signature: _____________________</a:t>
            </a:r>
            <a:endParaRPr lang="en-US" sz="1300" dirty="0"/>
          </a:p>
        </p:txBody>
      </p:sp>
      <p:sp>
        <p:nvSpPr>
          <p:cNvPr id="22" name="Text 19"/>
          <p:cNvSpPr txBox="1"/>
          <p:nvPr/>
        </p:nvSpPr>
        <p:spPr>
          <a:xfrm>
            <a:off x="8229600" y="4709160"/>
            <a:ext cx="3291840" cy="32004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Date: _________________________</a:t>
            </a:r>
            <a:endParaRPr lang="en-US" sz="1300" dirty="0"/>
          </a:p>
        </p:txBody>
      </p:sp>
      <p:sp>
        <p:nvSpPr>
          <p:cNvPr id="24" name="Subtitle"/>
          <p:cNvSpPr txBox="1"/>
          <p:nvPr/>
        </p:nvSpPr>
        <p:spPr>
          <a:xfrm>
            <a:off x="548640" y="2359152"/>
            <a:ext cx="11091672" cy="365760"/>
          </a:xfrm>
          <a:prstGeom prst="rect">
            <a:avLst/>
          </a:prstGeom>
          <a:noFill/>
        </p:spPr>
        <p:txBody>
          <a:bodyPr wrap="square" lIns="0" rIns="0" tIns="0" bIns="0" anchor="t">
            <a:spAutoFit/>
          </a:bodyPr>
          <a:lstStyle/>
          <a:p>
            <a:pPr marL="0" indent="0" algn="ctr">
              <a:spcAft>
                <a:spcPts val="0"/>
              </a:spcAft>
              <a:buNone/>
            </a:pPr>
            <a:r>
              <a:rPr sz="1800" b="0" i="0">
                <a:solidFill>
                  <a:srgbClr val="1D2F82"/>
                </a:solidFill>
                <a:latin typeface="Calibri"/>
              </a:rPr>
              <a:t>Explainable, Safety-Aware Fall-Risk Prediction from Smart-Ring Data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sz="1000" b="0" i="0">
                <a:solidFill>
                  <a:srgbClr val="808080"/>
                </a:solidFill>
                <a:latin typeface="Calibri"/>
              </a:rPr>
              <a:t>23</a:t>
            </a:r>
            <a:endParaRPr lang="en-US" sz="1000" dirty="0"/>
          </a:p>
        </p:txBody>
      </p:sp>
      <p:pic>
        <p:nvPicPr>
          <p:cNvPr id="3" name="Image 0" descr="logo.png"/>
          <p:cNvPicPr>
            <a:picLocks noChangeAspect="1"/>
          </p:cNvPicPr>
          <p:nvPr/>
        </p:nvPicPr>
        <p:blipFill>
          <a:blip r:embed="rId3"/>
          <a:stretch>
            <a:fillRect/>
          </a:stretch>
        </p:blipFill>
        <p:spPr>
          <a:xfrm>
            <a:off x="10362895" y="320040"/>
            <a:ext cx="1371600" cy="518746"/>
          </a:xfrm>
          <a:prstGeom prst="rect">
            <a:avLst/>
          </a:prstGeom>
        </p:spPr>
      </p:pic>
      <p:sp>
        <p:nvSpPr>
          <p:cNvPr id="4" name="Text 1"/>
          <p:cNvSpPr txBox="1"/>
          <p:nvPr/>
        </p:nvSpPr>
        <p:spPr>
          <a:xfrm>
            <a:off x="548640" y="2743200"/>
            <a:ext cx="11091672" cy="914400"/>
          </a:xfrm>
          <a:prstGeom prst="rect">
            <a:avLst/>
          </a:prstGeom>
          <a:noFill/>
          <a:ln/>
        </p:spPr>
        <p:txBody>
          <a:bodyPr wrap="square" lIns="0" tIns="0" rIns="0" bIns="0" rtlCol="0" anchor="ctr"/>
          <a:lstStyle/>
          <a:p>
            <a:pPr marL="0" indent="0" algn="ctr">
              <a:buNone/>
            </a:pPr>
            <a:r>
              <a:rPr lang="en-US" sz="4000" b="1" dirty="0">
                <a:solidFill>
                  <a:srgbClr val="1D2F82"/>
                </a:solidFill>
                <a:latin typeface="Calibri" pitchFamily="34" charset="0"/>
                <a:ea typeface="Calibri" pitchFamily="34" charset="-122"/>
                <a:cs typeface="Calibri" pitchFamily="34" charset="-120"/>
              </a:rPr>
              <a:t>Thank You</a:t>
            </a:r>
            <a:endParaRPr lang="en-US" sz="4000" dirty="0"/>
          </a:p>
        </p:txBody>
      </p:sp>
      <p:sp>
        <p:nvSpPr>
          <p:cNvPr id="5" name="Text 2"/>
          <p:cNvSpPr txBox="1"/>
          <p:nvPr/>
        </p:nvSpPr>
        <p:spPr>
          <a:xfrm>
            <a:off x="548640" y="3749040"/>
            <a:ext cx="11091672" cy="365760"/>
          </a:xfrm>
          <a:prstGeom prst="rect">
            <a:avLst/>
          </a:prstGeom>
          <a:noFill/>
          <a:ln/>
        </p:spPr>
        <p:txBody>
          <a:bodyPr wrap="square" lIns="0" tIns="0" rIns="0" bIns="0"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Project-I (2026)  ·  SENSE  ·  VIT Chennai</a:t>
            </a:r>
            <a:endParaRPr lang="en-US" sz="14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9601200" cy="685800"/>
          </a:xfrm>
          <a:prstGeom prst="rect">
            <a:avLst/>
          </a:prstGeom>
          <a:noFill/>
        </p:spPr>
        <p:txBody>
          <a:bodyPr wrap="square" lIns="0" rIns="0" tIns="0" bIns="0" anchor="ctr">
            <a:spAutoFit/>
          </a:bodyPr>
          <a:lstStyle/>
          <a:p>
            <a:pPr marL="0" indent="0">
              <a:spcAft>
                <a:spcPts val="0"/>
              </a:spcAft>
              <a:buNone/>
            </a:pPr>
            <a:r>
              <a:rPr sz="2800" b="1" i="0">
                <a:solidFill>
                  <a:srgbClr val="1D2F82"/>
                </a:solidFill>
                <a:latin typeface="Calibri"/>
              </a:rPr>
              <a:t>Project Overview — Introduction &amp; Background</a:t>
            </a:r>
          </a:p>
        </p:txBody>
      </p:sp>
      <p:pic>
        <p:nvPicPr>
          <p:cNvPr id="3" name="Logo" descr="image.png"/>
          <p:cNvPicPr>
            <a:picLocks noChangeAspect="1"/>
          </p:cNvPicPr>
          <p:nvPr/>
        </p:nvPicPr>
        <p:blipFill>
          <a:blip r:embed="rId2"/>
          <a:stretch>
            <a:fillRect/>
          </a:stretch>
        </p:blipFill>
        <p:spPr>
          <a:xfrm>
            <a:off x="10360152" y="320040"/>
            <a:ext cx="1371600" cy="521207"/>
          </a:xfrm>
          <a:prstGeom prst="rect">
            <a:avLst/>
          </a:prstGeom>
        </p:spPr>
      </p:pic>
      <p:sp>
        <p:nvSpPr>
          <p:cNvPr id="4" name="TextBox 3"/>
          <p:cNvSpPr txBox="1"/>
          <p:nvPr/>
        </p:nvSpPr>
        <p:spPr>
          <a:xfrm>
            <a:off x="640080" y="1280160"/>
            <a:ext cx="5120640" cy="365760"/>
          </a:xfrm>
          <a:prstGeom prst="rect">
            <a:avLst/>
          </a:prstGeom>
          <a:noFill/>
        </p:spPr>
        <p:txBody>
          <a:bodyPr wrap="square" lIns="0" rIns="0" tIns="0" bIns="0" anchor="t">
            <a:spAutoFit/>
          </a:bodyPr>
          <a:lstStyle/>
          <a:p>
            <a:pPr marL="0" indent="0">
              <a:spcAft>
                <a:spcPts val="600"/>
              </a:spcAft>
              <a:buNone/>
            </a:pPr>
            <a:r>
              <a:rPr sz="2000" b="1" i="0">
                <a:solidFill>
                  <a:srgbClr val="1D2F82"/>
                </a:solidFill>
                <a:latin typeface="Calibri"/>
              </a:rPr>
              <a:t>Why this problem matters</a:t>
            </a:r>
          </a:p>
        </p:txBody>
      </p:sp>
      <p:sp>
        <p:nvSpPr>
          <p:cNvPr id="5" name="Rounded Rectangle 4"/>
          <p:cNvSpPr/>
          <p:nvPr/>
        </p:nvSpPr>
        <p:spPr>
          <a:xfrm>
            <a:off x="640080" y="1828800"/>
            <a:ext cx="5120640" cy="118872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22960" y="2011680"/>
            <a:ext cx="384048" cy="384048"/>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1</a:t>
            </a:r>
          </a:p>
        </p:txBody>
      </p:sp>
      <p:sp>
        <p:nvSpPr>
          <p:cNvPr id="7" name="TextBox 6"/>
          <p:cNvSpPr txBox="1"/>
          <p:nvPr/>
        </p:nvSpPr>
        <p:spPr>
          <a:xfrm>
            <a:off x="1371600" y="1965960"/>
            <a:ext cx="4206240" cy="960120"/>
          </a:xfrm>
          <a:prstGeom prst="rect">
            <a:avLst/>
          </a:prstGeom>
          <a:noFill/>
        </p:spPr>
        <p:txBody>
          <a:bodyPr wrap="square" lIns="0" rIns="0" tIns="0" bIns="0" anchor="t">
            <a:spAutoFit/>
          </a:bodyPr>
          <a:lstStyle/>
          <a:p>
            <a:pPr marL="0" indent="0">
              <a:spcAft>
                <a:spcPts val="400"/>
              </a:spcAft>
              <a:buNone/>
            </a:pPr>
            <a:r>
              <a:rPr sz="1500" b="1" i="0">
                <a:solidFill>
                  <a:srgbClr val="000000"/>
                </a:solidFill>
                <a:latin typeface="Calibri"/>
              </a:rPr>
              <a:t>Falls are the leading cause of injury-related harm in older adults</a:t>
            </a:r>
          </a:p>
          <a:p>
            <a:pPr marL="0" indent="0">
              <a:spcAft>
                <a:spcPts val="600"/>
              </a:spcAft>
              <a:buNone/>
            </a:pPr>
            <a:r>
              <a:rPr sz="1400" b="0" i="0">
                <a:solidFill>
                  <a:srgbClr val="595959"/>
                </a:solidFill>
                <a:latin typeface="Calibri"/>
              </a:rPr>
              <a:t>Risk rises quietly over days — poor sleep, low HRV, less walking</a:t>
            </a:r>
          </a:p>
        </p:txBody>
      </p:sp>
      <p:sp>
        <p:nvSpPr>
          <p:cNvPr id="8" name="Rounded Rectangle 7"/>
          <p:cNvSpPr/>
          <p:nvPr/>
        </p:nvSpPr>
        <p:spPr>
          <a:xfrm>
            <a:off x="640080" y="3200400"/>
            <a:ext cx="5120640" cy="118872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3383280"/>
            <a:ext cx="384048" cy="384048"/>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2</a:t>
            </a:r>
          </a:p>
        </p:txBody>
      </p:sp>
      <p:sp>
        <p:nvSpPr>
          <p:cNvPr id="10" name="TextBox 9"/>
          <p:cNvSpPr txBox="1"/>
          <p:nvPr/>
        </p:nvSpPr>
        <p:spPr>
          <a:xfrm>
            <a:off x="1371600" y="3337560"/>
            <a:ext cx="4206240" cy="960120"/>
          </a:xfrm>
          <a:prstGeom prst="rect">
            <a:avLst/>
          </a:prstGeom>
          <a:noFill/>
        </p:spPr>
        <p:txBody>
          <a:bodyPr wrap="square" lIns="0" rIns="0" tIns="0" bIns="0" anchor="t">
            <a:spAutoFit/>
          </a:bodyPr>
          <a:lstStyle/>
          <a:p>
            <a:pPr marL="0" indent="0">
              <a:spcAft>
                <a:spcPts val="400"/>
              </a:spcAft>
              <a:buNone/>
            </a:pPr>
            <a:r>
              <a:rPr sz="1500" b="1" i="0">
                <a:solidFill>
                  <a:srgbClr val="000000"/>
                </a:solidFill>
                <a:latin typeface="Calibri"/>
              </a:rPr>
              <a:t>Wearables mostly detect a fall after it has happened</a:t>
            </a:r>
          </a:p>
          <a:p>
            <a:pPr marL="0" indent="0">
              <a:spcAft>
                <a:spcPts val="600"/>
              </a:spcAft>
              <a:buNone/>
            </a:pPr>
            <a:r>
              <a:rPr sz="1400" b="0" i="0">
                <a:solidFill>
                  <a:srgbClr val="595959"/>
                </a:solidFill>
                <a:latin typeface="Calibri"/>
              </a:rPr>
              <a:t>They do not say that today's risk is higher than usual</a:t>
            </a:r>
          </a:p>
        </p:txBody>
      </p:sp>
      <p:sp>
        <p:nvSpPr>
          <p:cNvPr id="11" name="Rounded Rectangle 10"/>
          <p:cNvSpPr/>
          <p:nvPr/>
        </p:nvSpPr>
        <p:spPr>
          <a:xfrm>
            <a:off x="640080" y="4572000"/>
            <a:ext cx="5120640" cy="118872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22960" y="4754880"/>
            <a:ext cx="384048" cy="384048"/>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3</a:t>
            </a:r>
          </a:p>
        </p:txBody>
      </p:sp>
      <p:sp>
        <p:nvSpPr>
          <p:cNvPr id="13" name="TextBox 12"/>
          <p:cNvSpPr txBox="1"/>
          <p:nvPr/>
        </p:nvSpPr>
        <p:spPr>
          <a:xfrm>
            <a:off x="1371600" y="4709160"/>
            <a:ext cx="4206240" cy="960120"/>
          </a:xfrm>
          <a:prstGeom prst="rect">
            <a:avLst/>
          </a:prstGeom>
          <a:noFill/>
        </p:spPr>
        <p:txBody>
          <a:bodyPr wrap="square" lIns="0" rIns="0" tIns="0" bIns="0" anchor="t">
            <a:spAutoFit/>
          </a:bodyPr>
          <a:lstStyle/>
          <a:p>
            <a:pPr marL="0" indent="0">
              <a:spcAft>
                <a:spcPts val="400"/>
              </a:spcAft>
              <a:buNone/>
            </a:pPr>
            <a:r>
              <a:rPr sz="1500" b="1" i="0">
                <a:solidFill>
                  <a:srgbClr val="000000"/>
                </a:solidFill>
                <a:latin typeface="Calibri"/>
              </a:rPr>
              <a:t>LLM health chatbots state numbers they cannot be trusted with</a:t>
            </a:r>
          </a:p>
          <a:p>
            <a:pPr marL="0" indent="0">
              <a:spcAft>
                <a:spcPts val="600"/>
              </a:spcAft>
              <a:buNone/>
            </a:pPr>
            <a:r>
              <a:rPr sz="1400" b="0" i="0">
                <a:solidFill>
                  <a:srgbClr val="595959"/>
                </a:solidFill>
                <a:latin typeface="Calibri"/>
              </a:rPr>
              <a:t>A wrong heart rate or a missed emergency is dangerous</a:t>
            </a:r>
          </a:p>
        </p:txBody>
      </p:sp>
      <p:sp>
        <p:nvSpPr>
          <p:cNvPr id="14" name="TextBox 13"/>
          <p:cNvSpPr txBox="1"/>
          <p:nvPr/>
        </p:nvSpPr>
        <p:spPr>
          <a:xfrm>
            <a:off x="6309360" y="1280160"/>
            <a:ext cx="5212080" cy="365760"/>
          </a:xfrm>
          <a:prstGeom prst="rect">
            <a:avLst/>
          </a:prstGeom>
          <a:noFill/>
        </p:spPr>
        <p:txBody>
          <a:bodyPr wrap="square" lIns="0" rIns="0" tIns="0" bIns="0" anchor="t">
            <a:spAutoFit/>
          </a:bodyPr>
          <a:lstStyle/>
          <a:p>
            <a:pPr marL="0" indent="0">
              <a:spcAft>
                <a:spcPts val="600"/>
              </a:spcAft>
              <a:buNone/>
            </a:pPr>
            <a:r>
              <a:rPr sz="2000" b="1" i="0">
                <a:solidFill>
                  <a:srgbClr val="1D2F82"/>
                </a:solidFill>
                <a:latin typeface="Calibri"/>
              </a:rPr>
              <a:t>What we built</a:t>
            </a:r>
          </a:p>
        </p:txBody>
      </p:sp>
      <p:sp>
        <p:nvSpPr>
          <p:cNvPr id="15" name="Rounded Rectangle 14"/>
          <p:cNvSpPr/>
          <p:nvPr/>
        </p:nvSpPr>
        <p:spPr>
          <a:xfrm>
            <a:off x="6309360" y="1828800"/>
            <a:ext cx="5212080" cy="1188720"/>
          </a:xfrm>
          <a:prstGeom prst="roundRect">
            <a:avLst>
              <a:gd name="adj" fmla="val 6000"/>
            </a:avLst>
          </a:prstGeom>
          <a:solidFill>
            <a:srgbClr val="FFFFFF"/>
          </a:solidFill>
          <a:ln w="9525">
            <a:solidFill>
              <a:srgbClr val="D3D9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492240" y="2011680"/>
            <a:ext cx="384048" cy="384048"/>
          </a:xfrm>
          <a:prstGeom prst="ellipse">
            <a:avLst/>
          </a:prstGeom>
          <a:solidFill>
            <a:srgbClr val="D96C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A</a:t>
            </a:r>
          </a:p>
        </p:txBody>
      </p:sp>
      <p:sp>
        <p:nvSpPr>
          <p:cNvPr id="17" name="TextBox 16"/>
          <p:cNvSpPr txBox="1"/>
          <p:nvPr/>
        </p:nvSpPr>
        <p:spPr>
          <a:xfrm>
            <a:off x="7040880" y="1965960"/>
            <a:ext cx="4297680" cy="960120"/>
          </a:xfrm>
          <a:prstGeom prst="rect">
            <a:avLst/>
          </a:prstGeom>
          <a:noFill/>
        </p:spPr>
        <p:txBody>
          <a:bodyPr wrap="square" lIns="0" rIns="0" tIns="0" bIns="0" anchor="t">
            <a:spAutoFit/>
          </a:bodyPr>
          <a:lstStyle/>
          <a:p>
            <a:pPr marL="0" indent="0">
              <a:spcAft>
                <a:spcPts val="400"/>
              </a:spcAft>
              <a:buNone/>
            </a:pPr>
            <a:r>
              <a:rPr sz="1500" b="1" i="0">
                <a:solidFill>
                  <a:srgbClr val="000000"/>
                </a:solidFill>
                <a:latin typeface="Calibri"/>
              </a:rPr>
              <a:t>Smart-ring app</a:t>
            </a:r>
          </a:p>
          <a:p>
            <a:pPr marL="0" indent="0">
              <a:spcAft>
                <a:spcPts val="600"/>
              </a:spcAft>
              <a:buNone/>
            </a:pPr>
            <a:r>
              <a:rPr sz="1400" b="0" i="0">
                <a:solidFill>
                  <a:srgbClr val="595959"/>
                </a:solidFill>
                <a:latin typeface="Calibri"/>
              </a:rPr>
              <a:t>Flutter + Kotlin app collects HR, HRV, SpO₂, temperature, sleep, stress and steps all day</a:t>
            </a:r>
          </a:p>
        </p:txBody>
      </p:sp>
      <p:sp>
        <p:nvSpPr>
          <p:cNvPr id="18" name="Rounded Rectangle 17"/>
          <p:cNvSpPr/>
          <p:nvPr/>
        </p:nvSpPr>
        <p:spPr>
          <a:xfrm>
            <a:off x="6309360" y="3200400"/>
            <a:ext cx="5212080" cy="1188720"/>
          </a:xfrm>
          <a:prstGeom prst="roundRect">
            <a:avLst>
              <a:gd name="adj" fmla="val 6000"/>
            </a:avLst>
          </a:prstGeom>
          <a:solidFill>
            <a:srgbClr val="FFFFFF"/>
          </a:solidFill>
          <a:ln w="9525">
            <a:solidFill>
              <a:srgbClr val="D3D9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92240" y="3383280"/>
            <a:ext cx="384048" cy="384048"/>
          </a:xfrm>
          <a:prstGeom prst="ellipse">
            <a:avLst/>
          </a:prstGeom>
          <a:solidFill>
            <a:srgbClr val="D96C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B</a:t>
            </a:r>
          </a:p>
        </p:txBody>
      </p:sp>
      <p:sp>
        <p:nvSpPr>
          <p:cNvPr id="20" name="TextBox 19"/>
          <p:cNvSpPr txBox="1"/>
          <p:nvPr/>
        </p:nvSpPr>
        <p:spPr>
          <a:xfrm>
            <a:off x="7040880" y="3337560"/>
            <a:ext cx="4297680" cy="960120"/>
          </a:xfrm>
          <a:prstGeom prst="rect">
            <a:avLst/>
          </a:prstGeom>
          <a:noFill/>
        </p:spPr>
        <p:txBody>
          <a:bodyPr wrap="square" lIns="0" rIns="0" tIns="0" bIns="0" anchor="t">
            <a:spAutoFit/>
          </a:bodyPr>
          <a:lstStyle/>
          <a:p>
            <a:pPr marL="0" indent="0">
              <a:spcAft>
                <a:spcPts val="400"/>
              </a:spcAft>
              <a:buNone/>
            </a:pPr>
            <a:r>
              <a:rPr sz="1500" b="1" i="0">
                <a:solidFill>
                  <a:srgbClr val="000000"/>
                </a:solidFill>
                <a:latin typeface="Calibri"/>
              </a:rPr>
              <a:t>Fall-risk engine</a:t>
            </a:r>
          </a:p>
          <a:p>
            <a:pPr marL="0" indent="0">
              <a:spcAft>
                <a:spcPts val="600"/>
              </a:spcAft>
              <a:buNone/>
            </a:pPr>
            <a:r>
              <a:rPr sz="1400" b="0" i="0">
                <a:solidFill>
                  <a:srgbClr val="595959"/>
                </a:solidFill>
                <a:latin typeface="Calibri"/>
              </a:rPr>
              <a:t>Turns the vitals into a daily Fall Risk Score (0–100); every point traced to a measurement</a:t>
            </a:r>
          </a:p>
        </p:txBody>
      </p:sp>
      <p:sp>
        <p:nvSpPr>
          <p:cNvPr id="21" name="Rounded Rectangle 20"/>
          <p:cNvSpPr/>
          <p:nvPr/>
        </p:nvSpPr>
        <p:spPr>
          <a:xfrm>
            <a:off x="6309360" y="4572000"/>
            <a:ext cx="5212080" cy="1188720"/>
          </a:xfrm>
          <a:prstGeom prst="roundRect">
            <a:avLst>
              <a:gd name="adj" fmla="val 6000"/>
            </a:avLst>
          </a:prstGeom>
          <a:solidFill>
            <a:srgbClr val="FFFFFF"/>
          </a:solidFill>
          <a:ln w="9525">
            <a:solidFill>
              <a:srgbClr val="D3D9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492240" y="4754880"/>
            <a:ext cx="384048" cy="384048"/>
          </a:xfrm>
          <a:prstGeom prst="ellipse">
            <a:avLst/>
          </a:prstGeom>
          <a:solidFill>
            <a:srgbClr val="D96C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C</a:t>
            </a:r>
          </a:p>
        </p:txBody>
      </p:sp>
      <p:sp>
        <p:nvSpPr>
          <p:cNvPr id="23" name="TextBox 22"/>
          <p:cNvSpPr txBox="1"/>
          <p:nvPr/>
        </p:nvSpPr>
        <p:spPr>
          <a:xfrm>
            <a:off x="7040880" y="4709160"/>
            <a:ext cx="4297680" cy="960120"/>
          </a:xfrm>
          <a:prstGeom prst="rect">
            <a:avLst/>
          </a:prstGeom>
          <a:noFill/>
        </p:spPr>
        <p:txBody>
          <a:bodyPr wrap="square" lIns="0" rIns="0" tIns="0" bIns="0" anchor="t">
            <a:spAutoFit/>
          </a:bodyPr>
          <a:lstStyle/>
          <a:p>
            <a:pPr marL="0" indent="0">
              <a:spcAft>
                <a:spcPts val="400"/>
              </a:spcAft>
              <a:buNone/>
            </a:pPr>
            <a:r>
              <a:rPr sz="1500" b="1" i="0">
                <a:solidFill>
                  <a:srgbClr val="000000"/>
                </a:solidFill>
                <a:latin typeface="Calibri"/>
              </a:rPr>
              <a:t>Verified AI agent</a:t>
            </a:r>
          </a:p>
          <a:p>
            <a:pPr marL="0" indent="0">
              <a:spcAft>
                <a:spcPts val="600"/>
              </a:spcAft>
              <a:buNone/>
            </a:pPr>
            <a:r>
              <a:rPr sz="1400" b="0" i="0">
                <a:solidFill>
                  <a:srgbClr val="595959"/>
                </a:solidFill>
                <a:latin typeface="Calibri"/>
              </a:rPr>
              <a:t>Explains the score in plain language, detects emergencies, checks every number it says</a:t>
            </a:r>
          </a:p>
        </p:txBody>
      </p:sp>
      <p:sp>
        <p:nvSpPr>
          <p:cNvPr id="24" name="Slide number"/>
          <p:cNvSpPr txBox="1"/>
          <p:nvPr/>
        </p:nvSpPr>
        <p:spPr>
          <a:xfrm>
            <a:off x="11457432" y="6446520"/>
            <a:ext cx="457200" cy="274320"/>
          </a:xfrm>
          <a:prstGeom prst="rect">
            <a:avLst/>
          </a:prstGeom>
          <a:noFill/>
        </p:spPr>
        <p:txBody>
          <a:bodyPr wrap="square" lIns="0" rIns="0" tIns="0" bIns="0" anchor="ctr">
            <a:spAutoFit/>
          </a:bodyPr>
          <a:lstStyle/>
          <a:p>
            <a:pPr marL="0" indent="0" algn="r">
              <a:spcAft>
                <a:spcPts val="0"/>
              </a:spcAft>
              <a:buNone/>
            </a:pPr>
            <a:r>
              <a:rPr sz="1000" b="0" i="0">
                <a:solidFill>
                  <a:srgbClr val="808080"/>
                </a:solidFill>
                <a:latin typeface="Calibri"/>
              </a:rPr>
              <a:t>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9601200" cy="685800"/>
          </a:xfrm>
          <a:prstGeom prst="rect">
            <a:avLst/>
          </a:prstGeom>
          <a:noFill/>
        </p:spPr>
        <p:txBody>
          <a:bodyPr wrap="square" lIns="0" rIns="0" tIns="0" bIns="0" anchor="ctr">
            <a:spAutoFit/>
          </a:bodyPr>
          <a:lstStyle/>
          <a:p>
            <a:pPr marL="0" indent="0">
              <a:spcAft>
                <a:spcPts val="0"/>
              </a:spcAft>
              <a:buNone/>
            </a:pPr>
            <a:r>
              <a:rPr sz="2800" b="1" i="0">
                <a:solidFill>
                  <a:srgbClr val="1D2F82"/>
                </a:solidFill>
                <a:latin typeface="Calibri"/>
              </a:rPr>
              <a:t>Project Overview — Significance &amp; Motivation</a:t>
            </a:r>
          </a:p>
        </p:txBody>
      </p:sp>
      <p:pic>
        <p:nvPicPr>
          <p:cNvPr id="3" name="Logo" descr="image.png"/>
          <p:cNvPicPr>
            <a:picLocks noChangeAspect="1"/>
          </p:cNvPicPr>
          <p:nvPr/>
        </p:nvPicPr>
        <p:blipFill>
          <a:blip r:embed="rId2"/>
          <a:stretch>
            <a:fillRect/>
          </a:stretch>
        </p:blipFill>
        <p:spPr>
          <a:xfrm>
            <a:off x="10360152" y="320040"/>
            <a:ext cx="1371600" cy="521207"/>
          </a:xfrm>
          <a:prstGeom prst="rect">
            <a:avLst/>
          </a:prstGeom>
        </p:spPr>
      </p:pic>
      <p:sp>
        <p:nvSpPr>
          <p:cNvPr id="4" name="Rounded Rectangle 3"/>
          <p:cNvSpPr/>
          <p:nvPr/>
        </p:nvSpPr>
        <p:spPr>
          <a:xfrm>
            <a:off x="640080" y="1325880"/>
            <a:ext cx="5349240" cy="178308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554480"/>
            <a:ext cx="384048" cy="384048"/>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1</a:t>
            </a:r>
          </a:p>
        </p:txBody>
      </p:sp>
      <p:sp>
        <p:nvSpPr>
          <p:cNvPr id="6" name="TextBox 5"/>
          <p:cNvSpPr txBox="1"/>
          <p:nvPr/>
        </p:nvSpPr>
        <p:spPr>
          <a:xfrm>
            <a:off x="1417319" y="1527048"/>
            <a:ext cx="4389120" cy="1463040"/>
          </a:xfrm>
          <a:prstGeom prst="rect">
            <a:avLst/>
          </a:prstGeom>
          <a:noFill/>
        </p:spPr>
        <p:txBody>
          <a:bodyPr wrap="square" lIns="0" rIns="0" tIns="0" bIns="0" anchor="t">
            <a:spAutoFit/>
          </a:bodyPr>
          <a:lstStyle/>
          <a:p>
            <a:pPr marL="0" indent="0">
              <a:spcAft>
                <a:spcPts val="600"/>
              </a:spcAft>
              <a:buNone/>
            </a:pPr>
            <a:r>
              <a:rPr sz="1700" b="1" i="0">
                <a:solidFill>
                  <a:srgbClr val="1D2F82"/>
                </a:solidFill>
                <a:latin typeface="Calibri"/>
              </a:rPr>
              <a:t>Predict, don't just detect</a:t>
            </a:r>
          </a:p>
          <a:p>
            <a:pPr marL="0" indent="0">
              <a:spcAft>
                <a:spcPts val="600"/>
              </a:spcAft>
              <a:buNone/>
            </a:pPr>
            <a:r>
              <a:rPr sz="1500" b="0" i="0">
                <a:solidFill>
                  <a:srgbClr val="000000"/>
                </a:solidFill>
                <a:latin typeface="Calibri"/>
              </a:rPr>
              <a:t>A daily risk estimate gives time to act — rest, review medication, avoid risky activity — before a fall happens.</a:t>
            </a:r>
          </a:p>
        </p:txBody>
      </p:sp>
      <p:sp>
        <p:nvSpPr>
          <p:cNvPr id="7" name="Rounded Rectangle 6"/>
          <p:cNvSpPr/>
          <p:nvPr/>
        </p:nvSpPr>
        <p:spPr>
          <a:xfrm>
            <a:off x="6172200" y="1325880"/>
            <a:ext cx="5349240" cy="178308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400800" y="1554480"/>
            <a:ext cx="384048" cy="384048"/>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2</a:t>
            </a:r>
          </a:p>
        </p:txBody>
      </p:sp>
      <p:sp>
        <p:nvSpPr>
          <p:cNvPr id="9" name="TextBox 8"/>
          <p:cNvSpPr txBox="1"/>
          <p:nvPr/>
        </p:nvSpPr>
        <p:spPr>
          <a:xfrm>
            <a:off x="6949440" y="1527048"/>
            <a:ext cx="4389120" cy="1463040"/>
          </a:xfrm>
          <a:prstGeom prst="rect">
            <a:avLst/>
          </a:prstGeom>
          <a:noFill/>
        </p:spPr>
        <p:txBody>
          <a:bodyPr wrap="square" lIns="0" rIns="0" tIns="0" bIns="0" anchor="t">
            <a:spAutoFit/>
          </a:bodyPr>
          <a:lstStyle/>
          <a:p>
            <a:pPr marL="0" indent="0">
              <a:spcAft>
                <a:spcPts val="600"/>
              </a:spcAft>
              <a:buNone/>
            </a:pPr>
            <a:r>
              <a:rPr sz="1700" b="1" i="0">
                <a:solidFill>
                  <a:srgbClr val="1D2F82"/>
                </a:solidFill>
                <a:latin typeface="Calibri"/>
              </a:rPr>
              <a:t>Trust through transparency</a:t>
            </a:r>
          </a:p>
          <a:p>
            <a:pPr marL="0" indent="0">
              <a:spcAft>
                <a:spcPts val="600"/>
              </a:spcAft>
              <a:buNone/>
            </a:pPr>
            <a:r>
              <a:rPr sz="1500" b="0" i="0">
                <a:solidFill>
                  <a:srgbClr val="000000"/>
                </a:solidFill>
                <a:latin typeface="Calibri"/>
              </a:rPr>
              <a:t>The score is a fixed formula with published weights; the app shows how every point was earned. No black box.</a:t>
            </a:r>
          </a:p>
        </p:txBody>
      </p:sp>
      <p:sp>
        <p:nvSpPr>
          <p:cNvPr id="10" name="Rounded Rectangle 9"/>
          <p:cNvSpPr/>
          <p:nvPr/>
        </p:nvSpPr>
        <p:spPr>
          <a:xfrm>
            <a:off x="640080" y="3291839"/>
            <a:ext cx="5349240" cy="178308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68680" y="3520439"/>
            <a:ext cx="384048" cy="384048"/>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3</a:t>
            </a:r>
          </a:p>
        </p:txBody>
      </p:sp>
      <p:sp>
        <p:nvSpPr>
          <p:cNvPr id="12" name="TextBox 11"/>
          <p:cNvSpPr txBox="1"/>
          <p:nvPr/>
        </p:nvSpPr>
        <p:spPr>
          <a:xfrm>
            <a:off x="1417319" y="3493008"/>
            <a:ext cx="4389120" cy="1463040"/>
          </a:xfrm>
          <a:prstGeom prst="rect">
            <a:avLst/>
          </a:prstGeom>
          <a:noFill/>
        </p:spPr>
        <p:txBody>
          <a:bodyPr wrap="square" lIns="0" rIns="0" tIns="0" bIns="0" anchor="t">
            <a:spAutoFit/>
          </a:bodyPr>
          <a:lstStyle/>
          <a:p>
            <a:pPr marL="0" indent="0">
              <a:spcAft>
                <a:spcPts val="600"/>
              </a:spcAft>
              <a:buNone/>
            </a:pPr>
            <a:r>
              <a:rPr sz="1700" b="1" i="0">
                <a:solidFill>
                  <a:srgbClr val="1D2F82"/>
                </a:solidFill>
                <a:latin typeface="Calibri"/>
              </a:rPr>
              <a:t>Safety first</a:t>
            </a:r>
          </a:p>
          <a:p>
            <a:pPr marL="0" indent="0">
              <a:spcAft>
                <a:spcPts val="600"/>
              </a:spcAft>
              <a:buNone/>
            </a:pPr>
            <a:r>
              <a:rPr sz="1500" b="0" i="0">
                <a:solidFill>
                  <a:srgbClr val="000000"/>
                </a:solidFill>
                <a:latin typeface="Calibri"/>
              </a:rPr>
              <a:t>Emergencies are detected from three independent signals, including the ring's own fall event, so a calm-sounding message after a fall is not missed.</a:t>
            </a:r>
          </a:p>
        </p:txBody>
      </p:sp>
      <p:sp>
        <p:nvSpPr>
          <p:cNvPr id="13" name="Rounded Rectangle 12"/>
          <p:cNvSpPr/>
          <p:nvPr/>
        </p:nvSpPr>
        <p:spPr>
          <a:xfrm>
            <a:off x="6172200" y="3291839"/>
            <a:ext cx="5349240" cy="178308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00800" y="3520439"/>
            <a:ext cx="384048" cy="384048"/>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4</a:t>
            </a:r>
          </a:p>
        </p:txBody>
      </p:sp>
      <p:sp>
        <p:nvSpPr>
          <p:cNvPr id="15" name="TextBox 14"/>
          <p:cNvSpPr txBox="1"/>
          <p:nvPr/>
        </p:nvSpPr>
        <p:spPr>
          <a:xfrm>
            <a:off x="6949440" y="3493008"/>
            <a:ext cx="4389120" cy="1463040"/>
          </a:xfrm>
          <a:prstGeom prst="rect">
            <a:avLst/>
          </a:prstGeom>
          <a:noFill/>
        </p:spPr>
        <p:txBody>
          <a:bodyPr wrap="square" lIns="0" rIns="0" tIns="0" bIns="0" anchor="t">
            <a:spAutoFit/>
          </a:bodyPr>
          <a:lstStyle/>
          <a:p>
            <a:pPr marL="0" indent="0">
              <a:spcAft>
                <a:spcPts val="600"/>
              </a:spcAft>
              <a:buNone/>
            </a:pPr>
            <a:r>
              <a:rPr sz="1700" b="1" i="0">
                <a:solidFill>
                  <a:srgbClr val="1D2F82"/>
                </a:solidFill>
                <a:latin typeface="Calibri"/>
              </a:rPr>
              <a:t>Fair for women</a:t>
            </a:r>
          </a:p>
          <a:p>
            <a:pPr marL="0" indent="0">
              <a:spcAft>
                <a:spcPts val="600"/>
              </a:spcAft>
              <a:buNone/>
            </a:pPr>
            <a:r>
              <a:rPr sz="1500" b="0" i="0">
                <a:solidFill>
                  <a:srgbClr val="000000"/>
                </a:solidFill>
                <a:latin typeface="Calibri"/>
              </a:rPr>
              <a:t>Normal menstrual-cycle changes in temperature, heart rate and HRV are not mistaken for rising risk.</a:t>
            </a:r>
          </a:p>
        </p:txBody>
      </p:sp>
      <p:sp>
        <p:nvSpPr>
          <p:cNvPr id="16" name="TextBox 15"/>
          <p:cNvSpPr txBox="1"/>
          <p:nvPr/>
        </p:nvSpPr>
        <p:spPr>
          <a:xfrm>
            <a:off x="640080" y="5486400"/>
            <a:ext cx="10881360" cy="548640"/>
          </a:xfrm>
          <a:prstGeom prst="rect">
            <a:avLst/>
          </a:prstGeom>
          <a:noFill/>
        </p:spPr>
        <p:txBody>
          <a:bodyPr wrap="square" lIns="0" rIns="0" tIns="0" bIns="0" anchor="t">
            <a:spAutoFit/>
          </a:bodyPr>
          <a:lstStyle/>
          <a:p>
            <a:pPr marL="0" indent="0" algn="ctr">
              <a:spcAft>
                <a:spcPts val="600"/>
              </a:spcAft>
              <a:buNone/>
            </a:pPr>
            <a:r>
              <a:rPr sz="1600" b="0" i="1">
                <a:solidFill>
                  <a:srgbClr val="1D2F82"/>
                </a:solidFill>
                <a:latin typeface="Calibri"/>
              </a:rPr>
              <a:t>Low-cost consumer ring + phone  ·  explainable AI  ·  a screening aid, never a diagnosis</a:t>
            </a:r>
          </a:p>
        </p:txBody>
      </p:sp>
      <p:sp>
        <p:nvSpPr>
          <p:cNvPr id="17" name="Slide number"/>
          <p:cNvSpPr txBox="1"/>
          <p:nvPr/>
        </p:nvSpPr>
        <p:spPr>
          <a:xfrm>
            <a:off x="11457432" y="6446520"/>
            <a:ext cx="457200" cy="274320"/>
          </a:xfrm>
          <a:prstGeom prst="rect">
            <a:avLst/>
          </a:prstGeom>
          <a:noFill/>
        </p:spPr>
        <p:txBody>
          <a:bodyPr wrap="square" lIns="0" rIns="0" tIns="0" bIns="0" anchor="ctr">
            <a:spAutoFit/>
          </a:bodyPr>
          <a:lstStyle/>
          <a:p>
            <a:pPr marL="0" indent="0" algn="r">
              <a:spcAft>
                <a:spcPts val="0"/>
              </a:spcAft>
              <a:buNone/>
            </a:pPr>
            <a:r>
              <a:rPr sz="1000" b="0" i="0">
                <a:solidFill>
                  <a:srgbClr val="808080"/>
                </a:solidFill>
                <a:latin typeface="Calibri"/>
              </a:rPr>
              <a:t>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9601200" cy="685800"/>
          </a:xfrm>
          <a:prstGeom prst="rect">
            <a:avLst/>
          </a:prstGeom>
          <a:noFill/>
        </p:spPr>
        <p:txBody>
          <a:bodyPr wrap="square" lIns="0" rIns="0" tIns="0" bIns="0" anchor="ctr">
            <a:spAutoFit/>
          </a:bodyPr>
          <a:lstStyle/>
          <a:p>
            <a:pPr marL="0" indent="0">
              <a:spcAft>
                <a:spcPts val="0"/>
              </a:spcAft>
              <a:buNone/>
            </a:pPr>
            <a:r>
              <a:rPr sz="2800" b="1" i="0">
                <a:solidFill>
                  <a:srgbClr val="1D2F82"/>
                </a:solidFill>
                <a:latin typeface="Calibri"/>
              </a:rPr>
              <a:t>Problem Statement &amp; Objectives</a:t>
            </a:r>
          </a:p>
        </p:txBody>
      </p:sp>
      <p:pic>
        <p:nvPicPr>
          <p:cNvPr id="3" name="Logo" descr="image.png"/>
          <p:cNvPicPr>
            <a:picLocks noChangeAspect="1"/>
          </p:cNvPicPr>
          <p:nvPr/>
        </p:nvPicPr>
        <p:blipFill>
          <a:blip r:embed="rId2"/>
          <a:stretch>
            <a:fillRect/>
          </a:stretch>
        </p:blipFill>
        <p:spPr>
          <a:xfrm>
            <a:off x="10360152" y="320040"/>
            <a:ext cx="1371600" cy="521207"/>
          </a:xfrm>
          <a:prstGeom prst="rect">
            <a:avLst/>
          </a:prstGeom>
        </p:spPr>
      </p:pic>
      <p:sp>
        <p:nvSpPr>
          <p:cNvPr id="4" name="Rounded Rectangle 3"/>
          <p:cNvSpPr/>
          <p:nvPr/>
        </p:nvSpPr>
        <p:spPr>
          <a:xfrm>
            <a:off x="640080" y="1234440"/>
            <a:ext cx="10881360" cy="114300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1325880"/>
            <a:ext cx="10424160" cy="1005840"/>
          </a:xfrm>
          <a:prstGeom prst="rect">
            <a:avLst/>
          </a:prstGeom>
          <a:noFill/>
        </p:spPr>
        <p:txBody>
          <a:bodyPr wrap="square" lIns="0" rIns="0" tIns="0" bIns="0" anchor="t">
            <a:spAutoFit/>
          </a:bodyPr>
          <a:lstStyle/>
          <a:p>
            <a:pPr marL="0" indent="0">
              <a:spcAft>
                <a:spcPts val="300"/>
              </a:spcAft>
              <a:buNone/>
            </a:pPr>
            <a:r>
              <a:rPr sz="1600" b="1" i="0">
                <a:solidFill>
                  <a:srgbClr val="1D2F82"/>
                </a:solidFill>
                <a:latin typeface="Calibri"/>
              </a:rPr>
              <a:t>Problem statement</a:t>
            </a:r>
          </a:p>
          <a:p>
            <a:pPr marL="0" indent="0">
              <a:spcAft>
                <a:spcPts val="0"/>
              </a:spcAft>
              <a:buNone/>
            </a:pPr>
            <a:r>
              <a:rPr sz="1500" b="0" i="0">
                <a:solidFill>
                  <a:srgbClr val="000000"/>
                </a:solidFill>
                <a:latin typeface="Calibri"/>
              </a:rPr>
              <a:t>Given daily vital-sign and activity data from a smart ring, estimate each user's fall risk for the next 24 hours in a way that is </a:t>
            </a:r>
            <a:r>
              <a:rPr sz="1500" b="1" i="0">
                <a:solidFill>
                  <a:srgbClr val="000000"/>
                </a:solidFill>
                <a:latin typeface="Calibri"/>
              </a:rPr>
              <a:t>explainable</a:t>
            </a:r>
            <a:r>
              <a:rPr sz="1500" b="0" i="0">
                <a:solidFill>
                  <a:srgbClr val="000000"/>
                </a:solidFill>
                <a:latin typeface="Calibri"/>
              </a:rPr>
              <a:t>, </a:t>
            </a:r>
            <a:r>
              <a:rPr sz="1500" b="1" i="0">
                <a:solidFill>
                  <a:srgbClr val="000000"/>
                </a:solidFill>
                <a:latin typeface="Calibri"/>
              </a:rPr>
              <a:t>personal</a:t>
            </a:r>
            <a:r>
              <a:rPr sz="1500" b="0" i="0">
                <a:solidFill>
                  <a:srgbClr val="000000"/>
                </a:solidFill>
                <a:latin typeface="Calibri"/>
              </a:rPr>
              <a:t>, </a:t>
            </a:r>
            <a:r>
              <a:rPr sz="1500" b="1" i="0">
                <a:solidFill>
                  <a:srgbClr val="000000"/>
                </a:solidFill>
                <a:latin typeface="Calibri"/>
              </a:rPr>
              <a:t>fair across the menstrual cycle</a:t>
            </a:r>
            <a:r>
              <a:rPr sz="1500" b="0" i="0">
                <a:solidFill>
                  <a:srgbClr val="000000"/>
                </a:solidFill>
                <a:latin typeface="Calibri"/>
              </a:rPr>
              <a:t>, and explained by an AI agent that </a:t>
            </a:r>
            <a:r>
              <a:rPr sz="1500" b="1" i="0">
                <a:solidFill>
                  <a:srgbClr val="000000"/>
                </a:solidFill>
                <a:latin typeface="Calibri"/>
              </a:rPr>
              <a:t>never invents numbers</a:t>
            </a:r>
            <a:r>
              <a:rPr sz="1500" b="0" i="0">
                <a:solidFill>
                  <a:srgbClr val="000000"/>
                </a:solidFill>
                <a:latin typeface="Calibri"/>
              </a:rPr>
              <a:t> and </a:t>
            </a:r>
            <a:r>
              <a:rPr sz="1500" b="1" i="0">
                <a:solidFill>
                  <a:srgbClr val="000000"/>
                </a:solidFill>
                <a:latin typeface="Calibri"/>
              </a:rPr>
              <a:t>never misses an emergency</a:t>
            </a:r>
            <a:r>
              <a:rPr sz="1500" b="0" i="0">
                <a:solidFill>
                  <a:srgbClr val="000000"/>
                </a:solidFill>
                <a:latin typeface="Calibri"/>
              </a:rPr>
              <a:t>.</a:t>
            </a:r>
          </a:p>
        </p:txBody>
      </p:sp>
      <p:graphicFrame>
        <p:nvGraphicFramePr>
          <p:cNvPr id="6" name="Table 5"/>
          <p:cNvGraphicFramePr>
            <a:graphicFrameLocks noGrp="1"/>
          </p:cNvGraphicFramePr>
          <p:nvPr/>
        </p:nvGraphicFramePr>
        <p:xfrm>
          <a:off x="640080" y="2560320"/>
          <a:ext cx="10881360" cy="3145536"/>
        </p:xfrm>
        <a:graphic>
          <a:graphicData uri="http://schemas.openxmlformats.org/drawingml/2006/table">
            <a:tbl>
              <a:tblPr firstRow="0" bandRow="0">
                <a:tableStyleId>{5940675A-B579-460E-94D1-54222C63F5DA}</a:tableStyleId>
              </a:tblPr>
              <a:tblGrid>
                <a:gridCol w="3383280"/>
                <a:gridCol w="4206240"/>
                <a:gridCol w="3291840"/>
              </a:tblGrid>
              <a:tr h="393192">
                <a:tc>
                  <a:txBody>
                    <a:bodyPr wrap="square"/>
                    <a:lstStyle/>
                    <a:p>
                      <a:pPr algn="ctr"/>
                      <a:r>
                        <a:rPr sz="1300" b="1" i="0">
                          <a:solidFill>
                            <a:srgbClr val="FFFFFF"/>
                          </a:solidFill>
                          <a:latin typeface="Calibri"/>
                        </a:rPr>
                        <a:t>Objective</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c>
                  <a:txBody>
                    <a:bodyPr wrap="square"/>
                    <a:lstStyle/>
                    <a:p>
                      <a:pPr algn="ctr"/>
                      <a:r>
                        <a:rPr sz="1300" b="1" i="0">
                          <a:solidFill>
                            <a:srgbClr val="FFFFFF"/>
                          </a:solidFill>
                          <a:latin typeface="Calibri"/>
                        </a:rPr>
                        <a:t>How it was achieved</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c>
                  <a:txBody>
                    <a:bodyPr wrap="square"/>
                    <a:lstStyle/>
                    <a:p>
                      <a:pPr algn="ctr"/>
                      <a:r>
                        <a:rPr sz="1300" b="1" i="0">
                          <a:solidFill>
                            <a:srgbClr val="FFFFFF"/>
                          </a:solidFill>
                          <a:latin typeface="Calibri"/>
                        </a:rPr>
                        <a:t>Outcome</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r>
              <a:tr h="393192">
                <a:tc>
                  <a:txBody>
                    <a:bodyPr wrap="square"/>
                    <a:lstStyle/>
                    <a:p>
                      <a:pPr algn="l"/>
                      <a:r>
                        <a:rPr sz="1300" b="1" i="0">
                          <a:solidFill>
                            <a:srgbClr val="000000"/>
                          </a:solidFill>
                          <a:latin typeface="Calibri"/>
                        </a:rPr>
                        <a:t>Collect continuous vitals from a ring</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Android app, background measurement loop, Supabase sync</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Working on our ring</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r>
              <a:tr h="393192">
                <a:tc>
                  <a:txBody>
                    <a:bodyPr wrap="square"/>
                    <a:lstStyle/>
                    <a:p>
                      <a:pPr algn="l"/>
                      <a:r>
                        <a:rPr sz="1300" b="1" i="0">
                          <a:solidFill>
                            <a:srgbClr val="000000"/>
                          </a:solidFill>
                          <a:latin typeface="Calibri"/>
                        </a:rPr>
                        <a:t>Estimate daily fall risk transparently</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300" b="0" i="0">
                          <a:solidFill>
                            <a:srgbClr val="000000"/>
                          </a:solidFill>
                          <a:latin typeface="Calibri"/>
                        </a:rPr>
                        <a:t>Personal baselines + evidence-weighted engine</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300" b="0" i="0">
                          <a:solidFill>
                            <a:srgbClr val="000000"/>
                          </a:solidFill>
                          <a:latin typeface="Calibri"/>
                        </a:rPr>
                        <a:t>Every point traceable</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r>
              <a:tr h="393192">
                <a:tc>
                  <a:txBody>
                    <a:bodyPr wrap="square"/>
                    <a:lstStyle/>
                    <a:p>
                      <a:pPr algn="l"/>
                      <a:r>
                        <a:rPr sz="1300" b="1" i="0">
                          <a:solidFill>
                            <a:srgbClr val="000000"/>
                          </a:solidFill>
                          <a:latin typeface="Calibri"/>
                        </a:rPr>
                        <a:t>Explain every score</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"How your score is calculated" page in the app</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Measure-by-measure breakdown</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r>
              <a:tr h="393192">
                <a:tc>
                  <a:txBody>
                    <a:bodyPr wrap="square"/>
                    <a:lstStyle/>
                    <a:p>
                      <a:pPr algn="l"/>
                      <a:r>
                        <a:rPr sz="1300" b="1" i="0">
                          <a:solidFill>
                            <a:srgbClr val="000000"/>
                          </a:solidFill>
                          <a:latin typeface="Calibri"/>
                        </a:rPr>
                        <a:t>Detect emergencies reliably</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300" b="0" i="0">
                          <a:solidFill>
                            <a:srgbClr val="000000"/>
                          </a:solidFill>
                          <a:latin typeface="Calibri"/>
                        </a:rPr>
                        <a:t>Keyword + LLM + ring fall-event fusion</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300" b="0" i="0">
                          <a:solidFill>
                            <a:srgbClr val="000000"/>
                          </a:solidFill>
                          <a:latin typeface="Calibri"/>
                        </a:rPr>
                        <a:t>3/3 caught, 0 false alarms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r>
              <a:tr h="393192">
                <a:tc>
                  <a:txBody>
                    <a:bodyPr wrap="square"/>
                    <a:lstStyle/>
                    <a:p>
                      <a:pPr algn="l"/>
                      <a:r>
                        <a:rPr sz="1300" b="1" i="0">
                          <a:solidFill>
                            <a:srgbClr val="000000"/>
                          </a:solidFill>
                          <a:latin typeface="Calibri"/>
                        </a:rPr>
                        <a:t>Stop the AI inventing numbers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Grounded generation + numeric verification</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Grounding 0.979 (vs 0.723)</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r>
              <a:tr h="393192">
                <a:tc>
                  <a:txBody>
                    <a:bodyPr wrap="square"/>
                    <a:lstStyle/>
                    <a:p>
                      <a:pPr algn="l"/>
                      <a:r>
                        <a:rPr sz="1300" b="1" i="0">
                          <a:solidFill>
                            <a:srgbClr val="000000"/>
                          </a:solidFill>
                          <a:latin typeface="Calibri"/>
                        </a:rPr>
                        <a:t>Treat women fairly</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300" b="0" i="0">
                          <a:solidFill>
                            <a:srgbClr val="000000"/>
                          </a:solidFill>
                          <a:latin typeface="Calibri"/>
                        </a:rPr>
                        <a:t>Cycle-phase-matched baselines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300" b="0" i="0">
                          <a:solidFill>
                            <a:srgbClr val="000000"/>
                          </a:solidFill>
                          <a:latin typeface="Calibri"/>
                        </a:rPr>
                        <a:t>43% less false physiology risk</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r>
              <a:tr h="393192">
                <a:tc>
                  <a:txBody>
                    <a:bodyPr wrap="square"/>
                    <a:lstStyle/>
                    <a:p>
                      <a:pPr algn="l"/>
                      <a:r>
                        <a:rPr sz="1300" b="1" i="0">
                          <a:solidFill>
                            <a:srgbClr val="000000"/>
                          </a:solidFill>
                          <a:latin typeface="Calibri"/>
                        </a:rPr>
                        <a:t>Validate on real people</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PhysioNet LTMM, 73 older adults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AUC 0.686 ≈ clinical TUG 0.683</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r>
            </a:tbl>
          </a:graphicData>
        </a:graphic>
      </p:graphicFrame>
      <p:sp>
        <p:nvSpPr>
          <p:cNvPr id="7" name="Slide number"/>
          <p:cNvSpPr txBox="1"/>
          <p:nvPr/>
        </p:nvSpPr>
        <p:spPr>
          <a:xfrm>
            <a:off x="11457432" y="6446520"/>
            <a:ext cx="457200" cy="274320"/>
          </a:xfrm>
          <a:prstGeom prst="rect">
            <a:avLst/>
          </a:prstGeom>
          <a:noFill/>
        </p:spPr>
        <p:txBody>
          <a:bodyPr wrap="square" lIns="0" rIns="0" tIns="0" bIns="0" anchor="ctr">
            <a:spAutoFit/>
          </a:bodyPr>
          <a:lstStyle/>
          <a:p>
            <a:pPr marL="0" indent="0" algn="r">
              <a:spcAft>
                <a:spcPts val="0"/>
              </a:spcAft>
              <a:buNone/>
            </a:pPr>
            <a:r>
              <a:rPr sz="1000" b="0" i="0">
                <a:solidFill>
                  <a:srgbClr val="808080"/>
                </a:solidFill>
                <a:latin typeface="Calibri"/>
              </a:rPr>
              <a:t>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9601200" cy="685800"/>
          </a:xfrm>
          <a:prstGeom prst="rect">
            <a:avLst/>
          </a:prstGeom>
          <a:noFill/>
        </p:spPr>
        <p:txBody>
          <a:bodyPr wrap="square" lIns="0" rIns="0" tIns="0" bIns="0" anchor="ctr">
            <a:spAutoFit/>
          </a:bodyPr>
          <a:lstStyle/>
          <a:p>
            <a:pPr marL="0" indent="0">
              <a:spcAft>
                <a:spcPts val="0"/>
              </a:spcAft>
              <a:buNone/>
            </a:pPr>
            <a:r>
              <a:rPr sz="2800" b="1" i="0">
                <a:solidFill>
                  <a:srgbClr val="1D2F82"/>
                </a:solidFill>
                <a:latin typeface="Calibri"/>
              </a:rPr>
              <a:t>System Architecture — Overall Block Diagram</a:t>
            </a:r>
          </a:p>
        </p:txBody>
      </p:sp>
      <p:pic>
        <p:nvPicPr>
          <p:cNvPr id="3" name="Logo" descr="image.png"/>
          <p:cNvPicPr>
            <a:picLocks noChangeAspect="1"/>
          </p:cNvPicPr>
          <p:nvPr/>
        </p:nvPicPr>
        <p:blipFill>
          <a:blip r:embed="rId2"/>
          <a:stretch>
            <a:fillRect/>
          </a:stretch>
        </p:blipFill>
        <p:spPr>
          <a:xfrm>
            <a:off x="10360152" y="320040"/>
            <a:ext cx="1371600" cy="521207"/>
          </a:xfrm>
          <a:prstGeom prst="rect">
            <a:avLst/>
          </a:prstGeom>
        </p:spPr>
      </p:pic>
      <p:pic>
        <p:nvPicPr>
          <p:cNvPr id="4" name="Block diagram" descr="system_overview.png"/>
          <p:cNvPicPr>
            <a:picLocks noChangeAspect="1"/>
          </p:cNvPicPr>
          <p:nvPr/>
        </p:nvPicPr>
        <p:blipFill>
          <a:blip r:embed="rId4"/>
          <a:stretch>
            <a:fillRect/>
          </a:stretch>
        </p:blipFill>
        <p:spPr>
          <a:xfrm>
            <a:off x="2281645" y="1280160"/>
            <a:ext cx="7598228" cy="3657600"/>
          </a:xfrm>
          <a:prstGeom prst="rect">
            <a:avLst/>
          </a:prstGeom>
        </p:spPr>
      </p:pic>
      <p:sp>
        <p:nvSpPr>
          <p:cNvPr id="5" name="TextBox 4"/>
          <p:cNvSpPr txBox="1"/>
          <p:nvPr/>
        </p:nvSpPr>
        <p:spPr>
          <a:xfrm>
            <a:off x="640080" y="4956048"/>
            <a:ext cx="10881360" cy="274320"/>
          </a:xfrm>
          <a:prstGeom prst="rect">
            <a:avLst/>
          </a:prstGeom>
          <a:noFill/>
        </p:spPr>
        <p:txBody>
          <a:bodyPr wrap="square" lIns="0" rIns="0" tIns="0" bIns="0" anchor="t">
            <a:spAutoFit/>
          </a:bodyPr>
          <a:lstStyle/>
          <a:p>
            <a:pPr marL="0" indent="0" algn="ctr">
              <a:spcAft>
                <a:spcPts val="0"/>
              </a:spcAft>
              <a:buNone/>
            </a:pPr>
            <a:r>
              <a:rPr sz="1100" b="0" i="1">
                <a:solidFill>
                  <a:srgbClr val="595959"/>
                </a:solidFill>
                <a:latin typeface="Calibri"/>
              </a:rPr>
              <a:t>Smart ring → Android app → Supabase → agent backend (laptop) → Groq LLM</a:t>
            </a:r>
          </a:p>
        </p:txBody>
      </p:sp>
      <p:sp>
        <p:nvSpPr>
          <p:cNvPr id="6" name="Rounded Rectangle 5"/>
          <p:cNvSpPr/>
          <p:nvPr/>
        </p:nvSpPr>
        <p:spPr>
          <a:xfrm>
            <a:off x="640080" y="5349240"/>
            <a:ext cx="10881360" cy="77724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5394960"/>
            <a:ext cx="10424160" cy="685800"/>
          </a:xfrm>
          <a:prstGeom prst="rect">
            <a:avLst/>
          </a:prstGeom>
          <a:noFill/>
        </p:spPr>
        <p:txBody>
          <a:bodyPr wrap="square" lIns="0" rIns="0" tIns="0" bIns="0" anchor="ctr">
            <a:spAutoFit/>
          </a:bodyPr>
          <a:lstStyle/>
          <a:p>
            <a:pPr marL="0" indent="0">
              <a:spcAft>
                <a:spcPts val="0"/>
              </a:spcAft>
              <a:buNone/>
            </a:pPr>
            <a:r>
              <a:rPr sz="1500" b="1" i="0">
                <a:solidFill>
                  <a:srgbClr val="000000"/>
                </a:solidFill>
                <a:latin typeface="Calibri"/>
              </a:rPr>
              <a:t>Design principle:</a:t>
            </a:r>
            <a:r>
              <a:rPr sz="1500" b="0" i="0">
                <a:solidFill>
                  <a:srgbClr val="000000"/>
                </a:solidFill>
                <a:latin typeface="Calibri"/>
              </a:rPr>
              <a:t> a deterministic engine computes the score; the LLM only explains numbers it is given, and every number is checked. Reproducible and safe.</a:t>
            </a:r>
          </a:p>
        </p:txBody>
      </p:sp>
      <p:sp>
        <p:nvSpPr>
          <p:cNvPr id="8" name="Slide number"/>
          <p:cNvSpPr txBox="1"/>
          <p:nvPr/>
        </p:nvSpPr>
        <p:spPr>
          <a:xfrm>
            <a:off x="11457432" y="6446520"/>
            <a:ext cx="457200" cy="274320"/>
          </a:xfrm>
          <a:prstGeom prst="rect">
            <a:avLst/>
          </a:prstGeom>
          <a:noFill/>
        </p:spPr>
        <p:txBody>
          <a:bodyPr wrap="square" lIns="0" rIns="0" tIns="0" bIns="0" anchor="ctr">
            <a:spAutoFit/>
          </a:bodyPr>
          <a:lstStyle/>
          <a:p>
            <a:pPr marL="0" indent="0" algn="r">
              <a:spcAft>
                <a:spcPts val="0"/>
              </a:spcAft>
              <a:buNone/>
            </a:pPr>
            <a:r>
              <a:rPr sz="1000" b="0" i="0">
                <a:solidFill>
                  <a:srgbClr val="808080"/>
                </a:solidFill>
                <a:latin typeface="Calibri"/>
              </a:rPr>
              <a:t>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9601200" cy="685800"/>
          </a:xfrm>
          <a:prstGeom prst="rect">
            <a:avLst/>
          </a:prstGeom>
          <a:noFill/>
        </p:spPr>
        <p:txBody>
          <a:bodyPr wrap="square" lIns="0" rIns="0" tIns="0" bIns="0" anchor="ctr">
            <a:spAutoFit/>
          </a:bodyPr>
          <a:lstStyle/>
          <a:p>
            <a:pPr marL="0" indent="0">
              <a:spcAft>
                <a:spcPts val="0"/>
              </a:spcAft>
              <a:buNone/>
            </a:pPr>
            <a:r>
              <a:rPr sz="2800" b="1" i="0">
                <a:solidFill>
                  <a:srgbClr val="1D2F82"/>
                </a:solidFill>
                <a:latin typeface="Calibri"/>
              </a:rPr>
              <a:t>System Architecture — Agent Workflow</a:t>
            </a:r>
          </a:p>
        </p:txBody>
      </p:sp>
      <p:pic>
        <p:nvPicPr>
          <p:cNvPr id="3" name="Logo" descr="image.png"/>
          <p:cNvPicPr>
            <a:picLocks noChangeAspect="1"/>
          </p:cNvPicPr>
          <p:nvPr/>
        </p:nvPicPr>
        <p:blipFill>
          <a:blip r:embed="rId2"/>
          <a:stretch>
            <a:fillRect/>
          </a:stretch>
        </p:blipFill>
        <p:spPr>
          <a:xfrm>
            <a:off x="10360152" y="320040"/>
            <a:ext cx="1371600" cy="521207"/>
          </a:xfrm>
          <a:prstGeom prst="rect">
            <a:avLst/>
          </a:prstGeom>
        </p:spPr>
      </p:pic>
      <p:pic>
        <p:nvPicPr>
          <p:cNvPr id="4" name="Agent pipeline" descr="architecture_slide.png"/>
          <p:cNvPicPr>
            <a:picLocks noChangeAspect="1"/>
          </p:cNvPicPr>
          <p:nvPr/>
        </p:nvPicPr>
        <p:blipFill>
          <a:blip r:embed="rId4"/>
          <a:stretch>
            <a:fillRect/>
          </a:stretch>
        </p:blipFill>
        <p:spPr>
          <a:xfrm>
            <a:off x="1376238" y="1188720"/>
            <a:ext cx="9409043" cy="3246120"/>
          </a:xfrm>
          <a:prstGeom prst="rect">
            <a:avLst/>
          </a:prstGeom>
        </p:spPr>
      </p:pic>
      <p:sp>
        <p:nvSpPr>
          <p:cNvPr id="5" name="Rounded Rectangle 4"/>
          <p:cNvSpPr/>
          <p:nvPr/>
        </p:nvSpPr>
        <p:spPr>
          <a:xfrm>
            <a:off x="640080" y="4617720"/>
            <a:ext cx="3520440" cy="146304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22959" y="4754880"/>
            <a:ext cx="384048" cy="384048"/>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1</a:t>
            </a:r>
          </a:p>
        </p:txBody>
      </p:sp>
      <p:sp>
        <p:nvSpPr>
          <p:cNvPr id="7" name="TextBox 6"/>
          <p:cNvSpPr txBox="1"/>
          <p:nvPr/>
        </p:nvSpPr>
        <p:spPr>
          <a:xfrm>
            <a:off x="1325880" y="4727448"/>
            <a:ext cx="2697480" cy="1280160"/>
          </a:xfrm>
          <a:prstGeom prst="rect">
            <a:avLst/>
          </a:prstGeom>
          <a:noFill/>
        </p:spPr>
        <p:txBody>
          <a:bodyPr wrap="square" lIns="0" rIns="0" tIns="0" bIns="0" anchor="t">
            <a:spAutoFit/>
          </a:bodyPr>
          <a:lstStyle/>
          <a:p>
            <a:pPr marL="0" indent="0">
              <a:spcAft>
                <a:spcPts val="300"/>
              </a:spcAft>
              <a:buNone/>
            </a:pPr>
            <a:r>
              <a:rPr sz="1500" b="1" i="0">
                <a:solidFill>
                  <a:srgbClr val="1D2F82"/>
                </a:solidFill>
                <a:latin typeface="Calibri"/>
              </a:rPr>
              <a:t>Stage 1 — understand</a:t>
            </a:r>
          </a:p>
          <a:p>
            <a:pPr marL="0" indent="0">
              <a:spcAft>
                <a:spcPts val="600"/>
              </a:spcAft>
              <a:buNone/>
            </a:pPr>
            <a:r>
              <a:rPr sz="1300" b="0" i="0">
                <a:solidFill>
                  <a:srgbClr val="000000"/>
                </a:solidFill>
                <a:latin typeface="Calibri"/>
              </a:rPr>
              <a:t>Router picks data streams; keyword, LLM and ring fall-event signals are fused</a:t>
            </a:r>
          </a:p>
        </p:txBody>
      </p:sp>
      <p:sp>
        <p:nvSpPr>
          <p:cNvPr id="8" name="Rounded Rectangle 7"/>
          <p:cNvSpPr/>
          <p:nvPr/>
        </p:nvSpPr>
        <p:spPr>
          <a:xfrm>
            <a:off x="4297680" y="4617720"/>
            <a:ext cx="3520440" cy="146304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480560" y="4754880"/>
            <a:ext cx="384048" cy="384048"/>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2</a:t>
            </a:r>
          </a:p>
        </p:txBody>
      </p:sp>
      <p:sp>
        <p:nvSpPr>
          <p:cNvPr id="10" name="TextBox 9"/>
          <p:cNvSpPr txBox="1"/>
          <p:nvPr/>
        </p:nvSpPr>
        <p:spPr>
          <a:xfrm>
            <a:off x="4983480" y="4727448"/>
            <a:ext cx="2697480" cy="1280160"/>
          </a:xfrm>
          <a:prstGeom prst="rect">
            <a:avLst/>
          </a:prstGeom>
          <a:noFill/>
        </p:spPr>
        <p:txBody>
          <a:bodyPr wrap="square" lIns="0" rIns="0" tIns="0" bIns="0" anchor="t">
            <a:spAutoFit/>
          </a:bodyPr>
          <a:lstStyle/>
          <a:p>
            <a:pPr marL="0" indent="0">
              <a:spcAft>
                <a:spcPts val="300"/>
              </a:spcAft>
              <a:buNone/>
            </a:pPr>
            <a:r>
              <a:rPr sz="1500" b="1" i="0">
                <a:solidFill>
                  <a:srgbClr val="1D2F82"/>
                </a:solidFill>
                <a:latin typeface="Calibri"/>
              </a:rPr>
              <a:t>Stage 2 — fetch</a:t>
            </a:r>
          </a:p>
          <a:p>
            <a:pPr marL="0" indent="0">
              <a:spcAft>
                <a:spcPts val="600"/>
              </a:spcAft>
              <a:buNone/>
            </a:pPr>
            <a:r>
              <a:rPr sz="1300" b="0" i="0">
                <a:solidFill>
                  <a:srgbClr val="000000"/>
                </a:solidFill>
                <a:latin typeface="Calibri"/>
              </a:rPr>
              <a:t>Only the selected streams are read from Supabase (0.88 on average, not 12)</a:t>
            </a:r>
          </a:p>
        </p:txBody>
      </p:sp>
      <p:sp>
        <p:nvSpPr>
          <p:cNvPr id="11" name="Rounded Rectangle 10"/>
          <p:cNvSpPr/>
          <p:nvPr/>
        </p:nvSpPr>
        <p:spPr>
          <a:xfrm>
            <a:off x="7955279" y="4617720"/>
            <a:ext cx="3520440" cy="146304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138159" y="4754880"/>
            <a:ext cx="384048" cy="384048"/>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3</a:t>
            </a:r>
          </a:p>
        </p:txBody>
      </p:sp>
      <p:sp>
        <p:nvSpPr>
          <p:cNvPr id="13" name="TextBox 12"/>
          <p:cNvSpPr txBox="1"/>
          <p:nvPr/>
        </p:nvSpPr>
        <p:spPr>
          <a:xfrm>
            <a:off x="8641080" y="4727448"/>
            <a:ext cx="2697480" cy="1280160"/>
          </a:xfrm>
          <a:prstGeom prst="rect">
            <a:avLst/>
          </a:prstGeom>
          <a:noFill/>
        </p:spPr>
        <p:txBody>
          <a:bodyPr wrap="square" lIns="0" rIns="0" tIns="0" bIns="0" anchor="t">
            <a:spAutoFit/>
          </a:bodyPr>
          <a:lstStyle/>
          <a:p>
            <a:pPr marL="0" indent="0">
              <a:spcAft>
                <a:spcPts val="300"/>
              </a:spcAft>
              <a:buNone/>
            </a:pPr>
            <a:r>
              <a:rPr sz="1500" b="1" i="0">
                <a:solidFill>
                  <a:srgbClr val="1D2F82"/>
                </a:solidFill>
                <a:latin typeface="Calibri"/>
              </a:rPr>
              <a:t>Stage 3 — answer &amp; verify</a:t>
            </a:r>
          </a:p>
          <a:p>
            <a:pPr marL="0" indent="0">
              <a:spcAft>
                <a:spcPts val="600"/>
              </a:spcAft>
              <a:buNone/>
            </a:pPr>
            <a:r>
              <a:rPr sz="1300" b="0" i="0">
                <a:solidFill>
                  <a:srgbClr val="000000"/>
                </a:solidFill>
                <a:latin typeface="Calibri"/>
              </a:rPr>
              <a:t>Engine computes; LLM explains (fact → rationale → action); numbers checked</a:t>
            </a:r>
          </a:p>
        </p:txBody>
      </p:sp>
      <p:sp>
        <p:nvSpPr>
          <p:cNvPr id="14" name="Slide number"/>
          <p:cNvSpPr txBox="1"/>
          <p:nvPr/>
        </p:nvSpPr>
        <p:spPr>
          <a:xfrm>
            <a:off x="11457432" y="6446520"/>
            <a:ext cx="457200" cy="274320"/>
          </a:xfrm>
          <a:prstGeom prst="rect">
            <a:avLst/>
          </a:prstGeom>
          <a:noFill/>
        </p:spPr>
        <p:txBody>
          <a:bodyPr wrap="square" lIns="0" rIns="0" tIns="0" bIns="0" anchor="ctr">
            <a:spAutoFit/>
          </a:bodyPr>
          <a:lstStyle/>
          <a:p>
            <a:pPr marL="0" indent="0" algn="r">
              <a:spcAft>
                <a:spcPts val="0"/>
              </a:spcAft>
              <a:buNone/>
            </a:pPr>
            <a:r>
              <a:rPr sz="1000" b="0" i="0">
                <a:solidFill>
                  <a:srgbClr val="808080"/>
                </a:solidFill>
                <a:latin typeface="Calibri"/>
              </a:rPr>
              <a:t>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9601200" cy="685800"/>
          </a:xfrm>
          <a:prstGeom prst="rect">
            <a:avLst/>
          </a:prstGeom>
          <a:noFill/>
        </p:spPr>
        <p:txBody>
          <a:bodyPr wrap="square" lIns="0" rIns="0" tIns="0" bIns="0" anchor="ctr">
            <a:spAutoFit/>
          </a:bodyPr>
          <a:lstStyle/>
          <a:p>
            <a:pPr marL="0" indent="0">
              <a:spcAft>
                <a:spcPts val="0"/>
              </a:spcAft>
              <a:buNone/>
            </a:pPr>
            <a:r>
              <a:rPr sz="2800" b="1" i="0">
                <a:solidFill>
                  <a:srgbClr val="1D2F82"/>
                </a:solidFill>
                <a:latin typeface="Calibri"/>
              </a:rPr>
              <a:t>Implementation — Module 1: Smart-Ring App</a:t>
            </a:r>
          </a:p>
        </p:txBody>
      </p:sp>
      <p:pic>
        <p:nvPicPr>
          <p:cNvPr id="3" name="Logo" descr="image.png"/>
          <p:cNvPicPr>
            <a:picLocks noChangeAspect="1"/>
          </p:cNvPicPr>
          <p:nvPr/>
        </p:nvPicPr>
        <p:blipFill>
          <a:blip r:embed="rId2"/>
          <a:stretch>
            <a:fillRect/>
          </a:stretch>
        </p:blipFill>
        <p:spPr>
          <a:xfrm>
            <a:off x="10360152" y="320040"/>
            <a:ext cx="1371600" cy="521207"/>
          </a:xfrm>
          <a:prstGeom prst="rect">
            <a:avLst/>
          </a:prstGeom>
        </p:spPr>
      </p:pic>
      <p:pic>
        <p:nvPicPr>
          <p:cNvPr id="4" name="Home screenshot" descr="app_home.jpg"/>
          <p:cNvPicPr>
            <a:picLocks noChangeAspect="1"/>
          </p:cNvPicPr>
          <p:nvPr/>
        </p:nvPicPr>
        <p:blipFill>
          <a:blip r:embed="rId4"/>
          <a:stretch>
            <a:fillRect/>
          </a:stretch>
        </p:blipFill>
        <p:spPr>
          <a:xfrm>
            <a:off x="640080" y="1247140"/>
            <a:ext cx="2148840" cy="4775200"/>
          </a:xfrm>
          <a:prstGeom prst="rect">
            <a:avLst/>
          </a:prstGeom>
        </p:spPr>
      </p:pic>
      <p:pic>
        <p:nvPicPr>
          <p:cNvPr id="5" name="AI Assist screenshot" descr="app_ai_assist.jpg"/>
          <p:cNvPicPr>
            <a:picLocks noChangeAspect="1"/>
          </p:cNvPicPr>
          <p:nvPr/>
        </p:nvPicPr>
        <p:blipFill>
          <a:blip r:embed="rId5"/>
          <a:stretch>
            <a:fillRect/>
          </a:stretch>
        </p:blipFill>
        <p:spPr>
          <a:xfrm>
            <a:off x="2971800" y="1247140"/>
            <a:ext cx="2148840" cy="4775200"/>
          </a:xfrm>
          <a:prstGeom prst="rect">
            <a:avLst/>
          </a:prstGeom>
        </p:spPr>
      </p:pic>
      <p:sp>
        <p:nvSpPr>
          <p:cNvPr id="6" name="TextBox 5"/>
          <p:cNvSpPr txBox="1"/>
          <p:nvPr/>
        </p:nvSpPr>
        <p:spPr>
          <a:xfrm>
            <a:off x="640080" y="6053328"/>
            <a:ext cx="2148840" cy="274320"/>
          </a:xfrm>
          <a:prstGeom prst="rect">
            <a:avLst/>
          </a:prstGeom>
          <a:noFill/>
        </p:spPr>
        <p:txBody>
          <a:bodyPr wrap="square" lIns="0" rIns="0" tIns="0" bIns="0" anchor="t">
            <a:spAutoFit/>
          </a:bodyPr>
          <a:lstStyle/>
          <a:p>
            <a:pPr marL="0" indent="0" algn="ctr">
              <a:spcAft>
                <a:spcPts val="0"/>
              </a:spcAft>
              <a:buNone/>
            </a:pPr>
            <a:r>
              <a:rPr sz="1100" b="0" i="1">
                <a:solidFill>
                  <a:srgbClr val="595959"/>
                </a:solidFill>
                <a:latin typeface="Calibri"/>
              </a:rPr>
              <a:t>Home</a:t>
            </a:r>
          </a:p>
        </p:txBody>
      </p:sp>
      <p:sp>
        <p:nvSpPr>
          <p:cNvPr id="7" name="TextBox 6"/>
          <p:cNvSpPr txBox="1"/>
          <p:nvPr/>
        </p:nvSpPr>
        <p:spPr>
          <a:xfrm>
            <a:off x="2971800" y="6053328"/>
            <a:ext cx="2148840" cy="274320"/>
          </a:xfrm>
          <a:prstGeom prst="rect">
            <a:avLst/>
          </a:prstGeom>
          <a:noFill/>
        </p:spPr>
        <p:txBody>
          <a:bodyPr wrap="square" lIns="0" rIns="0" tIns="0" bIns="0" anchor="t">
            <a:spAutoFit/>
          </a:bodyPr>
          <a:lstStyle/>
          <a:p>
            <a:pPr marL="0" indent="0" algn="ctr">
              <a:spcAft>
                <a:spcPts val="0"/>
              </a:spcAft>
              <a:buNone/>
            </a:pPr>
            <a:r>
              <a:rPr sz="1100" b="0" i="1">
                <a:solidFill>
                  <a:srgbClr val="595959"/>
                </a:solidFill>
                <a:latin typeface="Calibri"/>
              </a:rPr>
              <a:t>AI Assist</a:t>
            </a:r>
          </a:p>
        </p:txBody>
      </p:sp>
      <p:sp>
        <p:nvSpPr>
          <p:cNvPr id="8" name="Oval 7"/>
          <p:cNvSpPr/>
          <p:nvPr/>
        </p:nvSpPr>
        <p:spPr>
          <a:xfrm>
            <a:off x="5486400" y="1280160"/>
            <a:ext cx="347472" cy="347472"/>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Calibri"/>
              </a:rPr>
              <a:t>1</a:t>
            </a:r>
          </a:p>
        </p:txBody>
      </p:sp>
      <p:sp>
        <p:nvSpPr>
          <p:cNvPr id="9" name="TextBox 8"/>
          <p:cNvSpPr txBox="1"/>
          <p:nvPr/>
        </p:nvSpPr>
        <p:spPr>
          <a:xfrm>
            <a:off x="5989320" y="1234440"/>
            <a:ext cx="5532120" cy="914400"/>
          </a:xfrm>
          <a:prstGeom prst="rect">
            <a:avLst/>
          </a:prstGeom>
          <a:noFill/>
        </p:spPr>
        <p:txBody>
          <a:bodyPr wrap="square" lIns="0" rIns="0" tIns="0" bIns="0" anchor="t">
            <a:spAutoFit/>
          </a:bodyPr>
          <a:lstStyle/>
          <a:p>
            <a:pPr marL="0" indent="0">
              <a:spcAft>
                <a:spcPts val="200"/>
              </a:spcAft>
              <a:buNone/>
            </a:pPr>
            <a:r>
              <a:rPr sz="1500" b="1" i="0">
                <a:solidFill>
                  <a:srgbClr val="1D2F82"/>
                </a:solidFill>
                <a:latin typeface="Calibri"/>
              </a:rPr>
              <a:t>Ring connection</a:t>
            </a:r>
          </a:p>
          <a:p>
            <a:pPr marL="0" indent="0">
              <a:spcAft>
                <a:spcPts val="600"/>
              </a:spcAft>
              <a:buNone/>
            </a:pPr>
            <a:r>
              <a:rPr sz="1300" b="0" i="0">
                <a:solidFill>
                  <a:srgbClr val="000000"/>
                </a:solidFill>
                <a:latin typeface="Calibri"/>
              </a:rPr>
              <a:t>Native Kotlin plugin on the vendor BLE SDK; foreground service keeps the ring connected; Home card shows status, battery % and Pair / Disconnect</a:t>
            </a:r>
          </a:p>
        </p:txBody>
      </p:sp>
      <p:sp>
        <p:nvSpPr>
          <p:cNvPr id="10" name="Oval 9"/>
          <p:cNvSpPr/>
          <p:nvPr/>
        </p:nvSpPr>
        <p:spPr>
          <a:xfrm>
            <a:off x="5486400" y="2249424"/>
            <a:ext cx="347472" cy="347472"/>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Calibri"/>
              </a:rPr>
              <a:t>2</a:t>
            </a:r>
          </a:p>
        </p:txBody>
      </p:sp>
      <p:sp>
        <p:nvSpPr>
          <p:cNvPr id="11" name="TextBox 10"/>
          <p:cNvSpPr txBox="1"/>
          <p:nvPr/>
        </p:nvSpPr>
        <p:spPr>
          <a:xfrm>
            <a:off x="5989320" y="2203704"/>
            <a:ext cx="5532120" cy="914400"/>
          </a:xfrm>
          <a:prstGeom prst="rect">
            <a:avLst/>
          </a:prstGeom>
          <a:noFill/>
        </p:spPr>
        <p:txBody>
          <a:bodyPr wrap="square" lIns="0" rIns="0" tIns="0" bIns="0" anchor="t">
            <a:spAutoFit/>
          </a:bodyPr>
          <a:lstStyle/>
          <a:p>
            <a:pPr marL="0" indent="0">
              <a:spcAft>
                <a:spcPts val="200"/>
              </a:spcAft>
              <a:buNone/>
            </a:pPr>
            <a:r>
              <a:rPr sz="1500" b="1" i="0">
                <a:solidFill>
                  <a:srgbClr val="1D2F82"/>
                </a:solidFill>
                <a:latin typeface="Calibri"/>
              </a:rPr>
              <a:t>Measurement loop</a:t>
            </a:r>
          </a:p>
          <a:p>
            <a:pPr marL="0" indent="0">
              <a:spcAft>
                <a:spcPts val="600"/>
              </a:spcAft>
              <a:buNone/>
            </a:pPr>
            <a:r>
              <a:rPr sz="1300" b="0" i="0">
                <a:solidFill>
                  <a:srgbClr val="000000"/>
                </a:solidFill>
                <a:latin typeface="Calibri"/>
              </a:rPr>
              <a:t>Steps → HR → SpO₂ → stress → BP → HRV → temperature; 3-min cooldown, 15 min when healthy; starts within seconds of the ring binding</a:t>
            </a:r>
          </a:p>
        </p:txBody>
      </p:sp>
      <p:sp>
        <p:nvSpPr>
          <p:cNvPr id="12" name="Oval 11"/>
          <p:cNvSpPr/>
          <p:nvPr/>
        </p:nvSpPr>
        <p:spPr>
          <a:xfrm>
            <a:off x="5486400" y="3218688"/>
            <a:ext cx="347472" cy="347472"/>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Calibri"/>
              </a:rPr>
              <a:t>3</a:t>
            </a:r>
          </a:p>
        </p:txBody>
      </p:sp>
      <p:sp>
        <p:nvSpPr>
          <p:cNvPr id="13" name="TextBox 12"/>
          <p:cNvSpPr txBox="1"/>
          <p:nvPr/>
        </p:nvSpPr>
        <p:spPr>
          <a:xfrm>
            <a:off x="5989320" y="3172968"/>
            <a:ext cx="5532120" cy="914400"/>
          </a:xfrm>
          <a:prstGeom prst="rect">
            <a:avLst/>
          </a:prstGeom>
          <a:noFill/>
        </p:spPr>
        <p:txBody>
          <a:bodyPr wrap="square" lIns="0" rIns="0" tIns="0" bIns="0" anchor="t">
            <a:spAutoFit/>
          </a:bodyPr>
          <a:lstStyle/>
          <a:p>
            <a:pPr marL="0" indent="0">
              <a:spcAft>
                <a:spcPts val="200"/>
              </a:spcAft>
              <a:buNone/>
            </a:pPr>
            <a:r>
              <a:rPr sz="1500" b="1" i="0">
                <a:solidFill>
                  <a:srgbClr val="1D2F82"/>
                </a:solidFill>
                <a:latin typeface="Calibri"/>
              </a:rPr>
              <a:t>Storage &amp; sync</a:t>
            </a:r>
          </a:p>
          <a:p>
            <a:pPr marL="0" indent="0">
              <a:spcAft>
                <a:spcPts val="600"/>
              </a:spcAft>
              <a:buNone/>
            </a:pPr>
            <a:r>
              <a:rPr sz="1300" b="0" i="0">
                <a:solidFill>
                  <a:srgbClr val="000000"/>
                </a:solidFill>
                <a:latin typeface="Calibri"/>
              </a:rPr>
              <a:t>Every reading saved first in Room (works offline), then batched to Supabase every 5 min</a:t>
            </a:r>
          </a:p>
        </p:txBody>
      </p:sp>
      <p:sp>
        <p:nvSpPr>
          <p:cNvPr id="14" name="Oval 13"/>
          <p:cNvSpPr/>
          <p:nvPr/>
        </p:nvSpPr>
        <p:spPr>
          <a:xfrm>
            <a:off x="5486400" y="4187952"/>
            <a:ext cx="347472" cy="347472"/>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Calibri"/>
              </a:rPr>
              <a:t>4</a:t>
            </a:r>
          </a:p>
        </p:txBody>
      </p:sp>
      <p:sp>
        <p:nvSpPr>
          <p:cNvPr id="15" name="TextBox 14"/>
          <p:cNvSpPr txBox="1"/>
          <p:nvPr/>
        </p:nvSpPr>
        <p:spPr>
          <a:xfrm>
            <a:off x="5989320" y="4142232"/>
            <a:ext cx="5532120" cy="914400"/>
          </a:xfrm>
          <a:prstGeom prst="rect">
            <a:avLst/>
          </a:prstGeom>
          <a:noFill/>
        </p:spPr>
        <p:txBody>
          <a:bodyPr wrap="square" lIns="0" rIns="0" tIns="0" bIns="0" anchor="t">
            <a:spAutoFit/>
          </a:bodyPr>
          <a:lstStyle/>
          <a:p>
            <a:pPr marL="0" indent="0">
              <a:spcAft>
                <a:spcPts val="200"/>
              </a:spcAft>
              <a:buNone/>
            </a:pPr>
            <a:r>
              <a:rPr sz="1500" b="1" i="0">
                <a:solidFill>
                  <a:srgbClr val="1D2F82"/>
                </a:solidFill>
                <a:latin typeface="Calibri"/>
              </a:rPr>
              <a:t>Fall detection</a:t>
            </a:r>
          </a:p>
          <a:p>
            <a:pPr marL="0" indent="0">
              <a:spcAft>
                <a:spcPts val="600"/>
              </a:spcAft>
              <a:buNone/>
            </a:pPr>
            <a:r>
              <a:rPr sz="1300" b="0" i="0">
                <a:solidFill>
                  <a:srgbClr val="000000"/>
                </a:solidFill>
                <a:latin typeface="Calibri"/>
              </a:rPr>
              <a:t>Phone motion sensors (the ring has no accelerometer stream); a dropped phone is rejected</a:t>
            </a:r>
          </a:p>
        </p:txBody>
      </p:sp>
      <p:sp>
        <p:nvSpPr>
          <p:cNvPr id="16" name="Oval 15"/>
          <p:cNvSpPr/>
          <p:nvPr/>
        </p:nvSpPr>
        <p:spPr>
          <a:xfrm>
            <a:off x="5486400" y="5157216"/>
            <a:ext cx="347472" cy="347472"/>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Calibri"/>
              </a:rPr>
              <a:t>5</a:t>
            </a:r>
          </a:p>
        </p:txBody>
      </p:sp>
      <p:sp>
        <p:nvSpPr>
          <p:cNvPr id="17" name="TextBox 16"/>
          <p:cNvSpPr txBox="1"/>
          <p:nvPr/>
        </p:nvSpPr>
        <p:spPr>
          <a:xfrm>
            <a:off x="5989320" y="5111496"/>
            <a:ext cx="5532120" cy="914400"/>
          </a:xfrm>
          <a:prstGeom prst="rect">
            <a:avLst/>
          </a:prstGeom>
          <a:noFill/>
        </p:spPr>
        <p:txBody>
          <a:bodyPr wrap="square" lIns="0" rIns="0" tIns="0" bIns="0" anchor="t">
            <a:spAutoFit/>
          </a:bodyPr>
          <a:lstStyle/>
          <a:p>
            <a:pPr marL="0" indent="0">
              <a:spcAft>
                <a:spcPts val="200"/>
              </a:spcAft>
              <a:buNone/>
            </a:pPr>
            <a:r>
              <a:rPr sz="1500" b="1" i="0">
                <a:solidFill>
                  <a:srgbClr val="1D2F82"/>
                </a:solidFill>
                <a:latin typeface="Calibri"/>
              </a:rPr>
              <a:t>Three tabs</a:t>
            </a:r>
          </a:p>
          <a:p>
            <a:pPr marL="0" indent="0">
              <a:spcAft>
                <a:spcPts val="600"/>
              </a:spcAft>
              <a:buNone/>
            </a:pPr>
            <a:r>
              <a:rPr sz="1300" b="0" i="0">
                <a:solidFill>
                  <a:srgbClr val="000000"/>
                </a:solidFill>
                <a:latin typeface="Calibri"/>
              </a:rPr>
              <a:t>Home (vitals + detail charts) · AI Assist (chat) · Fall Risk (score + "how it is calculated")</a:t>
            </a:r>
          </a:p>
        </p:txBody>
      </p:sp>
      <p:sp>
        <p:nvSpPr>
          <p:cNvPr id="18" name="Slide number"/>
          <p:cNvSpPr txBox="1"/>
          <p:nvPr/>
        </p:nvSpPr>
        <p:spPr>
          <a:xfrm>
            <a:off x="11457432" y="6446520"/>
            <a:ext cx="457200" cy="274320"/>
          </a:xfrm>
          <a:prstGeom prst="rect">
            <a:avLst/>
          </a:prstGeom>
          <a:noFill/>
        </p:spPr>
        <p:txBody>
          <a:bodyPr wrap="square" lIns="0" rIns="0" tIns="0" bIns="0" anchor="ctr">
            <a:spAutoFit/>
          </a:bodyPr>
          <a:lstStyle/>
          <a:p>
            <a:pPr marL="0" indent="0" algn="r">
              <a:spcAft>
                <a:spcPts val="0"/>
              </a:spcAft>
              <a:buNone/>
            </a:pPr>
            <a:r>
              <a:rPr sz="1000" b="0" i="0">
                <a:solidFill>
                  <a:srgbClr val="808080"/>
                </a:solidFill>
                <a:latin typeface="Calibri"/>
              </a:rPr>
              <a:t>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9601200" cy="685800"/>
          </a:xfrm>
          <a:prstGeom prst="rect">
            <a:avLst/>
          </a:prstGeom>
          <a:noFill/>
        </p:spPr>
        <p:txBody>
          <a:bodyPr wrap="square" lIns="0" rIns="0" tIns="0" bIns="0" anchor="ctr">
            <a:spAutoFit/>
          </a:bodyPr>
          <a:lstStyle/>
          <a:p>
            <a:pPr marL="0" indent="0">
              <a:spcAft>
                <a:spcPts val="0"/>
              </a:spcAft>
              <a:buNone/>
            </a:pPr>
            <a:r>
              <a:rPr sz="2800" b="1" i="0">
                <a:solidFill>
                  <a:srgbClr val="1D2F82"/>
                </a:solidFill>
                <a:latin typeface="Calibri"/>
              </a:rPr>
              <a:t>Implementation — Module 2: Fall-Risk Engine</a:t>
            </a:r>
          </a:p>
        </p:txBody>
      </p:sp>
      <p:pic>
        <p:nvPicPr>
          <p:cNvPr id="3" name="Logo" descr="image.png"/>
          <p:cNvPicPr>
            <a:picLocks noChangeAspect="1"/>
          </p:cNvPicPr>
          <p:nvPr/>
        </p:nvPicPr>
        <p:blipFill>
          <a:blip r:embed="rId2"/>
          <a:stretch>
            <a:fillRect/>
          </a:stretch>
        </p:blipFill>
        <p:spPr>
          <a:xfrm>
            <a:off x="10360152" y="320040"/>
            <a:ext cx="1371600" cy="521207"/>
          </a:xfrm>
          <a:prstGeom prst="rect">
            <a:avLst/>
          </a:prstGeom>
        </p:spPr>
      </p:pic>
      <p:sp>
        <p:nvSpPr>
          <p:cNvPr id="4" name="Rounded Rectangle 3"/>
          <p:cNvSpPr/>
          <p:nvPr/>
        </p:nvSpPr>
        <p:spPr>
          <a:xfrm>
            <a:off x="640080" y="1280160"/>
            <a:ext cx="2468880" cy="196596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22959" y="1417320"/>
            <a:ext cx="384048" cy="384048"/>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1</a:t>
            </a:r>
          </a:p>
        </p:txBody>
      </p:sp>
      <p:sp>
        <p:nvSpPr>
          <p:cNvPr id="6" name="TextBox 5"/>
          <p:cNvSpPr txBox="1"/>
          <p:nvPr/>
        </p:nvSpPr>
        <p:spPr>
          <a:xfrm>
            <a:off x="1325880" y="1417320"/>
            <a:ext cx="1691640" cy="411480"/>
          </a:xfrm>
          <a:prstGeom prst="rect">
            <a:avLst/>
          </a:prstGeom>
          <a:noFill/>
        </p:spPr>
        <p:txBody>
          <a:bodyPr wrap="square" lIns="0" rIns="0" tIns="0" bIns="0" anchor="ctr">
            <a:spAutoFit/>
          </a:bodyPr>
          <a:lstStyle/>
          <a:p>
            <a:pPr marL="0" indent="0">
              <a:spcAft>
                <a:spcPts val="0"/>
              </a:spcAft>
              <a:buNone/>
            </a:pPr>
            <a:r>
              <a:rPr sz="1500" b="1" i="0">
                <a:solidFill>
                  <a:srgbClr val="1D2F82"/>
                </a:solidFill>
                <a:latin typeface="Calibri"/>
              </a:rPr>
              <a:t>Personal baseline</a:t>
            </a:r>
          </a:p>
        </p:txBody>
      </p:sp>
      <p:sp>
        <p:nvSpPr>
          <p:cNvPr id="7" name="TextBox 6"/>
          <p:cNvSpPr txBox="1"/>
          <p:nvPr/>
        </p:nvSpPr>
        <p:spPr>
          <a:xfrm>
            <a:off x="822959" y="1920240"/>
            <a:ext cx="2148840" cy="1280160"/>
          </a:xfrm>
          <a:prstGeom prst="rect">
            <a:avLst/>
          </a:prstGeom>
          <a:noFill/>
        </p:spPr>
        <p:txBody>
          <a:bodyPr wrap="square" lIns="0" rIns="0" tIns="0" bIns="0" anchor="t">
            <a:spAutoFit/>
          </a:bodyPr>
          <a:lstStyle/>
          <a:p>
            <a:pPr marL="0" indent="0">
              <a:spcAft>
                <a:spcPts val="0"/>
              </a:spcAft>
              <a:buNone/>
            </a:pPr>
            <a:r>
              <a:rPr sz="1300" b="0" i="0">
                <a:solidFill>
                  <a:srgbClr val="000000"/>
                </a:solidFill>
                <a:latin typeface="Calibri"/>
              </a:rPr>
              <a:t>Last 28 days (≥ 7 points):</a:t>
            </a:r>
          </a:p>
          <a:p>
            <a:pPr marL="0" indent="0">
              <a:spcAft>
                <a:spcPts val="0"/>
              </a:spcAft>
              <a:buNone/>
            </a:pPr>
            <a:r>
              <a:rPr sz="1300" b="0" i="0">
                <a:solidFill>
                  <a:srgbClr val="000000"/>
                </a:solidFill>
                <a:latin typeface="Calibri"/>
              </a:rPr>
              <a:t>normal = median</a:t>
            </a:r>
          </a:p>
          <a:p>
            <a:pPr marL="0" indent="0">
              <a:spcAft>
                <a:spcPts val="0"/>
              </a:spcAft>
              <a:buNone/>
            </a:pPr>
            <a:r>
              <a:rPr sz="1300" b="0" i="0">
                <a:solidFill>
                  <a:srgbClr val="000000"/>
                </a:solidFill>
                <a:latin typeface="Calibri"/>
              </a:rPr>
              <a:t>spread = 1.4826 × MAD</a:t>
            </a:r>
          </a:p>
        </p:txBody>
      </p:sp>
      <p:sp>
        <p:nvSpPr>
          <p:cNvPr id="8" name="Right Arrow 7"/>
          <p:cNvSpPr/>
          <p:nvPr/>
        </p:nvSpPr>
        <p:spPr>
          <a:xfrm>
            <a:off x="3127248" y="2121408"/>
            <a:ext cx="274320" cy="274320"/>
          </a:xfrm>
          <a:prstGeom prst="rightArrow">
            <a:avLst/>
          </a:prstGeom>
          <a:solidFill>
            <a:srgbClr val="D3D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29000" y="1280160"/>
            <a:ext cx="2468880" cy="196596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611880" y="1417320"/>
            <a:ext cx="384048" cy="384048"/>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2</a:t>
            </a:r>
          </a:p>
        </p:txBody>
      </p:sp>
      <p:sp>
        <p:nvSpPr>
          <p:cNvPr id="11" name="TextBox 10"/>
          <p:cNvSpPr txBox="1"/>
          <p:nvPr/>
        </p:nvSpPr>
        <p:spPr>
          <a:xfrm>
            <a:off x="4114800" y="1417320"/>
            <a:ext cx="1691640" cy="411480"/>
          </a:xfrm>
          <a:prstGeom prst="rect">
            <a:avLst/>
          </a:prstGeom>
          <a:noFill/>
        </p:spPr>
        <p:txBody>
          <a:bodyPr wrap="square" lIns="0" rIns="0" tIns="0" bIns="0" anchor="ctr">
            <a:spAutoFit/>
          </a:bodyPr>
          <a:lstStyle/>
          <a:p>
            <a:pPr marL="0" indent="0">
              <a:spcAft>
                <a:spcPts val="0"/>
              </a:spcAft>
              <a:buNone/>
            </a:pPr>
            <a:r>
              <a:rPr sz="1500" b="1" i="0">
                <a:solidFill>
                  <a:srgbClr val="1D2F82"/>
                </a:solidFill>
                <a:latin typeface="Calibri"/>
              </a:rPr>
              <a:t>Deviation z</a:t>
            </a:r>
          </a:p>
        </p:txBody>
      </p:sp>
      <p:sp>
        <p:nvSpPr>
          <p:cNvPr id="12" name="TextBox 11"/>
          <p:cNvSpPr txBox="1"/>
          <p:nvPr/>
        </p:nvSpPr>
        <p:spPr>
          <a:xfrm>
            <a:off x="3611880" y="1920240"/>
            <a:ext cx="2148840" cy="1280160"/>
          </a:xfrm>
          <a:prstGeom prst="rect">
            <a:avLst/>
          </a:prstGeom>
          <a:noFill/>
        </p:spPr>
        <p:txBody>
          <a:bodyPr wrap="square" lIns="0" rIns="0" tIns="0" bIns="0" anchor="t">
            <a:spAutoFit/>
          </a:bodyPr>
          <a:lstStyle/>
          <a:p>
            <a:pPr marL="0" indent="0">
              <a:spcAft>
                <a:spcPts val="0"/>
              </a:spcAft>
              <a:buNone/>
            </a:pPr>
            <a:r>
              <a:rPr sz="1300" b="0" i="0">
                <a:solidFill>
                  <a:srgbClr val="000000"/>
                </a:solidFill>
                <a:latin typeface="Calibri"/>
              </a:rPr>
              <a:t>z = (today − median) ÷ spread,</a:t>
            </a:r>
          </a:p>
          <a:p>
            <a:pPr marL="0" indent="0">
              <a:spcAft>
                <a:spcPts val="0"/>
              </a:spcAft>
              <a:buNone/>
            </a:pPr>
            <a:r>
              <a:rPr sz="1300" b="0" i="0">
                <a:solidFill>
                  <a:srgbClr val="000000"/>
                </a:solidFill>
                <a:latin typeface="Calibri"/>
              </a:rPr>
              <a:t>sign flipped where low is bad</a:t>
            </a:r>
          </a:p>
          <a:p>
            <a:pPr marL="0" indent="0">
              <a:spcAft>
                <a:spcPts val="0"/>
              </a:spcAft>
              <a:buNone/>
            </a:pPr>
            <a:r>
              <a:rPr sz="1300" b="0" i="0">
                <a:solidFill>
                  <a:srgbClr val="000000"/>
                </a:solidFill>
                <a:latin typeface="Calibri"/>
              </a:rPr>
              <a:t>(HRV, SpO₂, sleep)</a:t>
            </a:r>
          </a:p>
        </p:txBody>
      </p:sp>
      <p:sp>
        <p:nvSpPr>
          <p:cNvPr id="13" name="Right Arrow 12"/>
          <p:cNvSpPr/>
          <p:nvPr/>
        </p:nvSpPr>
        <p:spPr>
          <a:xfrm>
            <a:off x="5916168" y="2121408"/>
            <a:ext cx="274320" cy="274320"/>
          </a:xfrm>
          <a:prstGeom prst="rightArrow">
            <a:avLst/>
          </a:prstGeom>
          <a:solidFill>
            <a:srgbClr val="D3D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17920" y="1280160"/>
            <a:ext cx="2468880" cy="196596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400800" y="1417320"/>
            <a:ext cx="384048" cy="384048"/>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3</a:t>
            </a:r>
          </a:p>
        </p:txBody>
      </p:sp>
      <p:sp>
        <p:nvSpPr>
          <p:cNvPr id="16" name="TextBox 15"/>
          <p:cNvSpPr txBox="1"/>
          <p:nvPr/>
        </p:nvSpPr>
        <p:spPr>
          <a:xfrm>
            <a:off x="6903720" y="1417320"/>
            <a:ext cx="1691640" cy="411480"/>
          </a:xfrm>
          <a:prstGeom prst="rect">
            <a:avLst/>
          </a:prstGeom>
          <a:noFill/>
        </p:spPr>
        <p:txBody>
          <a:bodyPr wrap="square" lIns="0" rIns="0" tIns="0" bIns="0" anchor="ctr">
            <a:spAutoFit/>
          </a:bodyPr>
          <a:lstStyle/>
          <a:p>
            <a:pPr marL="0" indent="0">
              <a:spcAft>
                <a:spcPts val="0"/>
              </a:spcAft>
              <a:buNone/>
            </a:pPr>
            <a:r>
              <a:rPr sz="1500" b="1" i="0">
                <a:solidFill>
                  <a:srgbClr val="1D2F82"/>
                </a:solidFill>
                <a:latin typeface="Calibri"/>
              </a:rPr>
              <a:t>Strain 0–100</a:t>
            </a:r>
          </a:p>
        </p:txBody>
      </p:sp>
      <p:sp>
        <p:nvSpPr>
          <p:cNvPr id="17" name="TextBox 16"/>
          <p:cNvSpPr txBox="1"/>
          <p:nvPr/>
        </p:nvSpPr>
        <p:spPr>
          <a:xfrm>
            <a:off x="6400800" y="1920240"/>
            <a:ext cx="2148840" cy="1280160"/>
          </a:xfrm>
          <a:prstGeom prst="rect">
            <a:avLst/>
          </a:prstGeom>
          <a:noFill/>
        </p:spPr>
        <p:txBody>
          <a:bodyPr wrap="square" lIns="0" rIns="0" tIns="0" bIns="0" anchor="t">
            <a:spAutoFit/>
          </a:bodyPr>
          <a:lstStyle/>
          <a:p>
            <a:pPr marL="0" indent="0">
              <a:spcAft>
                <a:spcPts val="0"/>
              </a:spcAft>
              <a:buNone/>
            </a:pPr>
            <a:r>
              <a:rPr sz="1300" b="0" i="0">
                <a:solidFill>
                  <a:srgbClr val="000000"/>
                </a:solidFill>
                <a:latin typeface="Calibri"/>
              </a:rPr>
              <a:t>100 × clip((z − 0.5) ÷ 2.5)</a:t>
            </a:r>
          </a:p>
          <a:p>
            <a:pPr marL="0" indent="0">
              <a:spcAft>
                <a:spcPts val="0"/>
              </a:spcAft>
              <a:buNone/>
            </a:pPr>
            <a:r>
              <a:rPr sz="1300" b="0" i="0">
                <a:solidFill>
                  <a:srgbClr val="000000"/>
                </a:solidFill>
                <a:latin typeface="Calibri"/>
              </a:rPr>
              <a:t>z ≤ 0.5 → 0 (dead zone)</a:t>
            </a:r>
          </a:p>
          <a:p>
            <a:pPr marL="0" indent="0">
              <a:spcAft>
                <a:spcPts val="0"/>
              </a:spcAft>
              <a:buNone/>
            </a:pPr>
            <a:r>
              <a:rPr sz="1300" b="0" i="0">
                <a:solidFill>
                  <a:srgbClr val="000000"/>
                </a:solidFill>
                <a:latin typeface="Calibri"/>
              </a:rPr>
              <a:t>z ≥ 3 → 100</a:t>
            </a:r>
          </a:p>
        </p:txBody>
      </p:sp>
      <p:sp>
        <p:nvSpPr>
          <p:cNvPr id="18" name="Right Arrow 17"/>
          <p:cNvSpPr/>
          <p:nvPr/>
        </p:nvSpPr>
        <p:spPr>
          <a:xfrm>
            <a:off x="8705088" y="2121408"/>
            <a:ext cx="274320" cy="274320"/>
          </a:xfrm>
          <a:prstGeom prst="rightArrow">
            <a:avLst/>
          </a:prstGeom>
          <a:solidFill>
            <a:srgbClr val="D3D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006839" y="1280160"/>
            <a:ext cx="2468880" cy="196596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9189719" y="1417320"/>
            <a:ext cx="384048" cy="384048"/>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4</a:t>
            </a:r>
          </a:p>
        </p:txBody>
      </p:sp>
      <p:sp>
        <p:nvSpPr>
          <p:cNvPr id="21" name="TextBox 20"/>
          <p:cNvSpPr txBox="1"/>
          <p:nvPr/>
        </p:nvSpPr>
        <p:spPr>
          <a:xfrm>
            <a:off x="9692639" y="1417320"/>
            <a:ext cx="1691640" cy="411480"/>
          </a:xfrm>
          <a:prstGeom prst="rect">
            <a:avLst/>
          </a:prstGeom>
          <a:noFill/>
        </p:spPr>
        <p:txBody>
          <a:bodyPr wrap="square" lIns="0" rIns="0" tIns="0" bIns="0" anchor="ctr">
            <a:spAutoFit/>
          </a:bodyPr>
          <a:lstStyle/>
          <a:p>
            <a:pPr marL="0" indent="0">
              <a:spcAft>
                <a:spcPts val="0"/>
              </a:spcAft>
              <a:buNone/>
            </a:pPr>
            <a:r>
              <a:rPr sz="1500" b="1" i="0">
                <a:solidFill>
                  <a:srgbClr val="1D2F82"/>
                </a:solidFill>
                <a:latin typeface="Calibri"/>
              </a:rPr>
              <a:t>Four layers</a:t>
            </a:r>
          </a:p>
        </p:txBody>
      </p:sp>
      <p:sp>
        <p:nvSpPr>
          <p:cNvPr id="22" name="TextBox 21"/>
          <p:cNvSpPr txBox="1"/>
          <p:nvPr/>
        </p:nvSpPr>
        <p:spPr>
          <a:xfrm>
            <a:off x="9189719" y="1920240"/>
            <a:ext cx="2148840" cy="1280160"/>
          </a:xfrm>
          <a:prstGeom prst="rect">
            <a:avLst/>
          </a:prstGeom>
          <a:noFill/>
        </p:spPr>
        <p:txBody>
          <a:bodyPr wrap="square" lIns="0" rIns="0" tIns="0" bIns="0" anchor="t">
            <a:spAutoFit/>
          </a:bodyPr>
          <a:lstStyle/>
          <a:p>
            <a:pPr marL="0" indent="0">
              <a:spcAft>
                <a:spcPts val="0"/>
              </a:spcAft>
              <a:buNone/>
            </a:pPr>
            <a:r>
              <a:rPr sz="1300" b="0" i="0">
                <a:solidFill>
                  <a:srgbClr val="000000"/>
                </a:solidFill>
                <a:latin typeface="Calibri"/>
              </a:rPr>
              <a:t>Physiology, Recovery,</a:t>
            </a:r>
          </a:p>
          <a:p>
            <a:pPr marL="0" indent="0">
              <a:spcAft>
                <a:spcPts val="0"/>
              </a:spcAft>
              <a:buNone/>
            </a:pPr>
            <a:r>
              <a:rPr sz="1300" b="0" i="0">
                <a:solidFill>
                  <a:srgbClr val="000000"/>
                </a:solidFill>
                <a:latin typeface="Calibri"/>
              </a:rPr>
              <a:t>Motion, Fall history —</a:t>
            </a:r>
          </a:p>
          <a:p>
            <a:pPr marL="0" indent="0">
              <a:spcAft>
                <a:spcPts val="0"/>
              </a:spcAft>
              <a:buNone/>
            </a:pPr>
            <a:r>
              <a:rPr sz="1300" b="0" i="0">
                <a:solidFill>
                  <a:srgbClr val="000000"/>
                </a:solidFill>
                <a:latin typeface="Calibri"/>
              </a:rPr>
              <a:t>weighted average of strains</a:t>
            </a:r>
          </a:p>
        </p:txBody>
      </p:sp>
      <p:pic>
        <p:nvPicPr>
          <p:cNvPr id="23" name="Strain function" descr="strain_function.png"/>
          <p:cNvPicPr>
            <a:picLocks noChangeAspect="1"/>
          </p:cNvPicPr>
          <p:nvPr/>
        </p:nvPicPr>
        <p:blipFill>
          <a:blip r:embed="rId4"/>
          <a:stretch>
            <a:fillRect/>
          </a:stretch>
        </p:blipFill>
        <p:spPr>
          <a:xfrm>
            <a:off x="661595" y="3429000"/>
            <a:ext cx="5077609" cy="2697480"/>
          </a:xfrm>
          <a:prstGeom prst="rect">
            <a:avLst/>
          </a:prstGeom>
        </p:spPr>
      </p:pic>
      <p:graphicFrame>
        <p:nvGraphicFramePr>
          <p:cNvPr id="24" name="Table 23"/>
          <p:cNvGraphicFramePr>
            <a:graphicFrameLocks noGrp="1"/>
          </p:cNvGraphicFramePr>
          <p:nvPr/>
        </p:nvGraphicFramePr>
        <p:xfrm>
          <a:off x="6035040" y="3474720"/>
          <a:ext cx="5486400" cy="1920240"/>
        </p:xfrm>
        <a:graphic>
          <a:graphicData uri="http://schemas.openxmlformats.org/drawingml/2006/table">
            <a:tbl>
              <a:tblPr firstRow="0" bandRow="0">
                <a:tableStyleId>{5940675A-B579-460E-94D1-54222C63F5DA}</a:tableStyleId>
              </a:tblPr>
              <a:tblGrid>
                <a:gridCol w="1600200"/>
                <a:gridCol w="3886200"/>
              </a:tblGrid>
              <a:tr h="384048">
                <a:tc>
                  <a:txBody>
                    <a:bodyPr wrap="square"/>
                    <a:lstStyle/>
                    <a:p>
                      <a:pPr algn="ctr"/>
                      <a:r>
                        <a:rPr sz="1300" b="1" i="0">
                          <a:solidFill>
                            <a:srgbClr val="FFFFFF"/>
                          </a:solidFill>
                          <a:latin typeface="Calibri"/>
                        </a:rPr>
                        <a:t>Layer</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c>
                  <a:txBody>
                    <a:bodyPr wrap="square"/>
                    <a:lstStyle/>
                    <a:p>
                      <a:pPr algn="ctr"/>
                      <a:r>
                        <a:rPr sz="1300" b="1" i="0">
                          <a:solidFill>
                            <a:srgbClr val="FFFFFF"/>
                          </a:solidFill>
                          <a:latin typeface="Calibri"/>
                        </a:rPr>
                        <a:t>Inputs (weight inside the layer)</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r>
              <a:tr h="384048">
                <a:tc>
                  <a:txBody>
                    <a:bodyPr wrap="square"/>
                    <a:lstStyle/>
                    <a:p>
                      <a:pPr algn="l"/>
                      <a:r>
                        <a:rPr sz="1300" b="1" i="0">
                          <a:solidFill>
                            <a:srgbClr val="000000"/>
                          </a:solidFill>
                          <a:latin typeface="Calibri"/>
                        </a:rPr>
                        <a:t>Physiology (P)</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HRV 0.35, resting HR 0.25, SpO₂ 0.25, temp 0.15</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r>
              <a:tr h="384048">
                <a:tc>
                  <a:txBody>
                    <a:bodyPr wrap="square"/>
                    <a:lstStyle/>
                    <a:p>
                      <a:pPr algn="l"/>
                      <a:r>
                        <a:rPr sz="1300" b="1" i="0">
                          <a:solidFill>
                            <a:srgbClr val="000000"/>
                          </a:solidFill>
                          <a:latin typeface="Calibri"/>
                        </a:rPr>
                        <a:t>Recovery (RC)</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300" b="0" i="0">
                          <a:solidFill>
                            <a:srgbClr val="000000"/>
                          </a:solidFill>
                          <a:latin typeface="Calibri"/>
                        </a:rPr>
                        <a:t>Sleep 0.40, sleep score 0.30, stress 0.30</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r>
              <a:tr h="384048">
                <a:tc>
                  <a:txBody>
                    <a:bodyPr wrap="square"/>
                    <a:lstStyle/>
                    <a:p>
                      <a:pPr algn="l"/>
                      <a:r>
                        <a:rPr sz="1300" b="1" i="0">
                          <a:solidFill>
                            <a:srgbClr val="000000"/>
                          </a:solidFill>
                          <a:latin typeface="Calibri"/>
                        </a:rPr>
                        <a:t>Motion (MO)</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Daily steps 0.5, near-falls 0.5</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r>
              <a:tr h="384048">
                <a:tc>
                  <a:txBody>
                    <a:bodyPr wrap="square"/>
                    <a:lstStyle/>
                    <a:p>
                      <a:pPr algn="l"/>
                      <a:r>
                        <a:rPr sz="1300" b="1" i="0">
                          <a:solidFill>
                            <a:srgbClr val="000000"/>
                          </a:solidFill>
                          <a:latin typeface="Calibri"/>
                        </a:rPr>
                        <a:t>Fall history (FH)</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300" b="0" i="0">
                          <a:solidFill>
                            <a:srgbClr val="000000"/>
                          </a:solidFill>
                          <a:latin typeface="Calibri"/>
                        </a:rPr>
                        <a:t>0 / 60 / 100 for 0 / 1 / ≥ 2 falls in a year</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r>
            </a:tbl>
          </a:graphicData>
        </a:graphic>
      </p:graphicFrame>
      <p:sp>
        <p:nvSpPr>
          <p:cNvPr id="25" name="TextBox 24"/>
          <p:cNvSpPr txBox="1"/>
          <p:nvPr/>
        </p:nvSpPr>
        <p:spPr>
          <a:xfrm>
            <a:off x="6035040" y="5486400"/>
            <a:ext cx="5486400" cy="640080"/>
          </a:xfrm>
          <a:prstGeom prst="rect">
            <a:avLst/>
          </a:prstGeom>
          <a:noFill/>
        </p:spPr>
        <p:txBody>
          <a:bodyPr wrap="square" lIns="0" rIns="0" tIns="0" bIns="0" anchor="t">
            <a:spAutoFit/>
          </a:bodyPr>
          <a:lstStyle/>
          <a:p>
            <a:pPr marL="0" indent="0">
              <a:spcAft>
                <a:spcPts val="0"/>
              </a:spcAft>
              <a:buNone/>
            </a:pPr>
            <a:r>
              <a:rPr sz="1400" b="1" i="1">
                <a:solidFill>
                  <a:srgbClr val="1D2F82"/>
                </a:solidFill>
                <a:latin typeface="Calibri"/>
              </a:rPr>
              <a:t>Example:</a:t>
            </a:r>
            <a:r>
              <a:rPr sz="1400" b="0" i="1">
                <a:solidFill>
                  <a:srgbClr val="1D2F82"/>
                </a:solidFill>
                <a:latin typeface="Calibri"/>
              </a:rPr>
              <a:t> HRV median 45 ms, spread 7.4, today 30 → z = 2.0 → strain 60</a:t>
            </a:r>
          </a:p>
        </p:txBody>
      </p:sp>
      <p:sp>
        <p:nvSpPr>
          <p:cNvPr id="26" name="Slide number"/>
          <p:cNvSpPr txBox="1"/>
          <p:nvPr/>
        </p:nvSpPr>
        <p:spPr>
          <a:xfrm>
            <a:off x="11457432" y="6446520"/>
            <a:ext cx="457200" cy="274320"/>
          </a:xfrm>
          <a:prstGeom prst="rect">
            <a:avLst/>
          </a:prstGeom>
          <a:noFill/>
        </p:spPr>
        <p:txBody>
          <a:bodyPr wrap="square" lIns="0" rIns="0" tIns="0" bIns="0" anchor="ctr">
            <a:spAutoFit/>
          </a:bodyPr>
          <a:lstStyle/>
          <a:p>
            <a:pPr marL="0" indent="0" algn="r">
              <a:spcAft>
                <a:spcPts val="0"/>
              </a:spcAft>
              <a:buNone/>
            </a:pPr>
            <a:r>
              <a:rPr sz="1000" b="0" i="0">
                <a:solidFill>
                  <a:srgbClr val="808080"/>
                </a:solidFill>
                <a:latin typeface="Calibri"/>
              </a:rPr>
              <a:t>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9601200" cy="685800"/>
          </a:xfrm>
          <a:prstGeom prst="rect">
            <a:avLst/>
          </a:prstGeom>
          <a:noFill/>
        </p:spPr>
        <p:txBody>
          <a:bodyPr wrap="square" lIns="0" rIns="0" tIns="0" bIns="0" anchor="ctr">
            <a:spAutoFit/>
          </a:bodyPr>
          <a:lstStyle/>
          <a:p>
            <a:pPr marL="0" indent="0">
              <a:spcAft>
                <a:spcPts val="0"/>
              </a:spcAft>
              <a:buNone/>
            </a:pPr>
            <a:r>
              <a:rPr sz="2800" b="1" i="0">
                <a:solidFill>
                  <a:srgbClr val="1D2F82"/>
                </a:solidFill>
                <a:latin typeface="Calibri"/>
              </a:rPr>
              <a:t>Implementation — Evidence-Derived Weights &amp; Explainability</a:t>
            </a:r>
          </a:p>
        </p:txBody>
      </p:sp>
      <p:pic>
        <p:nvPicPr>
          <p:cNvPr id="3" name="Logo" descr="image.png"/>
          <p:cNvPicPr>
            <a:picLocks noChangeAspect="1"/>
          </p:cNvPicPr>
          <p:nvPr/>
        </p:nvPicPr>
        <p:blipFill>
          <a:blip r:embed="rId2"/>
          <a:stretch>
            <a:fillRect/>
          </a:stretch>
        </p:blipFill>
        <p:spPr>
          <a:xfrm>
            <a:off x="10360152" y="320040"/>
            <a:ext cx="1371600" cy="521207"/>
          </a:xfrm>
          <a:prstGeom prst="rect">
            <a:avLst/>
          </a:prstGeom>
        </p:spPr>
      </p:pic>
      <p:graphicFrame>
        <p:nvGraphicFramePr>
          <p:cNvPr id="4" name="Table 3"/>
          <p:cNvGraphicFramePr>
            <a:graphicFrameLocks noGrp="1"/>
          </p:cNvGraphicFramePr>
          <p:nvPr/>
        </p:nvGraphicFramePr>
        <p:xfrm>
          <a:off x="640080" y="1280160"/>
          <a:ext cx="6035040" cy="1920240"/>
        </p:xfrm>
        <a:graphic>
          <a:graphicData uri="http://schemas.openxmlformats.org/drawingml/2006/table">
            <a:tbl>
              <a:tblPr firstRow="0" bandRow="0">
                <a:tableStyleId>{5940675A-B579-460E-94D1-54222C63F5DA}</a:tableStyleId>
              </a:tblPr>
              <a:tblGrid>
                <a:gridCol w="1600200"/>
                <a:gridCol w="1097280"/>
                <a:gridCol w="2514600"/>
                <a:gridCol w="822960"/>
              </a:tblGrid>
              <a:tr h="384048">
                <a:tc>
                  <a:txBody>
                    <a:bodyPr wrap="square"/>
                    <a:lstStyle/>
                    <a:p>
                      <a:pPr algn="ctr"/>
                      <a:r>
                        <a:rPr sz="1400" b="1" i="0">
                          <a:solidFill>
                            <a:srgbClr val="FFFFFF"/>
                          </a:solidFill>
                          <a:latin typeface="Calibri"/>
                        </a:rPr>
                        <a:t>Layer</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c>
                  <a:txBody>
                    <a:bodyPr wrap="square"/>
                    <a:lstStyle/>
                    <a:p>
                      <a:pPr algn="ctr"/>
                      <a:r>
                        <a:rPr sz="1400" b="1" i="0">
                          <a:solidFill>
                            <a:srgbClr val="FFFFFF"/>
                          </a:solidFill>
                          <a:latin typeface="Calibri"/>
                        </a:rPr>
                        <a:t>Odds ratio</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c>
                  <a:txBody>
                    <a:bodyPr wrap="square"/>
                    <a:lstStyle/>
                    <a:p>
                      <a:pPr algn="ctr"/>
                      <a:r>
                        <a:rPr sz="1400" b="1" i="0">
                          <a:solidFill>
                            <a:srgbClr val="FFFFFF"/>
                          </a:solidFill>
                          <a:latin typeface="Calibri"/>
                        </a:rPr>
                        <a:t>Source</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c>
                  <a:txBody>
                    <a:bodyPr wrap="square"/>
                    <a:lstStyle/>
                    <a:p>
                      <a:pPr algn="ctr"/>
                      <a:r>
                        <a:rPr sz="1400" b="1" i="0">
                          <a:solidFill>
                            <a:srgbClr val="FFFFFF"/>
                          </a:solidFill>
                          <a:latin typeface="Calibri"/>
                        </a:rPr>
                        <a:t>λ</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r>
              <a:tr h="384048">
                <a:tc>
                  <a:txBody>
                    <a:bodyPr wrap="square"/>
                    <a:lstStyle/>
                    <a:p>
                      <a:pPr algn="l"/>
                      <a:r>
                        <a:rPr sz="1400" b="1" i="0">
                          <a:solidFill>
                            <a:srgbClr val="000000"/>
                          </a:solidFill>
                          <a:latin typeface="Calibri"/>
                        </a:rPr>
                        <a:t>Fall history</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ctr"/>
                      <a:r>
                        <a:rPr sz="1400" b="0" i="0">
                          <a:solidFill>
                            <a:srgbClr val="000000"/>
                          </a:solidFill>
                          <a:latin typeface="Calibri"/>
                        </a:rPr>
                        <a:t>2.8</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400" b="0" i="0">
                          <a:solidFill>
                            <a:srgbClr val="000000"/>
                          </a:solidFill>
                          <a:latin typeface="Calibri"/>
                        </a:rPr>
                        <a:t>Deandrea 2010 (74 studies)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ctr"/>
                      <a:r>
                        <a:rPr sz="1400" b="0" i="0">
                          <a:solidFill>
                            <a:srgbClr val="000000"/>
                          </a:solidFill>
                          <a:latin typeface="Calibri"/>
                        </a:rPr>
                        <a:t>0.402</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r>
              <a:tr h="384048">
                <a:tc>
                  <a:txBody>
                    <a:bodyPr wrap="square"/>
                    <a:lstStyle/>
                    <a:p>
                      <a:pPr algn="l"/>
                      <a:r>
                        <a:rPr sz="1400" b="1" i="0">
                          <a:solidFill>
                            <a:srgbClr val="000000"/>
                          </a:solidFill>
                          <a:latin typeface="Calibri"/>
                        </a:rPr>
                        <a:t>Motion / gait</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ctr"/>
                      <a:r>
                        <a:rPr sz="1400" b="0" i="0">
                          <a:solidFill>
                            <a:srgbClr val="000000"/>
                          </a:solidFill>
                          <a:latin typeface="Calibri"/>
                        </a:rPr>
                        <a:t>2.1</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400" b="0" i="0">
                          <a:solidFill>
                            <a:srgbClr val="000000"/>
                          </a:solidFill>
                          <a:latin typeface="Calibri"/>
                        </a:rPr>
                        <a:t>Deandrea 2010</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ctr"/>
                      <a:r>
                        <a:rPr sz="1400" b="0" i="0">
                          <a:solidFill>
                            <a:srgbClr val="000000"/>
                          </a:solidFill>
                          <a:latin typeface="Calibri"/>
                        </a:rPr>
                        <a:t>0.290</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r>
              <a:tr h="384048">
                <a:tc>
                  <a:txBody>
                    <a:bodyPr wrap="square"/>
                    <a:lstStyle/>
                    <a:p>
                      <a:pPr algn="l"/>
                      <a:r>
                        <a:rPr sz="1400" b="1" i="0">
                          <a:solidFill>
                            <a:srgbClr val="000000"/>
                          </a:solidFill>
                          <a:latin typeface="Calibri"/>
                        </a:rPr>
                        <a:t>Physiology</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ctr"/>
                      <a:r>
                        <a:rPr sz="1400" b="0" i="0">
                          <a:solidFill>
                            <a:srgbClr val="000000"/>
                          </a:solidFill>
                          <a:latin typeface="Calibri"/>
                        </a:rPr>
                        <a:t>1.73</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400" b="0" i="0">
                          <a:solidFill>
                            <a:srgbClr val="000000"/>
                          </a:solidFill>
                          <a:latin typeface="Calibri"/>
                        </a:rPr>
                        <a:t>Mol 2019</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ctr"/>
                      <a:r>
                        <a:rPr sz="1400" b="0" i="0">
                          <a:solidFill>
                            <a:srgbClr val="000000"/>
                          </a:solidFill>
                          <a:latin typeface="Calibri"/>
                        </a:rPr>
                        <a:t>0.214</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r>
              <a:tr h="384048">
                <a:tc>
                  <a:txBody>
                    <a:bodyPr wrap="square"/>
                    <a:lstStyle/>
                    <a:p>
                      <a:pPr algn="l"/>
                      <a:r>
                        <a:rPr sz="1400" b="1" i="0">
                          <a:solidFill>
                            <a:srgbClr val="000000"/>
                          </a:solidFill>
                          <a:latin typeface="Calibri"/>
                        </a:rPr>
                        <a:t>Recovery / sleep</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ctr"/>
                      <a:r>
                        <a:rPr sz="1400" b="0" i="0">
                          <a:solidFill>
                            <a:srgbClr val="000000"/>
                          </a:solidFill>
                          <a:latin typeface="Calibri"/>
                        </a:rPr>
                        <a:t>1.27</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400" b="0" i="0">
                          <a:solidFill>
                            <a:srgbClr val="000000"/>
                          </a:solidFill>
                          <a:latin typeface="Calibri"/>
                        </a:rPr>
                        <a:t>Baker 2024 (SWAN)</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ctr"/>
                      <a:r>
                        <a:rPr sz="1400" b="0" i="0">
                          <a:solidFill>
                            <a:srgbClr val="000000"/>
                          </a:solidFill>
                          <a:latin typeface="Calibri"/>
                        </a:rPr>
                        <a:t>0.093</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r>
            </a:tbl>
          </a:graphicData>
        </a:graphic>
      </p:graphicFrame>
      <p:sp>
        <p:nvSpPr>
          <p:cNvPr id="5" name="Rounded Rectangle 4"/>
          <p:cNvSpPr/>
          <p:nvPr/>
        </p:nvSpPr>
        <p:spPr>
          <a:xfrm>
            <a:off x="640080" y="3337560"/>
            <a:ext cx="6035040" cy="114300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60" y="3401568"/>
            <a:ext cx="5669280" cy="1005840"/>
          </a:xfrm>
          <a:prstGeom prst="rect">
            <a:avLst/>
          </a:prstGeom>
          <a:noFill/>
        </p:spPr>
        <p:txBody>
          <a:bodyPr wrap="square" lIns="0" rIns="0" tIns="0" bIns="0" anchor="t">
            <a:spAutoFit/>
          </a:bodyPr>
          <a:lstStyle/>
          <a:p>
            <a:pPr marL="0" indent="0" algn="ctr">
              <a:spcAft>
                <a:spcPts val="400"/>
              </a:spcAft>
              <a:buNone/>
            </a:pPr>
            <a:r>
              <a:rPr sz="1800" b="1" i="0">
                <a:solidFill>
                  <a:srgbClr val="1D2F82"/>
                </a:solidFill>
                <a:latin typeface="Calibri"/>
              </a:rPr>
              <a:t>λ = ln(OR) ÷ Σ ln(OR)</a:t>
            </a:r>
          </a:p>
          <a:p>
            <a:pPr marL="0" indent="0" algn="ctr">
              <a:spcAft>
                <a:spcPts val="0"/>
              </a:spcAft>
              <a:buNone/>
            </a:pPr>
            <a:r>
              <a:rPr sz="1600" b="1" i="0">
                <a:solidFill>
                  <a:srgbClr val="000000"/>
                </a:solidFill>
                <a:latin typeface="Calibri"/>
              </a:rPr>
              <a:t>FRS = 0.402·FH + 0.290·MO + 0.214·P + 0.093·RC</a:t>
            </a:r>
          </a:p>
        </p:txBody>
      </p:sp>
      <p:sp>
        <p:nvSpPr>
          <p:cNvPr id="7" name="TextBox 6"/>
          <p:cNvSpPr txBox="1"/>
          <p:nvPr/>
        </p:nvSpPr>
        <p:spPr>
          <a:xfrm>
            <a:off x="640080" y="4617720"/>
            <a:ext cx="6035040" cy="1554480"/>
          </a:xfrm>
          <a:prstGeom prst="rect">
            <a:avLst/>
          </a:prstGeom>
          <a:noFill/>
        </p:spPr>
        <p:txBody>
          <a:bodyPr wrap="square" lIns="0" rIns="0" tIns="0" bIns="0" anchor="t">
            <a:spAutoFit/>
          </a:bodyPr>
          <a:lstStyle/>
          <a:p>
            <a:pPr marL="177800" indent="-177800">
              <a:spcAft>
                <a:spcPts val="400"/>
              </a:spcAft>
              <a:buSzPct val="100000"/>
              <a:buChar char="•"/>
            </a:pPr>
            <a:r>
              <a:rPr sz="1400" b="0" i="0">
                <a:solidFill>
                  <a:srgbClr val="000000"/>
                </a:solidFill>
                <a:latin typeface="Calibri"/>
              </a:rPr>
              <a:t>Why ln(OR)? In logistic regression each factor's coefficient is β = ln(OR) — so these are the published models' own coefficients, scaled to sum to 1.</a:t>
            </a:r>
          </a:p>
          <a:p>
            <a:pPr marL="177800" indent="-177800">
              <a:spcAft>
                <a:spcPts val="400"/>
              </a:spcAft>
              <a:buSzPct val="100000"/>
              <a:buChar char="•"/>
            </a:pPr>
            <a:r>
              <a:rPr sz="1400" b="0" i="0">
                <a:solidFill>
                  <a:srgbClr val="000000"/>
                </a:solidFill>
                <a:latin typeface="Calibri"/>
              </a:rPr>
              <a:t>Tiers: </a:t>
            </a:r>
            <a:r>
              <a:rPr sz="1400" b="1" i="0">
                <a:solidFill>
                  <a:srgbClr val="000000"/>
                </a:solidFill>
                <a:latin typeface="Calibri"/>
              </a:rPr>
              <a:t>LOW</a:t>
            </a:r>
            <a:r>
              <a:rPr sz="1400" b="0" i="0">
                <a:solidFill>
                  <a:srgbClr val="000000"/>
                </a:solidFill>
                <a:latin typeface="Calibri"/>
              </a:rPr>
              <a:t> &lt; 40 · </a:t>
            </a:r>
            <a:r>
              <a:rPr sz="1400" b="1" i="0">
                <a:solidFill>
                  <a:srgbClr val="000000"/>
                </a:solidFill>
                <a:latin typeface="Calibri"/>
              </a:rPr>
              <a:t>MODERATE</a:t>
            </a:r>
            <a:r>
              <a:rPr sz="1400" b="0" i="0">
                <a:solidFill>
                  <a:srgbClr val="000000"/>
                </a:solidFill>
                <a:latin typeface="Calibri"/>
              </a:rPr>
              <a:t> 40–69 · </a:t>
            </a:r>
            <a:r>
              <a:rPr sz="1400" b="1" i="0">
                <a:solidFill>
                  <a:srgbClr val="000000"/>
                </a:solidFill>
                <a:latin typeface="Calibri"/>
              </a:rPr>
              <a:t>HIGH</a:t>
            </a:r>
            <a:r>
              <a:rPr sz="1400" b="0" i="0">
                <a:solidFill>
                  <a:srgbClr val="000000"/>
                </a:solidFill>
                <a:latin typeface="Calibri"/>
              </a:rPr>
              <a:t> ≥ 70</a:t>
            </a:r>
          </a:p>
          <a:p>
            <a:pPr marL="177800" indent="-177800">
              <a:spcAft>
                <a:spcPts val="0"/>
              </a:spcAft>
              <a:buSzPct val="100000"/>
              <a:buChar char="•"/>
            </a:pPr>
            <a:r>
              <a:rPr sz="1400" b="0" i="0">
                <a:solidFill>
                  <a:srgbClr val="000000"/>
                </a:solidFill>
                <a:latin typeface="Calibri"/>
              </a:rPr>
              <a:t>Missing data: weights renormalised; confidence </a:t>
            </a:r>
            <a:r>
              <a:rPr sz="1400" b="1" i="0">
                <a:solidFill>
                  <a:srgbClr val="000000"/>
                </a:solidFill>
                <a:latin typeface="Calibri"/>
              </a:rPr>
              <a:t>Q</a:t>
            </a:r>
            <a:r>
              <a:rPr sz="1400" b="0" i="0">
                <a:solidFill>
                  <a:srgbClr val="000000"/>
                </a:solidFill>
                <a:latin typeface="Calibri"/>
              </a:rPr>
              <a:t> shows coverage</a:t>
            </a:r>
          </a:p>
        </p:txBody>
      </p:sp>
      <p:pic>
        <p:nvPicPr>
          <p:cNvPr id="8" name="Fall Risk screenshots" descr="app_fall_risk.jpg"/>
          <p:cNvPicPr>
            <a:picLocks noChangeAspect="1"/>
          </p:cNvPicPr>
          <p:nvPr/>
        </p:nvPicPr>
        <p:blipFill>
          <a:blip r:embed="rId4"/>
          <a:stretch>
            <a:fillRect/>
          </a:stretch>
        </p:blipFill>
        <p:spPr>
          <a:xfrm>
            <a:off x="7058025" y="1234440"/>
            <a:ext cx="4354830" cy="4572000"/>
          </a:xfrm>
          <a:prstGeom prst="rect">
            <a:avLst/>
          </a:prstGeom>
        </p:spPr>
      </p:pic>
      <p:sp>
        <p:nvSpPr>
          <p:cNvPr id="9" name="TextBox 8"/>
          <p:cNvSpPr txBox="1"/>
          <p:nvPr/>
        </p:nvSpPr>
        <p:spPr>
          <a:xfrm>
            <a:off x="6949440" y="5852160"/>
            <a:ext cx="4572000" cy="274320"/>
          </a:xfrm>
          <a:prstGeom prst="rect">
            <a:avLst/>
          </a:prstGeom>
          <a:noFill/>
        </p:spPr>
        <p:txBody>
          <a:bodyPr wrap="square" lIns="0" rIns="0" tIns="0" bIns="0" anchor="t">
            <a:spAutoFit/>
          </a:bodyPr>
          <a:lstStyle/>
          <a:p>
            <a:pPr marL="0" indent="0" algn="ctr">
              <a:spcAft>
                <a:spcPts val="0"/>
              </a:spcAft>
              <a:buNone/>
            </a:pPr>
            <a:r>
              <a:rPr sz="1100" b="0" i="1">
                <a:solidFill>
                  <a:srgbClr val="595959"/>
                </a:solidFill>
                <a:latin typeface="Calibri"/>
              </a:rPr>
              <a:t>The app shows the same weights and every layer's points</a:t>
            </a:r>
          </a:p>
        </p:txBody>
      </p:sp>
      <p:sp>
        <p:nvSpPr>
          <p:cNvPr id="10" name="Slide number"/>
          <p:cNvSpPr txBox="1"/>
          <p:nvPr/>
        </p:nvSpPr>
        <p:spPr>
          <a:xfrm>
            <a:off x="11457432" y="6446520"/>
            <a:ext cx="457200" cy="274320"/>
          </a:xfrm>
          <a:prstGeom prst="rect">
            <a:avLst/>
          </a:prstGeom>
          <a:noFill/>
        </p:spPr>
        <p:txBody>
          <a:bodyPr wrap="square" lIns="0" rIns="0" tIns="0" bIns="0" anchor="ctr">
            <a:spAutoFit/>
          </a:bodyPr>
          <a:lstStyle/>
          <a:p>
            <a:pPr marL="0" indent="0" algn="r">
              <a:spcAft>
                <a:spcPts val="0"/>
              </a:spcAft>
              <a:buNone/>
            </a:pPr>
            <a:r>
              <a:rPr sz="1000" b="0" i="0">
                <a:solidFill>
                  <a:srgbClr val="808080"/>
                </a:solidFill>
                <a:latin typeface="Calibri"/>
              </a:rPr>
              <a:t>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9601200" cy="685800"/>
          </a:xfrm>
          <a:prstGeom prst="rect">
            <a:avLst/>
          </a:prstGeom>
          <a:noFill/>
        </p:spPr>
        <p:txBody>
          <a:bodyPr wrap="square" lIns="0" rIns="0" tIns="0" bIns="0" anchor="ctr">
            <a:spAutoFit/>
          </a:bodyPr>
          <a:lstStyle/>
          <a:p>
            <a:pPr marL="0" indent="0">
              <a:spcAft>
                <a:spcPts val="0"/>
              </a:spcAft>
              <a:buNone/>
            </a:pPr>
            <a:r>
              <a:rPr sz="2800" b="1" i="0">
                <a:solidFill>
                  <a:srgbClr val="1D2F82"/>
                </a:solidFill>
                <a:latin typeface="Calibri"/>
              </a:rPr>
              <a:t>Implementation — Module 3: Explainable, Safety-Aware Agent</a:t>
            </a:r>
          </a:p>
        </p:txBody>
      </p:sp>
      <p:pic>
        <p:nvPicPr>
          <p:cNvPr id="3" name="Logo" descr="image.png"/>
          <p:cNvPicPr>
            <a:picLocks noChangeAspect="1"/>
          </p:cNvPicPr>
          <p:nvPr/>
        </p:nvPicPr>
        <p:blipFill>
          <a:blip r:embed="rId2"/>
          <a:stretch>
            <a:fillRect/>
          </a:stretch>
        </p:blipFill>
        <p:spPr>
          <a:xfrm>
            <a:off x="10360152" y="320040"/>
            <a:ext cx="1371600" cy="521207"/>
          </a:xfrm>
          <a:prstGeom prst="rect">
            <a:avLst/>
          </a:prstGeom>
        </p:spPr>
      </p:pic>
      <p:sp>
        <p:nvSpPr>
          <p:cNvPr id="4" name="Rounded Rectangle 3"/>
          <p:cNvSpPr/>
          <p:nvPr/>
        </p:nvSpPr>
        <p:spPr>
          <a:xfrm>
            <a:off x="640080" y="1280160"/>
            <a:ext cx="3520440" cy="480060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22959" y="1444752"/>
            <a:ext cx="384048" cy="384048"/>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1</a:t>
            </a:r>
          </a:p>
        </p:txBody>
      </p:sp>
      <p:sp>
        <p:nvSpPr>
          <p:cNvPr id="6" name="TextBox 5"/>
          <p:cNvSpPr txBox="1"/>
          <p:nvPr/>
        </p:nvSpPr>
        <p:spPr>
          <a:xfrm>
            <a:off x="1325880" y="1417320"/>
            <a:ext cx="2697480" cy="502920"/>
          </a:xfrm>
          <a:prstGeom prst="rect">
            <a:avLst/>
          </a:prstGeom>
          <a:noFill/>
        </p:spPr>
        <p:txBody>
          <a:bodyPr wrap="square" lIns="0" rIns="0" tIns="0" bIns="0" anchor="ctr">
            <a:spAutoFit/>
          </a:bodyPr>
          <a:lstStyle/>
          <a:p>
            <a:pPr marL="0" indent="0">
              <a:spcAft>
                <a:spcPts val="0"/>
              </a:spcAft>
              <a:buNone/>
            </a:pPr>
            <a:r>
              <a:rPr sz="1600" b="1" i="0">
                <a:solidFill>
                  <a:srgbClr val="1D2F82"/>
                </a:solidFill>
                <a:latin typeface="Calibri"/>
              </a:rPr>
              <a:t>Confidence-scored router</a:t>
            </a:r>
          </a:p>
        </p:txBody>
      </p:sp>
      <p:sp>
        <p:nvSpPr>
          <p:cNvPr id="7" name="TextBox 6"/>
          <p:cNvSpPr txBox="1"/>
          <p:nvPr/>
        </p:nvSpPr>
        <p:spPr>
          <a:xfrm>
            <a:off x="868680" y="2148840"/>
            <a:ext cx="3108960" cy="3840480"/>
          </a:xfrm>
          <a:prstGeom prst="rect">
            <a:avLst/>
          </a:prstGeom>
          <a:noFill/>
        </p:spPr>
        <p:txBody>
          <a:bodyPr wrap="square" lIns="0" rIns="0" tIns="0" bIns="0" anchor="t">
            <a:spAutoFit/>
          </a:bodyPr>
          <a:lstStyle/>
          <a:p>
            <a:pPr marL="177800" indent="-177800">
              <a:spcAft>
                <a:spcPts val="1200"/>
              </a:spcAft>
              <a:buSzPct val="100000"/>
              <a:buChar char="•"/>
            </a:pPr>
            <a:r>
              <a:rPr sz="1600" b="0" i="0">
                <a:solidFill>
                  <a:srgbClr val="000000"/>
                </a:solidFill>
                <a:latin typeface="Calibri"/>
              </a:rPr>
              <a:t>LLM picks which of 12 data streams a question needs</a:t>
            </a:r>
          </a:p>
          <a:p>
            <a:pPr marL="177800" indent="-177800">
              <a:spcAft>
                <a:spcPts val="1200"/>
              </a:spcAft>
              <a:buSzPct val="100000"/>
              <a:buChar char="•"/>
            </a:pPr>
            <a:r>
              <a:rPr sz="1600" b="0" i="0">
                <a:solidFill>
                  <a:srgbClr val="000000"/>
                </a:solidFill>
                <a:latin typeface="Calibri"/>
              </a:rPr>
              <a:t>"How did I sleep?" → sleep only; "How am I doing?" → all</a:t>
            </a:r>
          </a:p>
          <a:p>
            <a:pPr marL="177800" indent="-177800">
              <a:spcAft>
                <a:spcPts val="1200"/>
              </a:spcAft>
              <a:buSzPct val="100000"/>
              <a:buChar char="•"/>
            </a:pPr>
            <a:r>
              <a:rPr sz="1600" b="1" i="0">
                <a:solidFill>
                  <a:srgbClr val="000000"/>
                </a:solidFill>
                <a:latin typeface="Calibri"/>
              </a:rPr>
              <a:t>Safety widening:</a:t>
            </a:r>
            <a:r>
              <a:rPr sz="1600" b="0" i="0">
                <a:solidFill>
                  <a:srgbClr val="000000"/>
                </a:solidFill>
                <a:latin typeface="Calibri"/>
              </a:rPr>
              <a:t> safety question + confidence &lt; 0.75 → fetch fall risk, HR, SpO₂, HRV too</a:t>
            </a:r>
          </a:p>
          <a:p>
            <a:pPr marL="177800" indent="-177800">
              <a:spcAft>
                <a:spcPts val="1200"/>
              </a:spcAft>
              <a:buSzPct val="100000"/>
              <a:buChar char="•"/>
            </a:pPr>
            <a:r>
              <a:rPr sz="1600" b="0" i="0">
                <a:solidFill>
                  <a:srgbClr val="000000"/>
                </a:solidFill>
                <a:latin typeface="Calibri"/>
              </a:rPr>
              <a:t>Keyword router as a fallback</a:t>
            </a:r>
          </a:p>
        </p:txBody>
      </p:sp>
      <p:sp>
        <p:nvSpPr>
          <p:cNvPr id="8" name="Rounded Rectangle 7"/>
          <p:cNvSpPr/>
          <p:nvPr/>
        </p:nvSpPr>
        <p:spPr>
          <a:xfrm>
            <a:off x="4297680" y="1280160"/>
            <a:ext cx="3520440" cy="480060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480560" y="1444752"/>
            <a:ext cx="384048" cy="384048"/>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2</a:t>
            </a:r>
          </a:p>
        </p:txBody>
      </p:sp>
      <p:sp>
        <p:nvSpPr>
          <p:cNvPr id="10" name="TextBox 9"/>
          <p:cNvSpPr txBox="1"/>
          <p:nvPr/>
        </p:nvSpPr>
        <p:spPr>
          <a:xfrm>
            <a:off x="4983480" y="1417320"/>
            <a:ext cx="2697480" cy="502920"/>
          </a:xfrm>
          <a:prstGeom prst="rect">
            <a:avLst/>
          </a:prstGeom>
          <a:noFill/>
        </p:spPr>
        <p:txBody>
          <a:bodyPr wrap="square" lIns="0" rIns="0" tIns="0" bIns="0" anchor="ctr">
            <a:spAutoFit/>
          </a:bodyPr>
          <a:lstStyle/>
          <a:p>
            <a:pPr marL="0" indent="0">
              <a:spcAft>
                <a:spcPts val="0"/>
              </a:spcAft>
              <a:buNone/>
            </a:pPr>
            <a:r>
              <a:rPr sz="1600" b="1" i="0">
                <a:solidFill>
                  <a:srgbClr val="1D2F82"/>
                </a:solidFill>
                <a:latin typeface="Calibri"/>
              </a:rPr>
              <a:t>Tri-modal safety fusion</a:t>
            </a:r>
          </a:p>
        </p:txBody>
      </p:sp>
      <p:sp>
        <p:nvSpPr>
          <p:cNvPr id="11" name="TextBox 10"/>
          <p:cNvSpPr txBox="1"/>
          <p:nvPr/>
        </p:nvSpPr>
        <p:spPr>
          <a:xfrm>
            <a:off x="4526280" y="2148840"/>
            <a:ext cx="3108960" cy="3840480"/>
          </a:xfrm>
          <a:prstGeom prst="rect">
            <a:avLst/>
          </a:prstGeom>
          <a:noFill/>
        </p:spPr>
        <p:txBody>
          <a:bodyPr wrap="square" lIns="0" rIns="0" tIns="0" bIns="0" anchor="t">
            <a:spAutoFit/>
          </a:bodyPr>
          <a:lstStyle/>
          <a:p>
            <a:pPr marL="177800" indent="-177800">
              <a:spcAft>
                <a:spcPts val="1200"/>
              </a:spcAft>
              <a:buSzPct val="100000"/>
              <a:buChar char="•"/>
            </a:pPr>
            <a:r>
              <a:rPr sz="1600" b="1" i="0">
                <a:solidFill>
                  <a:srgbClr val="000000"/>
                </a:solidFill>
                <a:latin typeface="Calibri"/>
              </a:rPr>
              <a:t>Keyword</a:t>
            </a:r>
            <a:r>
              <a:rPr sz="1600" b="0" i="0">
                <a:solidFill>
                  <a:srgbClr val="000000"/>
                </a:solidFill>
                <a:latin typeface="Calibri"/>
              </a:rPr>
              <a:t> signal: "fell", "chest pain"… (ignores "fell asleep")</a:t>
            </a:r>
          </a:p>
          <a:p>
            <a:pPr marL="177800" indent="-177800">
              <a:spcAft>
                <a:spcPts val="1200"/>
              </a:spcAft>
              <a:buSzPct val="100000"/>
              <a:buChar char="•"/>
            </a:pPr>
            <a:r>
              <a:rPr sz="1600" b="1" i="0">
                <a:solidFill>
                  <a:srgbClr val="000000"/>
                </a:solidFill>
                <a:latin typeface="Calibri"/>
              </a:rPr>
              <a:t>LLM</a:t>
            </a:r>
            <a:r>
              <a:rPr sz="1600" b="0" i="0">
                <a:solidFill>
                  <a:srgbClr val="000000"/>
                </a:solidFill>
                <a:latin typeface="Calibri"/>
              </a:rPr>
              <a:t> signal: triggers at confidence ≥ 0.7, overrides a keyword at ≥ 0.85</a:t>
            </a:r>
          </a:p>
          <a:p>
            <a:pPr marL="177800" indent="-177800">
              <a:spcAft>
                <a:spcPts val="1200"/>
              </a:spcAft>
              <a:buSzPct val="100000"/>
              <a:buChar char="•"/>
            </a:pPr>
            <a:r>
              <a:rPr sz="1600" b="1" i="0">
                <a:solidFill>
                  <a:srgbClr val="000000"/>
                </a:solidFill>
                <a:latin typeface="Calibri"/>
              </a:rPr>
              <a:t>Biometric</a:t>
            </a:r>
            <a:r>
              <a:rPr sz="1600" b="0" i="0">
                <a:solidFill>
                  <a:srgbClr val="000000"/>
                </a:solidFill>
                <a:latin typeface="Calibri"/>
              </a:rPr>
              <a:t> signal: ring / phone fall in the last 30 min</a:t>
            </a:r>
          </a:p>
          <a:p>
            <a:pPr marL="177800" indent="-177800">
              <a:spcAft>
                <a:spcPts val="1200"/>
              </a:spcAft>
              <a:buSzPct val="100000"/>
              <a:buChar char="•"/>
            </a:pPr>
            <a:r>
              <a:rPr sz="1600" b="0" i="0">
                <a:solidFill>
                  <a:srgbClr val="000000"/>
                </a:solidFill>
                <a:latin typeface="Calibri"/>
              </a:rPr>
              <a:t>Any one strong signal → emergency reply</a:t>
            </a:r>
          </a:p>
        </p:txBody>
      </p:sp>
      <p:sp>
        <p:nvSpPr>
          <p:cNvPr id="12" name="Rounded Rectangle 11"/>
          <p:cNvSpPr/>
          <p:nvPr/>
        </p:nvSpPr>
        <p:spPr>
          <a:xfrm>
            <a:off x="7955279" y="1280160"/>
            <a:ext cx="3520440" cy="480060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8138159" y="1444752"/>
            <a:ext cx="384048" cy="384048"/>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3</a:t>
            </a:r>
          </a:p>
        </p:txBody>
      </p:sp>
      <p:sp>
        <p:nvSpPr>
          <p:cNvPr id="14" name="TextBox 13"/>
          <p:cNvSpPr txBox="1"/>
          <p:nvPr/>
        </p:nvSpPr>
        <p:spPr>
          <a:xfrm>
            <a:off x="8641080" y="1417320"/>
            <a:ext cx="2697480" cy="502920"/>
          </a:xfrm>
          <a:prstGeom prst="rect">
            <a:avLst/>
          </a:prstGeom>
          <a:noFill/>
        </p:spPr>
        <p:txBody>
          <a:bodyPr wrap="square" lIns="0" rIns="0" tIns="0" bIns="0" anchor="ctr">
            <a:spAutoFit/>
          </a:bodyPr>
          <a:lstStyle/>
          <a:p>
            <a:pPr marL="0" indent="0">
              <a:spcAft>
                <a:spcPts val="0"/>
              </a:spcAft>
              <a:buNone/>
            </a:pPr>
            <a:r>
              <a:rPr sz="1600" b="1" i="0">
                <a:solidFill>
                  <a:srgbClr val="1D2F82"/>
                </a:solidFill>
                <a:latin typeface="Calibri"/>
              </a:rPr>
              <a:t>Grounded answer + verification</a:t>
            </a:r>
          </a:p>
        </p:txBody>
      </p:sp>
      <p:sp>
        <p:nvSpPr>
          <p:cNvPr id="15" name="TextBox 14"/>
          <p:cNvSpPr txBox="1"/>
          <p:nvPr/>
        </p:nvSpPr>
        <p:spPr>
          <a:xfrm>
            <a:off x="8183879" y="2148840"/>
            <a:ext cx="3108960" cy="3840480"/>
          </a:xfrm>
          <a:prstGeom prst="rect">
            <a:avLst/>
          </a:prstGeom>
          <a:noFill/>
        </p:spPr>
        <p:txBody>
          <a:bodyPr wrap="square" lIns="0" rIns="0" tIns="0" bIns="0" anchor="t">
            <a:spAutoFit/>
          </a:bodyPr>
          <a:lstStyle/>
          <a:p>
            <a:pPr marL="177800" indent="-177800">
              <a:spcAft>
                <a:spcPts val="1200"/>
              </a:spcAft>
              <a:buSzPct val="100000"/>
              <a:buChar char="•"/>
            </a:pPr>
            <a:r>
              <a:rPr sz="1600" b="0" i="0">
                <a:solidFill>
                  <a:srgbClr val="000000"/>
                </a:solidFill>
                <a:latin typeface="Calibri"/>
              </a:rPr>
              <a:t>Engine output given to the LLM as literal values</a:t>
            </a:r>
          </a:p>
          <a:p>
            <a:pPr marL="177800" indent="-177800">
              <a:spcAft>
                <a:spcPts val="1200"/>
              </a:spcAft>
              <a:buSzPct val="100000"/>
              <a:buChar char="•"/>
            </a:pPr>
            <a:r>
              <a:rPr sz="1600" b="0" i="0">
                <a:solidFill>
                  <a:srgbClr val="000000"/>
                </a:solidFill>
                <a:latin typeface="Calibri"/>
              </a:rPr>
              <a:t>Reply as JSON: facts → rationale → action</a:t>
            </a:r>
          </a:p>
          <a:p>
            <a:pPr marL="177800" indent="-177800">
              <a:spcAft>
                <a:spcPts val="1200"/>
              </a:spcAft>
              <a:buSzPct val="100000"/>
              <a:buChar char="•"/>
            </a:pPr>
            <a:r>
              <a:rPr sz="1600" b="0" i="0">
                <a:solidFill>
                  <a:srgbClr val="000000"/>
                </a:solidFill>
                <a:latin typeface="Calibri"/>
              </a:rPr>
              <a:t>Every number in the reply looked up in the user's data</a:t>
            </a:r>
          </a:p>
          <a:p>
            <a:pPr marL="177800" indent="-177800">
              <a:spcAft>
                <a:spcPts val="1200"/>
              </a:spcAft>
              <a:buSzPct val="100000"/>
              <a:buChar char="•"/>
            </a:pPr>
            <a:r>
              <a:rPr sz="1600" b="0" i="0">
                <a:solidFill>
                  <a:srgbClr val="000000"/>
                </a:solidFill>
                <a:latin typeface="Calibri"/>
              </a:rPr>
              <a:t>Wrong number → one corrective regeneration</a:t>
            </a:r>
          </a:p>
        </p:txBody>
      </p:sp>
      <p:sp>
        <p:nvSpPr>
          <p:cNvPr id="16" name="Slide number"/>
          <p:cNvSpPr txBox="1"/>
          <p:nvPr/>
        </p:nvSpPr>
        <p:spPr>
          <a:xfrm>
            <a:off x="11457432" y="6446520"/>
            <a:ext cx="457200" cy="274320"/>
          </a:xfrm>
          <a:prstGeom prst="rect">
            <a:avLst/>
          </a:prstGeom>
          <a:noFill/>
        </p:spPr>
        <p:txBody>
          <a:bodyPr wrap="square" lIns="0" rIns="0" tIns="0" bIns="0" anchor="ctr">
            <a:spAutoFit/>
          </a:bodyPr>
          <a:lstStyle/>
          <a:p>
            <a:pPr marL="0" indent="0" algn="r">
              <a:spcAft>
                <a:spcPts val="0"/>
              </a:spcAft>
              <a:buNone/>
            </a:pPr>
            <a:r>
              <a:rPr sz="1000" b="0" i="0">
                <a:solidFill>
                  <a:srgbClr val="808080"/>
                </a:solidFill>
                <a:latin typeface="Calibri"/>
              </a:rPr>
              <a:t>10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9601200" cy="685800"/>
          </a:xfrm>
          <a:prstGeom prst="rect">
            <a:avLst/>
          </a:prstGeom>
          <a:noFill/>
        </p:spPr>
        <p:txBody>
          <a:bodyPr wrap="square" lIns="0" rIns="0" tIns="0" bIns="0" anchor="ctr">
            <a:spAutoFit/>
          </a:bodyPr>
          <a:lstStyle/>
          <a:p>
            <a:pPr marL="0" indent="0">
              <a:spcAft>
                <a:spcPts val="0"/>
              </a:spcAft>
              <a:buNone/>
            </a:pPr>
            <a:r>
              <a:rPr sz="2800" b="1" i="0">
                <a:solidFill>
                  <a:srgbClr val="1D2F82"/>
                </a:solidFill>
                <a:latin typeface="Calibri"/>
              </a:rPr>
              <a:t>Implementation — Integration &amp; Performance Optimisation</a:t>
            </a:r>
          </a:p>
        </p:txBody>
      </p:sp>
      <p:pic>
        <p:nvPicPr>
          <p:cNvPr id="3" name="Logo" descr="image.png"/>
          <p:cNvPicPr>
            <a:picLocks noChangeAspect="1"/>
          </p:cNvPicPr>
          <p:nvPr/>
        </p:nvPicPr>
        <p:blipFill>
          <a:blip r:embed="rId2"/>
          <a:stretch>
            <a:fillRect/>
          </a:stretch>
        </p:blipFill>
        <p:spPr>
          <a:xfrm>
            <a:off x="10360152" y="320040"/>
            <a:ext cx="1371600" cy="521207"/>
          </a:xfrm>
          <a:prstGeom prst="rect">
            <a:avLst/>
          </a:prstGeom>
        </p:spPr>
      </p:pic>
      <p:sp>
        <p:nvSpPr>
          <p:cNvPr id="4" name="Rounded Rectangle 3"/>
          <p:cNvSpPr/>
          <p:nvPr/>
        </p:nvSpPr>
        <p:spPr>
          <a:xfrm>
            <a:off x="640080" y="1325880"/>
            <a:ext cx="1572768" cy="685800"/>
          </a:xfrm>
          <a:prstGeom prst="roundRect">
            <a:avLst>
              <a:gd name="adj" fmla="val 6000"/>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85800" y="1325880"/>
            <a:ext cx="1481328" cy="685800"/>
          </a:xfrm>
          <a:prstGeom prst="rect">
            <a:avLst/>
          </a:prstGeom>
          <a:noFill/>
        </p:spPr>
        <p:txBody>
          <a:bodyPr wrap="square" lIns="0" rIns="0" tIns="0" bIns="0" anchor="ctr">
            <a:spAutoFit/>
          </a:bodyPr>
          <a:lstStyle/>
          <a:p>
            <a:pPr marL="0" indent="0" algn="ctr">
              <a:spcAft>
                <a:spcPts val="0"/>
              </a:spcAft>
              <a:buNone/>
            </a:pPr>
            <a:r>
              <a:rPr sz="1400" b="1" i="0">
                <a:solidFill>
                  <a:srgbClr val="FFFFFF"/>
                </a:solidFill>
                <a:latin typeface="Calibri"/>
              </a:rPr>
              <a:t>Smart ring</a:t>
            </a:r>
          </a:p>
        </p:txBody>
      </p:sp>
      <p:sp>
        <p:nvSpPr>
          <p:cNvPr id="6" name="Right Arrow 5"/>
          <p:cNvSpPr/>
          <p:nvPr/>
        </p:nvSpPr>
        <p:spPr>
          <a:xfrm>
            <a:off x="2231136" y="1536192"/>
            <a:ext cx="237744" cy="256032"/>
          </a:xfrm>
          <a:prstGeom prst="rightArrow">
            <a:avLst/>
          </a:prstGeom>
          <a:solidFill>
            <a:srgbClr val="D3D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487168" y="1325880"/>
            <a:ext cx="1572768" cy="685800"/>
          </a:xfrm>
          <a:prstGeom prst="roundRect">
            <a:avLst>
              <a:gd name="adj" fmla="val 6000"/>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32887" y="1325880"/>
            <a:ext cx="1481328" cy="685800"/>
          </a:xfrm>
          <a:prstGeom prst="rect">
            <a:avLst/>
          </a:prstGeom>
          <a:noFill/>
        </p:spPr>
        <p:txBody>
          <a:bodyPr wrap="square" lIns="0" rIns="0" tIns="0" bIns="0" anchor="ctr">
            <a:spAutoFit/>
          </a:bodyPr>
          <a:lstStyle/>
          <a:p>
            <a:pPr marL="0" indent="0" algn="ctr">
              <a:spcAft>
                <a:spcPts val="0"/>
              </a:spcAft>
              <a:buNone/>
            </a:pPr>
            <a:r>
              <a:rPr sz="1400" b="1" i="0">
                <a:solidFill>
                  <a:srgbClr val="FFFFFF"/>
                </a:solidFill>
                <a:latin typeface="Calibri"/>
              </a:rPr>
              <a:t>Android app</a:t>
            </a:r>
          </a:p>
        </p:txBody>
      </p:sp>
      <p:sp>
        <p:nvSpPr>
          <p:cNvPr id="9" name="Right Arrow 8"/>
          <p:cNvSpPr/>
          <p:nvPr/>
        </p:nvSpPr>
        <p:spPr>
          <a:xfrm>
            <a:off x="4078224" y="1536192"/>
            <a:ext cx="237744" cy="256032"/>
          </a:xfrm>
          <a:prstGeom prst="rightArrow">
            <a:avLst/>
          </a:prstGeom>
          <a:solidFill>
            <a:srgbClr val="D3D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34256" y="1325880"/>
            <a:ext cx="1572768" cy="685800"/>
          </a:xfrm>
          <a:prstGeom prst="roundRect">
            <a:avLst>
              <a:gd name="adj" fmla="val 6000"/>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379976" y="1325880"/>
            <a:ext cx="1481328" cy="685800"/>
          </a:xfrm>
          <a:prstGeom prst="rect">
            <a:avLst/>
          </a:prstGeom>
          <a:noFill/>
        </p:spPr>
        <p:txBody>
          <a:bodyPr wrap="square" lIns="0" rIns="0" tIns="0" bIns="0" anchor="ctr">
            <a:spAutoFit/>
          </a:bodyPr>
          <a:lstStyle/>
          <a:p>
            <a:pPr marL="0" indent="0" algn="ctr">
              <a:spcAft>
                <a:spcPts val="0"/>
              </a:spcAft>
              <a:buNone/>
            </a:pPr>
            <a:r>
              <a:rPr sz="1400" b="1" i="0">
                <a:solidFill>
                  <a:srgbClr val="FFFFFF"/>
                </a:solidFill>
                <a:latin typeface="Calibri"/>
              </a:rPr>
              <a:t>Room (phone)</a:t>
            </a:r>
          </a:p>
        </p:txBody>
      </p:sp>
      <p:sp>
        <p:nvSpPr>
          <p:cNvPr id="12" name="Right Arrow 11"/>
          <p:cNvSpPr/>
          <p:nvPr/>
        </p:nvSpPr>
        <p:spPr>
          <a:xfrm>
            <a:off x="5925312" y="1536192"/>
            <a:ext cx="237744" cy="256032"/>
          </a:xfrm>
          <a:prstGeom prst="rightArrow">
            <a:avLst/>
          </a:prstGeom>
          <a:solidFill>
            <a:srgbClr val="D3D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81344" y="1325880"/>
            <a:ext cx="1572768" cy="685800"/>
          </a:xfrm>
          <a:prstGeom prst="roundRect">
            <a:avLst>
              <a:gd name="adj" fmla="val 6000"/>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227064" y="1325880"/>
            <a:ext cx="1481328" cy="685800"/>
          </a:xfrm>
          <a:prstGeom prst="rect">
            <a:avLst/>
          </a:prstGeom>
          <a:noFill/>
        </p:spPr>
        <p:txBody>
          <a:bodyPr wrap="square" lIns="0" rIns="0" tIns="0" bIns="0" anchor="ctr">
            <a:spAutoFit/>
          </a:bodyPr>
          <a:lstStyle/>
          <a:p>
            <a:pPr marL="0" indent="0" algn="ctr">
              <a:spcAft>
                <a:spcPts val="0"/>
              </a:spcAft>
              <a:buNone/>
            </a:pPr>
            <a:r>
              <a:rPr sz="1400" b="1" i="0">
                <a:solidFill>
                  <a:srgbClr val="FFFFFF"/>
                </a:solidFill>
                <a:latin typeface="Calibri"/>
              </a:rPr>
              <a:t>Supabase</a:t>
            </a:r>
          </a:p>
        </p:txBody>
      </p:sp>
      <p:sp>
        <p:nvSpPr>
          <p:cNvPr id="15" name="Right Arrow 14"/>
          <p:cNvSpPr/>
          <p:nvPr/>
        </p:nvSpPr>
        <p:spPr>
          <a:xfrm>
            <a:off x="7772400" y="1536192"/>
            <a:ext cx="237744" cy="256032"/>
          </a:xfrm>
          <a:prstGeom prst="rightArrow">
            <a:avLst/>
          </a:prstGeom>
          <a:solidFill>
            <a:srgbClr val="D3D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28431" y="1325880"/>
            <a:ext cx="1572768" cy="685800"/>
          </a:xfrm>
          <a:prstGeom prst="roundRect">
            <a:avLst>
              <a:gd name="adj" fmla="val 6000"/>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74152" y="1325880"/>
            <a:ext cx="1481328" cy="685800"/>
          </a:xfrm>
          <a:prstGeom prst="rect">
            <a:avLst/>
          </a:prstGeom>
          <a:noFill/>
        </p:spPr>
        <p:txBody>
          <a:bodyPr wrap="square" lIns="0" rIns="0" tIns="0" bIns="0" anchor="ctr">
            <a:spAutoFit/>
          </a:bodyPr>
          <a:lstStyle/>
          <a:p>
            <a:pPr marL="0" indent="0" algn="ctr">
              <a:spcAft>
                <a:spcPts val="0"/>
              </a:spcAft>
              <a:buNone/>
            </a:pPr>
            <a:r>
              <a:rPr sz="1400" b="1" i="0">
                <a:solidFill>
                  <a:srgbClr val="FFFFFF"/>
                </a:solidFill>
                <a:latin typeface="Calibri"/>
              </a:rPr>
              <a:t>FastAPI + engine</a:t>
            </a:r>
          </a:p>
        </p:txBody>
      </p:sp>
      <p:sp>
        <p:nvSpPr>
          <p:cNvPr id="18" name="Right Arrow 17"/>
          <p:cNvSpPr/>
          <p:nvPr/>
        </p:nvSpPr>
        <p:spPr>
          <a:xfrm>
            <a:off x="9619488" y="1536192"/>
            <a:ext cx="237744" cy="256032"/>
          </a:xfrm>
          <a:prstGeom prst="rightArrow">
            <a:avLst/>
          </a:prstGeom>
          <a:solidFill>
            <a:srgbClr val="D3D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875519" y="1325880"/>
            <a:ext cx="1572768" cy="685800"/>
          </a:xfrm>
          <a:prstGeom prst="roundRect">
            <a:avLst>
              <a:gd name="adj" fmla="val 6000"/>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921240" y="1325880"/>
            <a:ext cx="1481328" cy="685800"/>
          </a:xfrm>
          <a:prstGeom prst="rect">
            <a:avLst/>
          </a:prstGeom>
          <a:noFill/>
        </p:spPr>
        <p:txBody>
          <a:bodyPr wrap="square" lIns="0" rIns="0" tIns="0" bIns="0" anchor="ctr">
            <a:spAutoFit/>
          </a:bodyPr>
          <a:lstStyle/>
          <a:p>
            <a:pPr marL="0" indent="0" algn="ctr">
              <a:spcAft>
                <a:spcPts val="0"/>
              </a:spcAft>
              <a:buNone/>
            </a:pPr>
            <a:r>
              <a:rPr sz="1400" b="1" i="0">
                <a:solidFill>
                  <a:srgbClr val="FFFFFF"/>
                </a:solidFill>
                <a:latin typeface="Calibri"/>
              </a:rPr>
              <a:t>Agent → app</a:t>
            </a:r>
          </a:p>
        </p:txBody>
      </p:sp>
      <p:sp>
        <p:nvSpPr>
          <p:cNvPr id="21" name="TextBox 20"/>
          <p:cNvSpPr txBox="1"/>
          <p:nvPr/>
        </p:nvSpPr>
        <p:spPr>
          <a:xfrm>
            <a:off x="640080" y="2103120"/>
            <a:ext cx="10881360" cy="365760"/>
          </a:xfrm>
          <a:prstGeom prst="rect">
            <a:avLst/>
          </a:prstGeom>
          <a:noFill/>
        </p:spPr>
        <p:txBody>
          <a:bodyPr wrap="square" lIns="0" rIns="0" tIns="0" bIns="0" anchor="t">
            <a:spAutoFit/>
          </a:bodyPr>
          <a:lstStyle/>
          <a:p>
            <a:pPr marL="0" indent="0" algn="ctr">
              <a:spcAft>
                <a:spcPts val="0"/>
              </a:spcAft>
              <a:buNone/>
            </a:pPr>
            <a:r>
              <a:rPr sz="1300" b="0" i="0">
                <a:solidFill>
                  <a:srgbClr val="595959"/>
                </a:solidFill>
                <a:latin typeface="Calibri"/>
              </a:rPr>
              <a:t>BLE  ·  local-first storage  ·  5-min batched sync  ·  JWT auth  ·  app ↔ laptop over Wi-Fi (server address set in the app)</a:t>
            </a:r>
          </a:p>
        </p:txBody>
      </p:sp>
      <p:sp>
        <p:nvSpPr>
          <p:cNvPr id="22" name="Rounded Rectangle 21"/>
          <p:cNvSpPr/>
          <p:nvPr/>
        </p:nvSpPr>
        <p:spPr>
          <a:xfrm>
            <a:off x="640080" y="2743200"/>
            <a:ext cx="2560320" cy="173736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77240" y="2880360"/>
            <a:ext cx="2286000" cy="685800"/>
          </a:xfrm>
          <a:prstGeom prst="rect">
            <a:avLst/>
          </a:prstGeom>
          <a:noFill/>
        </p:spPr>
        <p:txBody>
          <a:bodyPr wrap="square" lIns="0" rIns="0" tIns="0" bIns="0" anchor="ctr">
            <a:spAutoFit/>
          </a:bodyPr>
          <a:lstStyle/>
          <a:p>
            <a:pPr marL="0" indent="0" algn="ctr">
              <a:spcAft>
                <a:spcPts val="0"/>
              </a:spcAft>
              <a:buNone/>
            </a:pPr>
            <a:r>
              <a:rPr sz="3000" b="1" i="0">
                <a:solidFill>
                  <a:srgbClr val="D96C1E"/>
                </a:solidFill>
                <a:latin typeface="Calibri"/>
              </a:rPr>
              <a:t>0.88</a:t>
            </a:r>
          </a:p>
        </p:txBody>
      </p:sp>
      <p:sp>
        <p:nvSpPr>
          <p:cNvPr id="24" name="TextBox 23"/>
          <p:cNvSpPr txBox="1"/>
          <p:nvPr/>
        </p:nvSpPr>
        <p:spPr>
          <a:xfrm>
            <a:off x="822959" y="3611880"/>
            <a:ext cx="2194560" cy="822960"/>
          </a:xfrm>
          <a:prstGeom prst="rect">
            <a:avLst/>
          </a:prstGeom>
          <a:noFill/>
        </p:spPr>
        <p:txBody>
          <a:bodyPr wrap="square" lIns="0" rIns="0" tIns="0" bIns="0" anchor="t">
            <a:spAutoFit/>
          </a:bodyPr>
          <a:lstStyle/>
          <a:p>
            <a:pPr marL="0" indent="0" algn="ctr">
              <a:spcAft>
                <a:spcPts val="0"/>
              </a:spcAft>
              <a:buNone/>
            </a:pPr>
            <a:r>
              <a:rPr sz="1300" b="0" i="0">
                <a:solidFill>
                  <a:srgbClr val="000000"/>
                </a:solidFill>
                <a:latin typeface="Calibri"/>
              </a:rPr>
              <a:t>data streams fetched per answer (baseline agent: all 12)</a:t>
            </a:r>
          </a:p>
        </p:txBody>
      </p:sp>
      <p:sp>
        <p:nvSpPr>
          <p:cNvPr id="25" name="Rounded Rectangle 24"/>
          <p:cNvSpPr/>
          <p:nvPr/>
        </p:nvSpPr>
        <p:spPr>
          <a:xfrm>
            <a:off x="3383280" y="2743200"/>
            <a:ext cx="2560320" cy="173736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520440" y="2880360"/>
            <a:ext cx="2286000" cy="685800"/>
          </a:xfrm>
          <a:prstGeom prst="rect">
            <a:avLst/>
          </a:prstGeom>
          <a:noFill/>
        </p:spPr>
        <p:txBody>
          <a:bodyPr wrap="square" lIns="0" rIns="0" tIns="0" bIns="0" anchor="ctr">
            <a:spAutoFit/>
          </a:bodyPr>
          <a:lstStyle/>
          <a:p>
            <a:pPr marL="0" indent="0" algn="ctr">
              <a:spcAft>
                <a:spcPts val="0"/>
              </a:spcAft>
              <a:buNone/>
            </a:pPr>
            <a:r>
              <a:rPr sz="3000" b="1" i="0">
                <a:solidFill>
                  <a:srgbClr val="D96C1E"/>
                </a:solidFill>
                <a:latin typeface="Calibri"/>
              </a:rPr>
              <a:t>3 → 15 min</a:t>
            </a:r>
          </a:p>
        </p:txBody>
      </p:sp>
      <p:sp>
        <p:nvSpPr>
          <p:cNvPr id="27" name="TextBox 26"/>
          <p:cNvSpPr txBox="1"/>
          <p:nvPr/>
        </p:nvSpPr>
        <p:spPr>
          <a:xfrm>
            <a:off x="3566160" y="3611880"/>
            <a:ext cx="2194560" cy="822960"/>
          </a:xfrm>
          <a:prstGeom prst="rect">
            <a:avLst/>
          </a:prstGeom>
          <a:noFill/>
        </p:spPr>
        <p:txBody>
          <a:bodyPr wrap="square" lIns="0" rIns="0" tIns="0" bIns="0" anchor="t">
            <a:spAutoFit/>
          </a:bodyPr>
          <a:lstStyle/>
          <a:p>
            <a:pPr marL="0" indent="0" algn="ctr">
              <a:spcAft>
                <a:spcPts val="0"/>
              </a:spcAft>
              <a:buNone/>
            </a:pPr>
            <a:r>
              <a:rPr sz="1300" b="0" i="0">
                <a:solidFill>
                  <a:srgbClr val="000000"/>
                </a:solidFill>
                <a:latin typeface="Calibri"/>
              </a:rPr>
              <a:t>adaptive measurement cooldown when vitals are normal</a:t>
            </a:r>
          </a:p>
        </p:txBody>
      </p:sp>
      <p:sp>
        <p:nvSpPr>
          <p:cNvPr id="28" name="Rounded Rectangle 27"/>
          <p:cNvSpPr/>
          <p:nvPr/>
        </p:nvSpPr>
        <p:spPr>
          <a:xfrm>
            <a:off x="6126480" y="2743200"/>
            <a:ext cx="2560320" cy="173736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263640" y="2880360"/>
            <a:ext cx="2286000" cy="685800"/>
          </a:xfrm>
          <a:prstGeom prst="rect">
            <a:avLst/>
          </a:prstGeom>
          <a:noFill/>
        </p:spPr>
        <p:txBody>
          <a:bodyPr wrap="square" lIns="0" rIns="0" tIns="0" bIns="0" anchor="ctr">
            <a:spAutoFit/>
          </a:bodyPr>
          <a:lstStyle/>
          <a:p>
            <a:pPr marL="0" indent="0" algn="ctr">
              <a:spcAft>
                <a:spcPts val="0"/>
              </a:spcAft>
              <a:buNone/>
            </a:pPr>
            <a:r>
              <a:rPr sz="3000" b="1" i="0">
                <a:solidFill>
                  <a:srgbClr val="D96C1E"/>
                </a:solidFill>
                <a:latin typeface="Calibri"/>
              </a:rPr>
              <a:t>5 min</a:t>
            </a:r>
          </a:p>
        </p:txBody>
      </p:sp>
      <p:sp>
        <p:nvSpPr>
          <p:cNvPr id="30" name="TextBox 29"/>
          <p:cNvSpPr txBox="1"/>
          <p:nvPr/>
        </p:nvSpPr>
        <p:spPr>
          <a:xfrm>
            <a:off x="6309360" y="3611880"/>
            <a:ext cx="2194560" cy="822960"/>
          </a:xfrm>
          <a:prstGeom prst="rect">
            <a:avLst/>
          </a:prstGeom>
          <a:noFill/>
        </p:spPr>
        <p:txBody>
          <a:bodyPr wrap="square" lIns="0" rIns="0" tIns="0" bIns="0" anchor="t">
            <a:spAutoFit/>
          </a:bodyPr>
          <a:lstStyle/>
          <a:p>
            <a:pPr marL="0" indent="0" algn="ctr">
              <a:spcAft>
                <a:spcPts val="0"/>
              </a:spcAft>
              <a:buNone/>
            </a:pPr>
            <a:r>
              <a:rPr sz="1300" b="0" i="0">
                <a:solidFill>
                  <a:srgbClr val="000000"/>
                </a:solidFill>
                <a:latin typeface="Calibri"/>
              </a:rPr>
              <a:t>batched cloud uploads instead of one request per reading</a:t>
            </a:r>
          </a:p>
        </p:txBody>
      </p:sp>
      <p:sp>
        <p:nvSpPr>
          <p:cNvPr id="31" name="Rounded Rectangle 30"/>
          <p:cNvSpPr/>
          <p:nvPr/>
        </p:nvSpPr>
        <p:spPr>
          <a:xfrm>
            <a:off x="8869680" y="2743200"/>
            <a:ext cx="2560320" cy="173736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006840" y="2880360"/>
            <a:ext cx="2286000" cy="685800"/>
          </a:xfrm>
          <a:prstGeom prst="rect">
            <a:avLst/>
          </a:prstGeom>
          <a:noFill/>
        </p:spPr>
        <p:txBody>
          <a:bodyPr wrap="square" lIns="0" rIns="0" tIns="0" bIns="0" anchor="ctr">
            <a:spAutoFit/>
          </a:bodyPr>
          <a:lstStyle/>
          <a:p>
            <a:pPr marL="0" indent="0" algn="ctr">
              <a:spcAft>
                <a:spcPts val="0"/>
              </a:spcAft>
              <a:buNone/>
            </a:pPr>
            <a:r>
              <a:rPr sz="3000" b="1" i="0">
                <a:solidFill>
                  <a:srgbClr val="D96C1E"/>
                </a:solidFill>
                <a:latin typeface="Calibri"/>
              </a:rPr>
              <a:t>seconds</a:t>
            </a:r>
          </a:p>
        </p:txBody>
      </p:sp>
      <p:sp>
        <p:nvSpPr>
          <p:cNvPr id="33" name="TextBox 32"/>
          <p:cNvSpPr txBox="1"/>
          <p:nvPr/>
        </p:nvSpPr>
        <p:spPr>
          <a:xfrm>
            <a:off x="9052559" y="3611880"/>
            <a:ext cx="2194560" cy="822960"/>
          </a:xfrm>
          <a:prstGeom prst="rect">
            <a:avLst/>
          </a:prstGeom>
          <a:noFill/>
        </p:spPr>
        <p:txBody>
          <a:bodyPr wrap="square" lIns="0" rIns="0" tIns="0" bIns="0" anchor="t">
            <a:spAutoFit/>
          </a:bodyPr>
          <a:lstStyle/>
          <a:p>
            <a:pPr marL="0" indent="0" algn="ctr">
              <a:spcAft>
                <a:spcPts val="0"/>
              </a:spcAft>
              <a:buNone/>
            </a:pPr>
            <a:r>
              <a:rPr sz="1300" b="0" i="0">
                <a:solidFill>
                  <a:srgbClr val="000000"/>
                </a:solidFill>
                <a:latin typeface="Calibri"/>
              </a:rPr>
              <a:t>to the first reading after pairing (was a full cooldown)</a:t>
            </a:r>
          </a:p>
        </p:txBody>
      </p:sp>
      <p:sp>
        <p:nvSpPr>
          <p:cNvPr id="34" name="TextBox 33"/>
          <p:cNvSpPr txBox="1"/>
          <p:nvPr/>
        </p:nvSpPr>
        <p:spPr>
          <a:xfrm>
            <a:off x="640080" y="4709160"/>
            <a:ext cx="10881360" cy="1371600"/>
          </a:xfrm>
          <a:prstGeom prst="rect">
            <a:avLst/>
          </a:prstGeom>
          <a:noFill/>
        </p:spPr>
        <p:txBody>
          <a:bodyPr wrap="square" lIns="0" rIns="0" tIns="0" bIns="0" anchor="t">
            <a:spAutoFit/>
          </a:bodyPr>
          <a:lstStyle/>
          <a:p>
            <a:pPr marL="177800" indent="-177800">
              <a:spcAft>
                <a:spcPts val="600"/>
              </a:spcAft>
              <a:buSzPct val="100000"/>
              <a:buChar char="•"/>
            </a:pPr>
            <a:r>
              <a:rPr sz="1500" b="0" i="0">
                <a:solidFill>
                  <a:srgbClr val="000000"/>
                </a:solidFill>
                <a:latin typeface="Calibri"/>
              </a:rPr>
              <a:t>High-rate phone motion sensors run only while the risk tier is elevated, then switch off after 10 minutes</a:t>
            </a:r>
          </a:p>
          <a:p>
            <a:pPr marL="177800" indent="-177800">
              <a:spcAft>
                <a:spcPts val="600"/>
              </a:spcAft>
              <a:buSzPct val="100000"/>
              <a:buChar char="•"/>
            </a:pPr>
            <a:r>
              <a:rPr sz="1500" b="0" i="0">
                <a:solidFill>
                  <a:srgbClr val="000000"/>
                </a:solidFill>
                <a:latin typeface="Calibri"/>
              </a:rPr>
              <a:t>Router, safety classifier and fall-event lookup run in parallel, so safety adds checks without serial waits</a:t>
            </a:r>
          </a:p>
          <a:p>
            <a:pPr marL="177800" indent="-177800">
              <a:spcAft>
                <a:spcPts val="0"/>
              </a:spcAft>
              <a:buSzPct val="100000"/>
              <a:buChar char="•"/>
            </a:pPr>
            <a:r>
              <a:rPr sz="1500" b="0" i="0">
                <a:solidFill>
                  <a:srgbClr val="000000"/>
                </a:solidFill>
                <a:latin typeface="Calibri"/>
              </a:rPr>
              <a:t>CI on GitHub Actions: analyse, test and build the APK on every change</a:t>
            </a:r>
          </a:p>
        </p:txBody>
      </p:sp>
      <p:sp>
        <p:nvSpPr>
          <p:cNvPr id="35" name="Slide number"/>
          <p:cNvSpPr txBox="1"/>
          <p:nvPr/>
        </p:nvSpPr>
        <p:spPr>
          <a:xfrm>
            <a:off x="11457432" y="6446520"/>
            <a:ext cx="457200" cy="274320"/>
          </a:xfrm>
          <a:prstGeom prst="rect">
            <a:avLst/>
          </a:prstGeom>
          <a:noFill/>
        </p:spPr>
        <p:txBody>
          <a:bodyPr wrap="square" lIns="0" rIns="0" tIns="0" bIns="0" anchor="ctr">
            <a:spAutoFit/>
          </a:bodyPr>
          <a:lstStyle/>
          <a:p>
            <a:pPr marL="0" indent="0" algn="r">
              <a:spcAft>
                <a:spcPts val="0"/>
              </a:spcAft>
              <a:buNone/>
            </a:pPr>
            <a:r>
              <a:rPr sz="1000" b="0" i="0">
                <a:solidFill>
                  <a:srgbClr val="808080"/>
                </a:solidFill>
                <a:latin typeface="Calibri"/>
              </a:rPr>
              <a:t>11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9601200" cy="685800"/>
          </a:xfrm>
          <a:prstGeom prst="rect">
            <a:avLst/>
          </a:prstGeom>
          <a:noFill/>
        </p:spPr>
        <p:txBody>
          <a:bodyPr wrap="square" lIns="0" rIns="0" tIns="0" bIns="0" anchor="ctr">
            <a:spAutoFit/>
          </a:bodyPr>
          <a:lstStyle/>
          <a:p>
            <a:pPr marL="0" indent="0">
              <a:spcAft>
                <a:spcPts val="0"/>
              </a:spcAft>
              <a:buNone/>
            </a:pPr>
            <a:r>
              <a:rPr sz="2800" b="1" i="0">
                <a:solidFill>
                  <a:srgbClr val="1D2F82"/>
                </a:solidFill>
                <a:latin typeface="Calibri"/>
              </a:rPr>
              <a:t>Results — Agent Evaluation (11 Scenarios)</a:t>
            </a:r>
          </a:p>
        </p:txBody>
      </p:sp>
      <p:pic>
        <p:nvPicPr>
          <p:cNvPr id="3" name="Logo" descr="image.png"/>
          <p:cNvPicPr>
            <a:picLocks noChangeAspect="1"/>
          </p:cNvPicPr>
          <p:nvPr/>
        </p:nvPicPr>
        <p:blipFill>
          <a:blip r:embed="rId2"/>
          <a:stretch>
            <a:fillRect/>
          </a:stretch>
        </p:blipFill>
        <p:spPr>
          <a:xfrm>
            <a:off x="10360152" y="320040"/>
            <a:ext cx="1371600" cy="521207"/>
          </a:xfrm>
          <a:prstGeom prst="rect">
            <a:avLst/>
          </a:prstGeom>
        </p:spPr>
      </p:pic>
      <p:sp>
        <p:nvSpPr>
          <p:cNvPr id="4" name="Rounded Rectangle 3"/>
          <p:cNvSpPr/>
          <p:nvPr/>
        </p:nvSpPr>
        <p:spPr>
          <a:xfrm>
            <a:off x="640080" y="1280160"/>
            <a:ext cx="1737360" cy="132588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85800" y="1371600"/>
            <a:ext cx="1645920" cy="640080"/>
          </a:xfrm>
          <a:prstGeom prst="rect">
            <a:avLst/>
          </a:prstGeom>
          <a:noFill/>
        </p:spPr>
        <p:txBody>
          <a:bodyPr wrap="square" lIns="0" rIns="0" tIns="0" bIns="0" anchor="ctr">
            <a:spAutoFit/>
          </a:bodyPr>
          <a:lstStyle/>
          <a:p>
            <a:pPr marL="0" indent="0" algn="ctr">
              <a:spcAft>
                <a:spcPts val="0"/>
              </a:spcAft>
              <a:buNone/>
            </a:pPr>
            <a:r>
              <a:rPr sz="2800" b="1" i="0">
                <a:solidFill>
                  <a:srgbClr val="D96C1E"/>
                </a:solidFill>
                <a:latin typeface="Calibri"/>
              </a:rPr>
              <a:t>3 / 3</a:t>
            </a:r>
          </a:p>
        </p:txBody>
      </p:sp>
      <p:sp>
        <p:nvSpPr>
          <p:cNvPr id="6" name="TextBox 5"/>
          <p:cNvSpPr txBox="1"/>
          <p:nvPr/>
        </p:nvSpPr>
        <p:spPr>
          <a:xfrm>
            <a:off x="731519" y="2011680"/>
            <a:ext cx="1554480" cy="548640"/>
          </a:xfrm>
          <a:prstGeom prst="rect">
            <a:avLst/>
          </a:prstGeom>
          <a:noFill/>
        </p:spPr>
        <p:txBody>
          <a:bodyPr wrap="square" lIns="0" rIns="0" tIns="0" bIns="0" anchor="t">
            <a:spAutoFit/>
          </a:bodyPr>
          <a:lstStyle/>
          <a:p>
            <a:pPr marL="0" indent="0" algn="ctr">
              <a:spcAft>
                <a:spcPts val="0"/>
              </a:spcAft>
              <a:buNone/>
            </a:pPr>
            <a:r>
              <a:rPr sz="1300" b="0" i="0">
                <a:solidFill>
                  <a:srgbClr val="000000"/>
                </a:solidFill>
                <a:latin typeface="Calibri"/>
              </a:rPr>
              <a:t>emergencies caught</a:t>
            </a:r>
          </a:p>
        </p:txBody>
      </p:sp>
      <p:sp>
        <p:nvSpPr>
          <p:cNvPr id="7" name="Rounded Rectangle 6"/>
          <p:cNvSpPr/>
          <p:nvPr/>
        </p:nvSpPr>
        <p:spPr>
          <a:xfrm>
            <a:off x="2514600" y="1280160"/>
            <a:ext cx="1737360" cy="132588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60320" y="1371600"/>
            <a:ext cx="1645920" cy="640080"/>
          </a:xfrm>
          <a:prstGeom prst="rect">
            <a:avLst/>
          </a:prstGeom>
          <a:noFill/>
        </p:spPr>
        <p:txBody>
          <a:bodyPr wrap="square" lIns="0" rIns="0" tIns="0" bIns="0" anchor="ctr">
            <a:spAutoFit/>
          </a:bodyPr>
          <a:lstStyle/>
          <a:p>
            <a:pPr marL="0" indent="0" algn="ctr">
              <a:spcAft>
                <a:spcPts val="0"/>
              </a:spcAft>
              <a:buNone/>
            </a:pPr>
            <a:r>
              <a:rPr sz="2800" b="1" i="0">
                <a:solidFill>
                  <a:srgbClr val="D96C1E"/>
                </a:solidFill>
                <a:latin typeface="Calibri"/>
              </a:rPr>
              <a:t>0 / 8</a:t>
            </a:r>
          </a:p>
        </p:txBody>
      </p:sp>
      <p:sp>
        <p:nvSpPr>
          <p:cNvPr id="9" name="TextBox 8"/>
          <p:cNvSpPr txBox="1"/>
          <p:nvPr/>
        </p:nvSpPr>
        <p:spPr>
          <a:xfrm>
            <a:off x="2606040" y="2011680"/>
            <a:ext cx="1554480" cy="548640"/>
          </a:xfrm>
          <a:prstGeom prst="rect">
            <a:avLst/>
          </a:prstGeom>
          <a:noFill/>
        </p:spPr>
        <p:txBody>
          <a:bodyPr wrap="square" lIns="0" rIns="0" tIns="0" bIns="0" anchor="t">
            <a:spAutoFit/>
          </a:bodyPr>
          <a:lstStyle/>
          <a:p>
            <a:pPr marL="0" indent="0" algn="ctr">
              <a:spcAft>
                <a:spcPts val="0"/>
              </a:spcAft>
              <a:buNone/>
            </a:pPr>
            <a:r>
              <a:rPr sz="1300" b="0" i="0">
                <a:solidFill>
                  <a:srgbClr val="000000"/>
                </a:solidFill>
                <a:latin typeface="Calibri"/>
              </a:rPr>
              <a:t>false alarms</a:t>
            </a:r>
          </a:p>
        </p:txBody>
      </p:sp>
      <p:sp>
        <p:nvSpPr>
          <p:cNvPr id="10" name="Rounded Rectangle 9"/>
          <p:cNvSpPr/>
          <p:nvPr/>
        </p:nvSpPr>
        <p:spPr>
          <a:xfrm>
            <a:off x="4389120" y="1280160"/>
            <a:ext cx="1737360" cy="132588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434840" y="1371600"/>
            <a:ext cx="1645920" cy="640080"/>
          </a:xfrm>
          <a:prstGeom prst="rect">
            <a:avLst/>
          </a:prstGeom>
          <a:noFill/>
        </p:spPr>
        <p:txBody>
          <a:bodyPr wrap="square" lIns="0" rIns="0" tIns="0" bIns="0" anchor="ctr">
            <a:spAutoFit/>
          </a:bodyPr>
          <a:lstStyle/>
          <a:p>
            <a:pPr marL="0" indent="0" algn="ctr">
              <a:spcAft>
                <a:spcPts val="0"/>
              </a:spcAft>
              <a:buNone/>
            </a:pPr>
            <a:r>
              <a:rPr sz="2800" b="1" i="0">
                <a:solidFill>
                  <a:srgbClr val="D96C1E"/>
                </a:solidFill>
                <a:latin typeface="Calibri"/>
              </a:rPr>
              <a:t>0.979</a:t>
            </a:r>
          </a:p>
        </p:txBody>
      </p:sp>
      <p:sp>
        <p:nvSpPr>
          <p:cNvPr id="12" name="TextBox 11"/>
          <p:cNvSpPr txBox="1"/>
          <p:nvPr/>
        </p:nvSpPr>
        <p:spPr>
          <a:xfrm>
            <a:off x="4480559" y="2011680"/>
            <a:ext cx="1554480" cy="548640"/>
          </a:xfrm>
          <a:prstGeom prst="rect">
            <a:avLst/>
          </a:prstGeom>
          <a:noFill/>
        </p:spPr>
        <p:txBody>
          <a:bodyPr wrap="square" lIns="0" rIns="0" tIns="0" bIns="0" anchor="t">
            <a:spAutoFit/>
          </a:bodyPr>
          <a:lstStyle/>
          <a:p>
            <a:pPr marL="0" indent="0" algn="ctr">
              <a:spcAft>
                <a:spcPts val="0"/>
              </a:spcAft>
              <a:buNone/>
            </a:pPr>
            <a:r>
              <a:rPr sz="1300" b="0" i="0">
                <a:solidFill>
                  <a:srgbClr val="000000"/>
                </a:solidFill>
                <a:latin typeface="Calibri"/>
              </a:rPr>
              <a:t>strict numeric grounding</a:t>
            </a:r>
          </a:p>
        </p:txBody>
      </p:sp>
      <p:graphicFrame>
        <p:nvGraphicFramePr>
          <p:cNvPr id="13" name="Table 12"/>
          <p:cNvGraphicFramePr>
            <a:graphicFrameLocks noGrp="1"/>
          </p:cNvGraphicFramePr>
          <p:nvPr/>
        </p:nvGraphicFramePr>
        <p:xfrm>
          <a:off x="640080" y="2834640"/>
          <a:ext cx="5486400" cy="1920240"/>
        </p:xfrm>
        <a:graphic>
          <a:graphicData uri="http://schemas.openxmlformats.org/drawingml/2006/table">
            <a:tbl>
              <a:tblPr firstRow="0" bandRow="0">
                <a:tableStyleId>{5940675A-B579-460E-94D1-54222C63F5DA}</a:tableStyleId>
              </a:tblPr>
              <a:tblGrid>
                <a:gridCol w="1920240"/>
                <a:gridCol w="1234440"/>
                <a:gridCol w="1234440"/>
                <a:gridCol w="1097280"/>
              </a:tblGrid>
              <a:tr h="384048">
                <a:tc>
                  <a:txBody>
                    <a:bodyPr wrap="square"/>
                    <a:lstStyle/>
                    <a:p>
                      <a:pPr algn="ctr"/>
                      <a:r>
                        <a:rPr sz="1400" b="1" i="0">
                          <a:solidFill>
                            <a:srgbClr val="FFFFFF"/>
                          </a:solidFill>
                          <a:latin typeface="Calibri"/>
                        </a:rPr>
                        <a:t>Version</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c>
                  <a:txBody>
                    <a:bodyPr wrap="square"/>
                    <a:lstStyle/>
                    <a:p>
                      <a:pPr algn="ctr"/>
                      <a:r>
                        <a:rPr sz="1400" b="1" i="0">
                          <a:solidFill>
                            <a:srgbClr val="FFFFFF"/>
                          </a:solidFill>
                          <a:latin typeface="Calibri"/>
                        </a:rPr>
                        <a:t>Emergencies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c>
                  <a:txBody>
                    <a:bodyPr wrap="square"/>
                    <a:lstStyle/>
                    <a:p>
                      <a:pPr algn="ctr"/>
                      <a:r>
                        <a:rPr sz="1400" b="1" i="0">
                          <a:solidFill>
                            <a:srgbClr val="FFFFFF"/>
                          </a:solidFill>
                          <a:latin typeface="Calibri"/>
                        </a:rPr>
                        <a:t>Grounding</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c>
                  <a:txBody>
                    <a:bodyPr wrap="square"/>
                    <a:lstStyle/>
                    <a:p>
                      <a:pPr algn="ctr"/>
                      <a:r>
                        <a:rPr sz="1400" b="1" i="0">
                          <a:solidFill>
                            <a:srgbClr val="FFFFFF"/>
                          </a:solidFill>
                          <a:latin typeface="Calibri"/>
                        </a:rPr>
                        <a:t>Stale data</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r>
              <a:tr h="384048">
                <a:tc>
                  <a:txBody>
                    <a:bodyPr wrap="square"/>
                    <a:lstStyle/>
                    <a:p>
                      <a:pPr algn="l"/>
                      <a:r>
                        <a:rPr sz="1400" b="0" i="0">
                          <a:solidFill>
                            <a:srgbClr val="000000"/>
                          </a:solidFill>
                          <a:latin typeface="Calibri"/>
                        </a:rPr>
                        <a:t>A – Plain LLM</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ctr"/>
                      <a:r>
                        <a:rPr sz="1400" b="0" i="0">
                          <a:solidFill>
                            <a:srgbClr val="000000"/>
                          </a:solidFill>
                          <a:latin typeface="Calibri"/>
                        </a:rPr>
                        <a:t>0/3</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ctr"/>
                      <a:r>
                        <a:rPr sz="1400" b="0" i="0">
                          <a:solidFill>
                            <a:srgbClr val="000000"/>
                          </a:solidFill>
                          <a:latin typeface="Calibri"/>
                        </a:rPr>
                        <a:t>0.723</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ctr"/>
                      <a:r>
                        <a:rPr sz="1400" b="0" i="0">
                          <a:solidFill>
                            <a:srgbClr val="000000"/>
                          </a:solidFill>
                          <a:latin typeface="Calibri"/>
                        </a:rPr>
                        <a:t>0/1</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r>
              <a:tr h="384048">
                <a:tc>
                  <a:txBody>
                    <a:bodyPr wrap="square"/>
                    <a:lstStyle/>
                    <a:p>
                      <a:pPr algn="l"/>
                      <a:r>
                        <a:rPr sz="1400" b="0" i="0">
                          <a:solidFill>
                            <a:srgbClr val="000000"/>
                          </a:solidFill>
                          <a:latin typeface="Calibri"/>
                        </a:rPr>
                        <a:t>B – Plain RAG</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ctr"/>
                      <a:r>
                        <a:rPr sz="1400" b="0" i="0">
                          <a:solidFill>
                            <a:srgbClr val="000000"/>
                          </a:solidFill>
                          <a:latin typeface="Calibri"/>
                        </a:rPr>
                        <a:t>0/3</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ctr"/>
                      <a:r>
                        <a:rPr sz="1400" b="0" i="0">
                          <a:solidFill>
                            <a:srgbClr val="000000"/>
                          </a:solidFill>
                          <a:latin typeface="Calibri"/>
                        </a:rPr>
                        <a:t>0.606</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ctr"/>
                      <a:r>
                        <a:rPr sz="1400" b="0" i="0">
                          <a:solidFill>
                            <a:srgbClr val="000000"/>
                          </a:solidFill>
                          <a:latin typeface="Calibri"/>
                        </a:rPr>
                        <a:t>0/1</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r>
              <a:tr h="384048">
                <a:tc>
                  <a:txBody>
                    <a:bodyPr wrap="square"/>
                    <a:lstStyle/>
                    <a:p>
                      <a:pPr algn="l"/>
                      <a:r>
                        <a:rPr sz="1400" b="0" i="0">
                          <a:solidFill>
                            <a:srgbClr val="000000"/>
                          </a:solidFill>
                          <a:latin typeface="Calibri"/>
                        </a:rPr>
                        <a:t>C – Baseline agent</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ctr"/>
                      <a:r>
                        <a:rPr sz="1400" b="0" i="0">
                          <a:solidFill>
                            <a:srgbClr val="000000"/>
                          </a:solidFill>
                          <a:latin typeface="Calibri"/>
                        </a:rPr>
                        <a:t>2/3</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ctr"/>
                      <a:r>
                        <a:rPr sz="1400" b="0" i="0">
                          <a:solidFill>
                            <a:srgbClr val="000000"/>
                          </a:solidFill>
                          <a:latin typeface="Calibri"/>
                        </a:rPr>
                        <a:t>0.955</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ctr"/>
                      <a:r>
                        <a:rPr sz="1400" b="0" i="0">
                          <a:solidFill>
                            <a:srgbClr val="000000"/>
                          </a:solidFill>
                          <a:latin typeface="Calibri"/>
                        </a:rPr>
                        <a:t>0/1</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r>
              <a:tr h="384048">
                <a:tc>
                  <a:txBody>
                    <a:bodyPr wrap="square"/>
                    <a:lstStyle/>
                    <a:p>
                      <a:pPr algn="l"/>
                      <a:r>
                        <a:rPr sz="1400" b="0" i="0">
                          <a:solidFill>
                            <a:srgbClr val="000000"/>
                          </a:solidFill>
                          <a:latin typeface="Calibri"/>
                        </a:rPr>
                        <a:t>D – Our agent</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CEBDD"/>
                    </a:solidFill>
                  </a:tcPr>
                </a:tc>
                <a:tc>
                  <a:txBody>
                    <a:bodyPr wrap="square"/>
                    <a:lstStyle/>
                    <a:p>
                      <a:pPr algn="ctr"/>
                      <a:r>
                        <a:rPr sz="1400" b="0" i="0">
                          <a:solidFill>
                            <a:srgbClr val="000000"/>
                          </a:solidFill>
                          <a:latin typeface="Calibri"/>
                        </a:rPr>
                        <a:t>3/3</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CEBDD"/>
                    </a:solidFill>
                  </a:tcPr>
                </a:tc>
                <a:tc>
                  <a:txBody>
                    <a:bodyPr wrap="square"/>
                    <a:lstStyle/>
                    <a:p>
                      <a:pPr algn="ctr"/>
                      <a:r>
                        <a:rPr sz="1400" b="0" i="0">
                          <a:solidFill>
                            <a:srgbClr val="000000"/>
                          </a:solidFill>
                          <a:latin typeface="Calibri"/>
                        </a:rPr>
                        <a:t>0.979</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CEBDD"/>
                    </a:solidFill>
                  </a:tcPr>
                </a:tc>
                <a:tc>
                  <a:txBody>
                    <a:bodyPr wrap="square"/>
                    <a:lstStyle/>
                    <a:p>
                      <a:pPr algn="ctr"/>
                      <a:r>
                        <a:rPr sz="1400" b="0" i="0">
                          <a:solidFill>
                            <a:srgbClr val="000000"/>
                          </a:solidFill>
                          <a:latin typeface="Calibri"/>
                        </a:rPr>
                        <a:t>1/1</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CEBDD"/>
                    </a:solidFill>
                  </a:tcPr>
                </a:tc>
              </a:tr>
            </a:tbl>
          </a:graphicData>
        </a:graphic>
      </p:graphicFrame>
      <p:sp>
        <p:nvSpPr>
          <p:cNvPr id="14" name="TextBox 13"/>
          <p:cNvSpPr txBox="1"/>
          <p:nvPr/>
        </p:nvSpPr>
        <p:spPr>
          <a:xfrm>
            <a:off x="640080" y="4892040"/>
            <a:ext cx="5486400" cy="1188720"/>
          </a:xfrm>
          <a:prstGeom prst="rect">
            <a:avLst/>
          </a:prstGeom>
          <a:noFill/>
        </p:spPr>
        <p:txBody>
          <a:bodyPr wrap="square" lIns="0" rIns="0" tIns="0" bIns="0" anchor="t">
            <a:spAutoFit/>
          </a:bodyPr>
          <a:lstStyle/>
          <a:p>
            <a:pPr marL="177800" indent="-177800">
              <a:spcAft>
                <a:spcPts val="400"/>
              </a:spcAft>
              <a:buSzPct val="100000"/>
              <a:buChar char="•"/>
            </a:pPr>
            <a:r>
              <a:rPr sz="1400" b="0" i="0">
                <a:solidFill>
                  <a:srgbClr val="000000"/>
                </a:solidFill>
                <a:latin typeface="Calibri"/>
              </a:rPr>
              <a:t>No version raised a false alarm, including the "I fell asleep" keyword trap</a:t>
            </a:r>
          </a:p>
          <a:p>
            <a:pPr marL="177800" indent="-177800">
              <a:spcAft>
                <a:spcPts val="0"/>
              </a:spcAft>
              <a:buSzPct val="100000"/>
              <a:buChar char="•"/>
            </a:pPr>
            <a:r>
              <a:rPr sz="1400" b="0" i="0">
                <a:solidFill>
                  <a:srgbClr val="000000"/>
                </a:solidFill>
                <a:latin typeface="Calibri"/>
              </a:rPr>
              <a:t>Self-verification fired once and raised that reply from 0.80 to 1.00</a:t>
            </a:r>
          </a:p>
        </p:txBody>
      </p:sp>
      <p:graphicFrame>
        <p:nvGraphicFramePr>
          <p:cNvPr id="15" name="Chart 14"/>
          <p:cNvGraphicFramePr>
            <a:graphicFrameLocks noGrp="1"/>
          </p:cNvGraphicFramePr>
          <p:nvPr/>
        </p:nvGraphicFramePr>
        <p:xfrm>
          <a:off x="6400800" y="1234440"/>
          <a:ext cx="5120640" cy="4846320"/>
        </p:xfrm>
        <a:graphic>
          <a:graphicData uri="http://schemas.openxmlformats.org/drawingml/2006/chart">
            <c:chart xmlns:c="http://schemas.openxmlformats.org/drawingml/2006/chart" r:id="rId4"/>
          </a:graphicData>
        </a:graphic>
      </p:graphicFrame>
      <p:sp>
        <p:nvSpPr>
          <p:cNvPr id="16" name="Slide number"/>
          <p:cNvSpPr txBox="1"/>
          <p:nvPr/>
        </p:nvSpPr>
        <p:spPr>
          <a:xfrm>
            <a:off x="11457432" y="6446520"/>
            <a:ext cx="457200" cy="274320"/>
          </a:xfrm>
          <a:prstGeom prst="rect">
            <a:avLst/>
          </a:prstGeom>
          <a:noFill/>
        </p:spPr>
        <p:txBody>
          <a:bodyPr wrap="square" lIns="0" rIns="0" tIns="0" bIns="0" anchor="ctr">
            <a:spAutoFit/>
          </a:bodyPr>
          <a:lstStyle/>
          <a:p>
            <a:pPr marL="0" indent="0" algn="r">
              <a:spcAft>
                <a:spcPts val="0"/>
              </a:spcAft>
              <a:buNone/>
            </a:pPr>
            <a:r>
              <a:rPr sz="1000" b="0" i="0">
                <a:solidFill>
                  <a:srgbClr val="808080"/>
                </a:solidFill>
                <a:latin typeface="Calibri"/>
              </a:rPr>
              <a:t>12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9601200" cy="685800"/>
          </a:xfrm>
          <a:prstGeom prst="rect">
            <a:avLst/>
          </a:prstGeom>
          <a:noFill/>
        </p:spPr>
        <p:txBody>
          <a:bodyPr wrap="square" lIns="0" rIns="0" tIns="0" bIns="0" anchor="ctr">
            <a:spAutoFit/>
          </a:bodyPr>
          <a:lstStyle/>
          <a:p>
            <a:pPr marL="0" indent="0">
              <a:spcAft>
                <a:spcPts val="0"/>
              </a:spcAft>
              <a:buNone/>
            </a:pPr>
            <a:r>
              <a:rPr sz="2800" b="1" i="0">
                <a:solidFill>
                  <a:srgbClr val="1D2F82"/>
                </a:solidFill>
                <a:latin typeface="Calibri"/>
              </a:rPr>
              <a:t>Results — Fall Risk Scores &amp; Cycle-Aware Baselines</a:t>
            </a:r>
          </a:p>
        </p:txBody>
      </p:sp>
      <p:pic>
        <p:nvPicPr>
          <p:cNvPr id="3" name="Logo" descr="image.png"/>
          <p:cNvPicPr>
            <a:picLocks noChangeAspect="1"/>
          </p:cNvPicPr>
          <p:nvPr/>
        </p:nvPicPr>
        <p:blipFill>
          <a:blip r:embed="rId2"/>
          <a:stretch>
            <a:fillRect/>
          </a:stretch>
        </p:blipFill>
        <p:spPr>
          <a:xfrm>
            <a:off x="10360152" y="320040"/>
            <a:ext cx="1371600" cy="521207"/>
          </a:xfrm>
          <a:prstGeom prst="rect">
            <a:avLst/>
          </a:prstGeom>
        </p:spPr>
      </p:pic>
      <p:graphicFrame>
        <p:nvGraphicFramePr>
          <p:cNvPr id="4" name="Table 3"/>
          <p:cNvGraphicFramePr>
            <a:graphicFrameLocks noGrp="1"/>
          </p:cNvGraphicFramePr>
          <p:nvPr/>
        </p:nvGraphicFramePr>
        <p:xfrm>
          <a:off x="640080" y="1280160"/>
          <a:ext cx="5852159" cy="2743200"/>
        </p:xfrm>
        <a:graphic>
          <a:graphicData uri="http://schemas.openxmlformats.org/drawingml/2006/table">
            <a:tbl>
              <a:tblPr firstRow="0" bandRow="0">
                <a:tableStyleId>{5940675A-B579-460E-94D1-54222C63F5DA}</a:tableStyleId>
              </a:tblPr>
              <a:tblGrid>
                <a:gridCol w="2331720"/>
                <a:gridCol w="594360"/>
                <a:gridCol w="1051560"/>
                <a:gridCol w="1874519"/>
              </a:tblGrid>
              <a:tr h="457200">
                <a:tc>
                  <a:txBody>
                    <a:bodyPr wrap="square"/>
                    <a:lstStyle/>
                    <a:p>
                      <a:pPr algn="ctr"/>
                      <a:r>
                        <a:rPr sz="1200" b="1" i="0">
                          <a:solidFill>
                            <a:srgbClr val="FFFFFF"/>
                          </a:solidFill>
                          <a:latin typeface="Calibri"/>
                        </a:rPr>
                        <a:t>Demo user</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c>
                  <a:txBody>
                    <a:bodyPr wrap="square"/>
                    <a:lstStyle/>
                    <a:p>
                      <a:pPr algn="ctr"/>
                      <a:r>
                        <a:rPr sz="1200" b="1" i="0">
                          <a:solidFill>
                            <a:srgbClr val="FFFFFF"/>
                          </a:solidFill>
                          <a:latin typeface="Calibri"/>
                        </a:rPr>
                        <a:t>FRS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c>
                  <a:txBody>
                    <a:bodyPr wrap="square"/>
                    <a:lstStyle/>
                    <a:p>
                      <a:pPr algn="ctr"/>
                      <a:r>
                        <a:rPr sz="1200" b="1" i="0">
                          <a:solidFill>
                            <a:srgbClr val="FFFFFF"/>
                          </a:solidFill>
                          <a:latin typeface="Calibri"/>
                        </a:rPr>
                        <a:t>Tier</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c>
                  <a:txBody>
                    <a:bodyPr wrap="square"/>
                    <a:lstStyle/>
                    <a:p>
                      <a:pPr algn="ctr"/>
                      <a:r>
                        <a:rPr sz="1200" b="1" i="0">
                          <a:solidFill>
                            <a:srgbClr val="FFFFFF"/>
                          </a:solidFill>
                          <a:latin typeface="Calibri"/>
                        </a:rPr>
                        <a:t>Top contributors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r>
              <a:tr h="457200">
                <a:tc>
                  <a:txBody>
                    <a:bodyPr wrap="square"/>
                    <a:lstStyle/>
                    <a:p>
                      <a:pPr algn="l"/>
                      <a:r>
                        <a:rPr sz="1200" b="0" i="0">
                          <a:solidFill>
                            <a:srgbClr val="000000"/>
                          </a:solidFill>
                          <a:latin typeface="Calibri"/>
                        </a:rPr>
                        <a:t>Arun (healthy)</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ctr"/>
                      <a:r>
                        <a:rPr sz="1200" b="0" i="0">
                          <a:solidFill>
                            <a:srgbClr val="000000"/>
                          </a:solidFill>
                          <a:latin typeface="Calibri"/>
                        </a:rPr>
                        <a:t>6</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ctr"/>
                      <a:r>
                        <a:rPr sz="1200" b="0" i="0">
                          <a:solidFill>
                            <a:srgbClr val="000000"/>
                          </a:solidFill>
                          <a:latin typeface="Calibri"/>
                        </a:rPr>
                        <a:t>LOW</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200" b="0" i="0">
                          <a:solidFill>
                            <a:srgbClr val="000000"/>
                          </a:solidFill>
                          <a:latin typeface="Calibri"/>
                        </a:rPr>
                        <a:t>steps +5.2, SpO₂ +1.1</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r>
              <a:tr h="457200">
                <a:tc>
                  <a:txBody>
                    <a:bodyPr wrap="square"/>
                    <a:lstStyle/>
                    <a:p>
                      <a:pPr algn="l"/>
                      <a:r>
                        <a:rPr sz="1200" b="0" i="0">
                          <a:solidFill>
                            <a:srgbClr val="000000"/>
                          </a:solidFill>
                          <a:latin typeface="Calibri"/>
                        </a:rPr>
                        <a:t>Meera (luteal + poor recovery)</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ctr"/>
                      <a:r>
                        <a:rPr sz="1200" b="0" i="0">
                          <a:solidFill>
                            <a:srgbClr val="000000"/>
                          </a:solidFill>
                          <a:latin typeface="Calibri"/>
                        </a:rPr>
                        <a:t>47</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ctr"/>
                      <a:r>
                        <a:rPr sz="1200" b="0" i="0">
                          <a:solidFill>
                            <a:srgbClr val="000000"/>
                          </a:solidFill>
                          <a:latin typeface="Calibri"/>
                        </a:rPr>
                        <a:t>MODERATE</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200" b="0" i="0">
                          <a:solidFill>
                            <a:srgbClr val="000000"/>
                          </a:solidFill>
                          <a:latin typeface="Calibri"/>
                        </a:rPr>
                        <a:t>past fall +24.1, HRV +7.5</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r>
              <a:tr h="457200">
                <a:tc>
                  <a:txBody>
                    <a:bodyPr wrap="square"/>
                    <a:lstStyle/>
                    <a:p>
                      <a:pPr algn="l"/>
                      <a:r>
                        <a:rPr sz="1200" b="0" i="0">
                          <a:solidFill>
                            <a:srgbClr val="000000"/>
                          </a:solidFill>
                          <a:latin typeface="Calibri"/>
                        </a:rPr>
                        <a:t>Ravi (4-day-old data)</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ctr"/>
                      <a:r>
                        <a:rPr sz="1200" b="0" i="0">
                          <a:solidFill>
                            <a:srgbClr val="000000"/>
                          </a:solidFill>
                          <a:latin typeface="Calibri"/>
                        </a:rPr>
                        <a:t>3</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ctr"/>
                      <a:r>
                        <a:rPr sz="1200" b="0" i="0">
                          <a:solidFill>
                            <a:srgbClr val="000000"/>
                          </a:solidFill>
                          <a:latin typeface="Calibri"/>
                        </a:rPr>
                        <a:t>LOW</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200" b="0" i="0">
                          <a:solidFill>
                            <a:srgbClr val="000000"/>
                          </a:solidFill>
                          <a:latin typeface="Calibri"/>
                        </a:rPr>
                        <a:t>confidence Q 70, disclosed</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r>
              <a:tr h="457200">
                <a:tc>
                  <a:txBody>
                    <a:bodyPr wrap="square"/>
                    <a:lstStyle/>
                    <a:p>
                      <a:pPr algn="l"/>
                      <a:r>
                        <a:rPr sz="1200" b="0" i="0">
                          <a:solidFill>
                            <a:srgbClr val="000000"/>
                          </a:solidFill>
                          <a:latin typeface="Calibri"/>
                        </a:rPr>
                        <a:t>Lakshmi (recent fall)</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ctr"/>
                      <a:r>
                        <a:rPr sz="1200" b="0" i="0">
                          <a:solidFill>
                            <a:srgbClr val="000000"/>
                          </a:solidFill>
                          <a:latin typeface="Calibri"/>
                        </a:rPr>
                        <a:t>71</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ctr"/>
                      <a:r>
                        <a:rPr sz="1200" b="0" i="0">
                          <a:solidFill>
                            <a:srgbClr val="000000"/>
                          </a:solidFill>
                          <a:latin typeface="Calibri"/>
                        </a:rPr>
                        <a:t>HIGH</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200" b="0" i="0">
                          <a:solidFill>
                            <a:srgbClr val="000000"/>
                          </a:solidFill>
                          <a:latin typeface="Calibri"/>
                        </a:rPr>
                        <a:t>falls +40.2, near-falls +14.5</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r>
              <a:tr h="457200">
                <a:tc>
                  <a:txBody>
                    <a:bodyPr wrap="square"/>
                    <a:lstStyle/>
                    <a:p>
                      <a:pPr algn="l"/>
                      <a:r>
                        <a:rPr sz="1200" b="0" i="0">
                          <a:solidFill>
                            <a:srgbClr val="000000"/>
                          </a:solidFill>
                          <a:latin typeface="Calibri"/>
                        </a:rPr>
                        <a:t>Priya (healthy luteal)</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ctr"/>
                      <a:r>
                        <a:rPr sz="1200" b="0" i="0">
                          <a:solidFill>
                            <a:srgbClr val="000000"/>
                          </a:solidFill>
                          <a:latin typeface="Calibri"/>
                        </a:rPr>
                        <a:t>4</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ctr"/>
                      <a:r>
                        <a:rPr sz="1200" b="0" i="0">
                          <a:solidFill>
                            <a:srgbClr val="000000"/>
                          </a:solidFill>
                          <a:latin typeface="Calibri"/>
                        </a:rPr>
                        <a:t>LOW</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200" b="0" i="0">
                          <a:solidFill>
                            <a:srgbClr val="000000"/>
                          </a:solidFill>
                          <a:latin typeface="Calibri"/>
                        </a:rPr>
                        <a:t>HRV +2.5</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r>
            </a:tbl>
          </a:graphicData>
        </a:graphic>
      </p:graphicFrame>
      <p:sp>
        <p:nvSpPr>
          <p:cNvPr id="5" name="TextBox 4"/>
          <p:cNvSpPr txBox="1"/>
          <p:nvPr/>
        </p:nvSpPr>
        <p:spPr>
          <a:xfrm>
            <a:off x="640080" y="4206240"/>
            <a:ext cx="5852160" cy="1828800"/>
          </a:xfrm>
          <a:prstGeom prst="rect">
            <a:avLst/>
          </a:prstGeom>
          <a:noFill/>
        </p:spPr>
        <p:txBody>
          <a:bodyPr wrap="square" lIns="0" rIns="0" tIns="0" bIns="0" anchor="t">
            <a:spAutoFit/>
          </a:bodyPr>
          <a:lstStyle/>
          <a:p>
            <a:pPr marL="177800" indent="-177800">
              <a:spcAft>
                <a:spcPts val="600"/>
              </a:spcAft>
              <a:buSzPct val="100000"/>
              <a:buChar char="•"/>
            </a:pPr>
            <a:r>
              <a:rPr sz="1400" b="0" i="0">
                <a:solidFill>
                  <a:srgbClr val="000000"/>
                </a:solidFill>
                <a:latin typeface="Calibri"/>
              </a:rPr>
              <a:t>Every score is the exact sum of its contributions (checked by a unit test)</a:t>
            </a:r>
          </a:p>
          <a:p>
            <a:pPr marL="177800" indent="-177800">
              <a:spcAft>
                <a:spcPts val="600"/>
              </a:spcAft>
              <a:buSzPct val="100000"/>
              <a:buChar char="•"/>
            </a:pPr>
            <a:r>
              <a:rPr sz="1400" b="0" i="0">
                <a:solidFill>
                  <a:srgbClr val="000000"/>
                </a:solidFill>
                <a:latin typeface="Calibri"/>
              </a:rPr>
              <a:t>Stale data lowers confidence Q, and the agent must say so</a:t>
            </a:r>
          </a:p>
          <a:p>
            <a:pPr marL="177800" indent="-177800">
              <a:spcAft>
                <a:spcPts val="0"/>
              </a:spcAft>
              <a:buSzPct val="100000"/>
              <a:buChar char="•"/>
            </a:pPr>
            <a:r>
              <a:rPr sz="1400" b="0" i="0">
                <a:solidFill>
                  <a:srgbClr val="000000"/>
                </a:solidFill>
                <a:latin typeface="Calibri"/>
              </a:rPr>
              <a:t>Cycle-aware baselines: luteal +0.3 °C, +2 bpm, −7% HRV are treated as normal</a:t>
            </a:r>
          </a:p>
        </p:txBody>
      </p:sp>
      <p:graphicFrame>
        <p:nvGraphicFramePr>
          <p:cNvPr id="6" name="Chart 5"/>
          <p:cNvGraphicFramePr>
            <a:graphicFrameLocks noGrp="1"/>
          </p:cNvGraphicFramePr>
          <p:nvPr/>
        </p:nvGraphicFramePr>
        <p:xfrm>
          <a:off x="6766560" y="1234440"/>
          <a:ext cx="4754880" cy="4343400"/>
        </p:xfrm>
        <a:graphic>
          <a:graphicData uri="http://schemas.openxmlformats.org/drawingml/2006/chart">
            <c:chart xmlns:c="http://schemas.openxmlformats.org/drawingml/2006/chart" r:id="rId4"/>
          </a:graphicData>
        </a:graphic>
      </p:graphicFrame>
      <p:sp>
        <p:nvSpPr>
          <p:cNvPr id="7" name="TextBox 6"/>
          <p:cNvSpPr txBox="1"/>
          <p:nvPr/>
        </p:nvSpPr>
        <p:spPr>
          <a:xfrm>
            <a:off x="6766560" y="5623560"/>
            <a:ext cx="4754880" cy="457200"/>
          </a:xfrm>
          <a:prstGeom prst="rect">
            <a:avLst/>
          </a:prstGeom>
          <a:noFill/>
        </p:spPr>
        <p:txBody>
          <a:bodyPr wrap="square" lIns="0" rIns="0" tIns="0" bIns="0" anchor="t">
            <a:spAutoFit/>
          </a:bodyPr>
          <a:lstStyle/>
          <a:p>
            <a:pPr marL="0" indent="0" algn="ctr">
              <a:spcAft>
                <a:spcPts val="0"/>
              </a:spcAft>
              <a:buNone/>
            </a:pPr>
            <a:r>
              <a:rPr sz="1400" b="1" i="0">
                <a:solidFill>
                  <a:srgbClr val="1D2F82"/>
                </a:solidFill>
                <a:latin typeface="Calibri"/>
              </a:rPr>
              <a:t>−43%</a:t>
            </a:r>
            <a:r>
              <a:rPr sz="1400" b="0" i="0">
                <a:solidFill>
                  <a:srgbClr val="1D2F82"/>
                </a:solidFill>
                <a:latin typeface="Calibri"/>
              </a:rPr>
              <a:t> (Priya) and </a:t>
            </a:r>
            <a:r>
              <a:rPr sz="1400" b="1" i="0">
                <a:solidFill>
                  <a:srgbClr val="1D2F82"/>
                </a:solidFill>
                <a:latin typeface="Calibri"/>
              </a:rPr>
              <a:t>−40%</a:t>
            </a:r>
            <a:r>
              <a:rPr sz="1400" b="0" i="0">
                <a:solidFill>
                  <a:srgbClr val="1D2F82"/>
                </a:solidFill>
                <a:latin typeface="Calibri"/>
              </a:rPr>
              <a:t> (Meera); Meera's false flags 2 → 0</a:t>
            </a:r>
          </a:p>
        </p:txBody>
      </p:sp>
      <p:sp>
        <p:nvSpPr>
          <p:cNvPr id="8" name="Slide number"/>
          <p:cNvSpPr txBox="1"/>
          <p:nvPr/>
        </p:nvSpPr>
        <p:spPr>
          <a:xfrm>
            <a:off x="11457432" y="6446520"/>
            <a:ext cx="457200" cy="274320"/>
          </a:xfrm>
          <a:prstGeom prst="rect">
            <a:avLst/>
          </a:prstGeom>
          <a:noFill/>
        </p:spPr>
        <p:txBody>
          <a:bodyPr wrap="square" lIns="0" rIns="0" tIns="0" bIns="0" anchor="ctr">
            <a:spAutoFit/>
          </a:bodyPr>
          <a:lstStyle/>
          <a:p>
            <a:pPr marL="0" indent="0" algn="r">
              <a:spcAft>
                <a:spcPts val="0"/>
              </a:spcAft>
              <a:buNone/>
            </a:pPr>
            <a:r>
              <a:rPr sz="1000" b="0" i="0">
                <a:solidFill>
                  <a:srgbClr val="808080"/>
                </a:solidFill>
                <a:latin typeface="Calibri"/>
              </a:rPr>
              <a:t>13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9601200" cy="685800"/>
          </a:xfrm>
          <a:prstGeom prst="rect">
            <a:avLst/>
          </a:prstGeom>
          <a:noFill/>
        </p:spPr>
        <p:txBody>
          <a:bodyPr wrap="square" lIns="0" rIns="0" tIns="0" bIns="0" anchor="ctr">
            <a:spAutoFit/>
          </a:bodyPr>
          <a:lstStyle/>
          <a:p>
            <a:pPr marL="0" indent="0">
              <a:spcAft>
                <a:spcPts val="0"/>
              </a:spcAft>
              <a:buNone/>
            </a:pPr>
            <a:r>
              <a:rPr sz="2800" b="1" i="0">
                <a:solidFill>
                  <a:srgbClr val="1D2F82"/>
                </a:solidFill>
                <a:latin typeface="Calibri"/>
              </a:rPr>
              <a:t>Results — Validation on Real Data (PhysioNet LTMM)</a:t>
            </a:r>
          </a:p>
        </p:txBody>
      </p:sp>
      <p:pic>
        <p:nvPicPr>
          <p:cNvPr id="3" name="Logo" descr="image.png"/>
          <p:cNvPicPr>
            <a:picLocks noChangeAspect="1"/>
          </p:cNvPicPr>
          <p:nvPr/>
        </p:nvPicPr>
        <p:blipFill>
          <a:blip r:embed="rId2"/>
          <a:stretch>
            <a:fillRect/>
          </a:stretch>
        </p:blipFill>
        <p:spPr>
          <a:xfrm>
            <a:off x="10360152" y="320040"/>
            <a:ext cx="1371600" cy="521207"/>
          </a:xfrm>
          <a:prstGeom prst="rect">
            <a:avLst/>
          </a:prstGeom>
        </p:spPr>
      </p:pic>
      <p:sp>
        <p:nvSpPr>
          <p:cNvPr id="4" name="TextBox 3"/>
          <p:cNvSpPr txBox="1"/>
          <p:nvPr/>
        </p:nvSpPr>
        <p:spPr>
          <a:xfrm>
            <a:off x="640080" y="1280160"/>
            <a:ext cx="4846320" cy="2697480"/>
          </a:xfrm>
          <a:prstGeom prst="rect">
            <a:avLst/>
          </a:prstGeom>
          <a:noFill/>
        </p:spPr>
        <p:txBody>
          <a:bodyPr wrap="square" lIns="0" rIns="0" tIns="0" bIns="0" anchor="t">
            <a:spAutoFit/>
          </a:bodyPr>
          <a:lstStyle/>
          <a:p>
            <a:pPr marL="177800" indent="-177800">
              <a:spcAft>
                <a:spcPts val="500"/>
              </a:spcAft>
              <a:buSzPct val="100000"/>
              <a:buChar char="•"/>
            </a:pPr>
            <a:r>
              <a:rPr sz="1400" b="1" i="0">
                <a:solidFill>
                  <a:srgbClr val="000000"/>
                </a:solidFill>
                <a:latin typeface="Calibri"/>
              </a:rPr>
              <a:t>Why LTMM:</a:t>
            </a:r>
            <a:r>
              <a:rPr sz="1400" b="0" i="0">
                <a:solidFill>
                  <a:srgbClr val="000000"/>
                </a:solidFill>
                <a:latin typeface="Calibri"/>
              </a:rPr>
              <a:t> our ring users have no recorded falls; LTMM is the public dataset with real older adults, movement sensors and known fall history</a:t>
            </a:r>
          </a:p>
          <a:p>
            <a:pPr marL="177800" indent="-177800">
              <a:spcAft>
                <a:spcPts val="500"/>
              </a:spcAft>
              <a:buSzPct val="100000"/>
              <a:buChar char="•"/>
            </a:pPr>
            <a:r>
              <a:rPr sz="1400" b="1" i="0">
                <a:solidFill>
                  <a:srgbClr val="000000"/>
                </a:solidFill>
                <a:latin typeface="Calibri"/>
              </a:rPr>
              <a:t>Data:</a:t>
            </a:r>
            <a:r>
              <a:rPr sz="1400" b="0" i="0">
                <a:solidFill>
                  <a:srgbClr val="000000"/>
                </a:solidFill>
                <a:latin typeface="Calibri"/>
              </a:rPr>
              <a:t> 73 adults (35 fallers, 38 non-fallers), lower-back accelerometer, 1-min lab walk at 100 Hz</a:t>
            </a:r>
          </a:p>
          <a:p>
            <a:pPr marL="177800" indent="-177800">
              <a:spcAft>
                <a:spcPts val="0"/>
              </a:spcAft>
              <a:buSzPct val="100000"/>
              <a:buChar char="•"/>
            </a:pPr>
            <a:r>
              <a:rPr sz="1400" b="1" i="0">
                <a:solidFill>
                  <a:srgbClr val="000000"/>
                </a:solidFill>
                <a:latin typeface="Calibri"/>
              </a:rPr>
              <a:t>Method:</a:t>
            </a:r>
            <a:r>
              <a:rPr sz="1400" b="0" i="0">
                <a:solidFill>
                  <a:srgbClr val="000000"/>
                </a:solidFill>
                <a:latin typeface="Calibri"/>
              </a:rPr>
              <a:t> same idea as the engine — no training, fixed rules, feature directions from the literature</a:t>
            </a:r>
          </a:p>
        </p:txBody>
      </p:sp>
      <p:sp>
        <p:nvSpPr>
          <p:cNvPr id="5" name="Rounded Rectangle 4"/>
          <p:cNvSpPr/>
          <p:nvPr/>
        </p:nvSpPr>
        <p:spPr>
          <a:xfrm>
            <a:off x="640080" y="4069080"/>
            <a:ext cx="4846320" cy="201168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60" y="4133087"/>
            <a:ext cx="4526280" cy="1874519"/>
          </a:xfrm>
          <a:prstGeom prst="rect">
            <a:avLst/>
          </a:prstGeom>
          <a:noFill/>
        </p:spPr>
        <p:txBody>
          <a:bodyPr wrap="square" lIns="0" rIns="0" tIns="0" bIns="0" anchor="t">
            <a:spAutoFit/>
          </a:bodyPr>
          <a:lstStyle/>
          <a:p>
            <a:pPr marL="0" indent="0">
              <a:spcAft>
                <a:spcPts val="300"/>
              </a:spcAft>
              <a:buNone/>
            </a:pPr>
            <a:r>
              <a:rPr sz="1500" b="1" i="0">
                <a:solidFill>
                  <a:srgbClr val="1D2F82"/>
                </a:solidFill>
                <a:latin typeface="Calibri"/>
              </a:rPr>
              <a:t>Honest limitations</a:t>
            </a:r>
          </a:p>
          <a:p>
            <a:pPr marL="177800" indent="-177800">
              <a:spcAft>
                <a:spcPts val="200"/>
              </a:spcAft>
              <a:buSzPct val="100000"/>
              <a:buChar char="•"/>
            </a:pPr>
            <a:r>
              <a:rPr sz="1300" b="0" i="0">
                <a:solidFill>
                  <a:srgbClr val="000000"/>
                </a:solidFill>
                <a:latin typeface="Calibri"/>
              </a:rPr>
              <a:t>Sensor on the back, not the finger — validates the approach</a:t>
            </a:r>
          </a:p>
          <a:p>
            <a:pPr marL="177800" indent="-177800">
              <a:spcAft>
                <a:spcPts val="200"/>
              </a:spcAft>
              <a:buSzPct val="100000"/>
              <a:buChar char="•"/>
            </a:pPr>
            <a:r>
              <a:rPr sz="1300" b="0" i="0">
                <a:solidFill>
                  <a:srgbClr val="000000"/>
                </a:solidFill>
                <a:latin typeface="Calibri"/>
              </a:rPr>
              <a:t>Tests the motion layer only</a:t>
            </a:r>
          </a:p>
          <a:p>
            <a:pPr marL="177800" indent="-177800">
              <a:spcAft>
                <a:spcPts val="200"/>
              </a:spcAft>
              <a:buSzPct val="100000"/>
              <a:buChar char="•"/>
            </a:pPr>
            <a:r>
              <a:rPr sz="1300" b="0" i="0">
                <a:solidFill>
                  <a:srgbClr val="000000"/>
                </a:solidFill>
                <a:latin typeface="Calibri"/>
              </a:rPr>
              <a:t>Fallers defined by past falls; n = 73 (CI 0.56–0.81)</a:t>
            </a:r>
          </a:p>
          <a:p>
            <a:pPr marL="177800" indent="-177800">
              <a:spcAft>
                <a:spcPts val="0"/>
              </a:spcAft>
              <a:buSzPct val="100000"/>
              <a:buChar char="•"/>
            </a:pPr>
            <a:r>
              <a:rPr sz="1300" b="0" i="0">
                <a:solidFill>
                  <a:srgbClr val="000000"/>
                </a:solidFill>
                <a:latin typeface="Calibri"/>
              </a:rPr>
              <a:t>3-day home walking did not add information (0.650 vs 0.655)</a:t>
            </a:r>
          </a:p>
        </p:txBody>
      </p:sp>
      <p:graphicFrame>
        <p:nvGraphicFramePr>
          <p:cNvPr id="7" name="Chart 6"/>
          <p:cNvGraphicFramePr>
            <a:graphicFrameLocks noGrp="1"/>
          </p:cNvGraphicFramePr>
          <p:nvPr/>
        </p:nvGraphicFramePr>
        <p:xfrm>
          <a:off x="5760720" y="1234440"/>
          <a:ext cx="5760720" cy="4846320"/>
        </p:xfrm>
        <a:graphic>
          <a:graphicData uri="http://schemas.openxmlformats.org/drawingml/2006/chart">
            <c:chart xmlns:c="http://schemas.openxmlformats.org/drawingml/2006/chart" r:id="rId4"/>
          </a:graphicData>
        </a:graphic>
      </p:graphicFrame>
      <p:sp>
        <p:nvSpPr>
          <p:cNvPr id="8" name="Slide number"/>
          <p:cNvSpPr txBox="1"/>
          <p:nvPr/>
        </p:nvSpPr>
        <p:spPr>
          <a:xfrm>
            <a:off x="11457432" y="6446520"/>
            <a:ext cx="457200" cy="274320"/>
          </a:xfrm>
          <a:prstGeom prst="rect">
            <a:avLst/>
          </a:prstGeom>
          <a:noFill/>
        </p:spPr>
        <p:txBody>
          <a:bodyPr wrap="square" lIns="0" rIns="0" tIns="0" bIns="0" anchor="ctr">
            <a:spAutoFit/>
          </a:bodyPr>
          <a:lstStyle/>
          <a:p>
            <a:pPr marL="0" indent="0" algn="r">
              <a:spcAft>
                <a:spcPts val="0"/>
              </a:spcAft>
              <a:buNone/>
            </a:pPr>
            <a:r>
              <a:rPr sz="1000" b="0" i="0">
                <a:solidFill>
                  <a:srgbClr val="808080"/>
                </a:solidFill>
                <a:latin typeface="Calibri"/>
              </a:rPr>
              <a:t>14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9601200" cy="685800"/>
          </a:xfrm>
          <a:prstGeom prst="rect">
            <a:avLst/>
          </a:prstGeom>
          <a:noFill/>
        </p:spPr>
        <p:txBody>
          <a:bodyPr wrap="square" lIns="0" rIns="0" tIns="0" bIns="0" anchor="ctr">
            <a:spAutoFit/>
          </a:bodyPr>
          <a:lstStyle/>
          <a:p>
            <a:pPr marL="0" indent="0">
              <a:spcAft>
                <a:spcPts val="0"/>
              </a:spcAft>
              <a:buNone/>
            </a:pPr>
            <a:r>
              <a:rPr sz="2800" b="1" i="0">
                <a:solidFill>
                  <a:srgbClr val="1D2F82"/>
                </a:solidFill>
                <a:latin typeface="Calibri"/>
              </a:rPr>
              <a:t>Results — Comparison with Existing Solutions</a:t>
            </a:r>
          </a:p>
        </p:txBody>
      </p:sp>
      <p:pic>
        <p:nvPicPr>
          <p:cNvPr id="3" name="Logo" descr="image.png"/>
          <p:cNvPicPr>
            <a:picLocks noChangeAspect="1"/>
          </p:cNvPicPr>
          <p:nvPr/>
        </p:nvPicPr>
        <p:blipFill>
          <a:blip r:embed="rId2"/>
          <a:stretch>
            <a:fillRect/>
          </a:stretch>
        </p:blipFill>
        <p:spPr>
          <a:xfrm>
            <a:off x="10360152" y="320040"/>
            <a:ext cx="1371600" cy="521207"/>
          </a:xfrm>
          <a:prstGeom prst="rect">
            <a:avLst/>
          </a:prstGeom>
        </p:spPr>
      </p:pic>
      <p:graphicFrame>
        <p:nvGraphicFramePr>
          <p:cNvPr id="4" name="Table 3"/>
          <p:cNvGraphicFramePr>
            <a:graphicFrameLocks noGrp="1"/>
          </p:cNvGraphicFramePr>
          <p:nvPr/>
        </p:nvGraphicFramePr>
        <p:xfrm>
          <a:off x="640080" y="1280160"/>
          <a:ext cx="10881360" cy="4535424"/>
        </p:xfrm>
        <a:graphic>
          <a:graphicData uri="http://schemas.openxmlformats.org/drawingml/2006/table">
            <a:tbl>
              <a:tblPr firstRow="0" bandRow="0">
                <a:tableStyleId>{5940675A-B579-460E-94D1-54222C63F5DA}</a:tableStyleId>
              </a:tblPr>
              <a:tblGrid>
                <a:gridCol w="2743200"/>
                <a:gridCol w="2743200"/>
                <a:gridCol w="2514600"/>
                <a:gridCol w="2880360"/>
              </a:tblGrid>
              <a:tr h="566928">
                <a:tc>
                  <a:txBody>
                    <a:bodyPr wrap="square"/>
                    <a:lstStyle/>
                    <a:p>
                      <a:pPr algn="ctr"/>
                      <a:r>
                        <a:rPr sz="1300" b="1" i="0">
                          <a:solidFill>
                            <a:srgbClr val="FFFFFF"/>
                          </a:solidFill>
                          <a:latin typeface="Calibri"/>
                        </a:rPr>
                        <a:t>Existing work</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c>
                  <a:txBody>
                    <a:bodyPr wrap="square"/>
                    <a:lstStyle/>
                    <a:p>
                      <a:pPr algn="ctr"/>
                      <a:r>
                        <a:rPr sz="1300" b="1" i="0">
                          <a:solidFill>
                            <a:srgbClr val="FFFFFF"/>
                          </a:solidFill>
                          <a:latin typeface="Calibri"/>
                        </a:rPr>
                        <a:t>What it does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c>
                  <a:txBody>
                    <a:bodyPr wrap="square"/>
                    <a:lstStyle/>
                    <a:p>
                      <a:pPr algn="ctr"/>
                      <a:r>
                        <a:rPr sz="1300" b="1" i="0">
                          <a:solidFill>
                            <a:srgbClr val="FFFFFF"/>
                          </a:solidFill>
                          <a:latin typeface="Calibri"/>
                        </a:rPr>
                        <a:t>What is missing</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c>
                  <a:txBody>
                    <a:bodyPr wrap="square"/>
                    <a:lstStyle/>
                    <a:p>
                      <a:pPr algn="ctr"/>
                      <a:r>
                        <a:rPr sz="1300" b="1" i="0">
                          <a:solidFill>
                            <a:srgbClr val="FFFFFF"/>
                          </a:solidFill>
                          <a:latin typeface="Calibri"/>
                        </a:rPr>
                        <a:t>Our approach</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r>
              <a:tr h="566928">
                <a:tc>
                  <a:txBody>
                    <a:bodyPr wrap="square"/>
                    <a:lstStyle/>
                    <a:p>
                      <a:pPr algn="l"/>
                      <a:r>
                        <a:rPr sz="1300" b="1" i="0">
                          <a:solidFill>
                            <a:srgbClr val="000000"/>
                          </a:solidFill>
                          <a:latin typeface="Calibri"/>
                        </a:rPr>
                        <a:t>Merrill et al., 2026 (Nature Comms)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LLM agent on wearable data, 84% numeric accuracy</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No emergency handling</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Tri-modal safety fusion: 3/3 emergencies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r>
              <a:tr h="566928">
                <a:tc>
                  <a:txBody>
                    <a:bodyPr wrap="square"/>
                    <a:lstStyle/>
                    <a:p>
                      <a:pPr algn="l"/>
                      <a:r>
                        <a:rPr sz="1300" b="1" i="0">
                          <a:solidFill>
                            <a:srgbClr val="000000"/>
                          </a:solidFill>
                          <a:latin typeface="Calibri"/>
                        </a:rPr>
                        <a:t>Mohammed et al., 2026 (ICAART)</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300" b="0" i="0">
                          <a:solidFill>
                            <a:srgbClr val="000000"/>
                          </a:solidFill>
                          <a:latin typeface="Calibri"/>
                        </a:rPr>
                        <a:t>Fact → rationale → action health agent</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300" b="0" i="0">
                          <a:solidFill>
                            <a:srgbClr val="000000"/>
                          </a:solidFill>
                          <a:latin typeface="Calibri"/>
                        </a:rPr>
                        <a:t>Fetches all data; no safety layer</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300" b="0" i="0">
                          <a:solidFill>
                            <a:srgbClr val="000000"/>
                          </a:solidFill>
                          <a:latin typeface="Calibri"/>
                        </a:rPr>
                        <a:t>Selective routing (0.88 streams) + safety widening</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r>
              <a:tr h="566928">
                <a:tc>
                  <a:txBody>
                    <a:bodyPr wrap="square"/>
                    <a:lstStyle/>
                    <a:p>
                      <a:pPr algn="l"/>
                      <a:r>
                        <a:rPr sz="1300" b="1" i="0">
                          <a:solidFill>
                            <a:srgbClr val="000000"/>
                          </a:solidFill>
                          <a:latin typeface="Calibri"/>
                        </a:rPr>
                        <a:t>Lu et al., 2026</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Query-conditioned graph retrieval</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Retrieval not linked to safety</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Safety-asymmetric router</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r>
              <a:tr h="566928">
                <a:tc>
                  <a:txBody>
                    <a:bodyPr wrap="square"/>
                    <a:lstStyle/>
                    <a:p>
                      <a:pPr algn="l"/>
                      <a:r>
                        <a:rPr sz="1300" b="1" i="0">
                          <a:solidFill>
                            <a:srgbClr val="000000"/>
                          </a:solidFill>
                          <a:latin typeface="Calibri"/>
                        </a:rPr>
                        <a:t>SelfCheckGPT, Self-Refine (2023)</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300" b="0" i="0">
                          <a:solidFill>
                            <a:srgbClr val="000000"/>
                          </a:solidFill>
                          <a:latin typeface="Calibri"/>
                        </a:rPr>
                        <a:t>Hallucination checks, self-critique</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300" b="0" i="0">
                          <a:solidFill>
                            <a:srgbClr val="000000"/>
                          </a:solidFill>
                          <a:latin typeface="Calibri"/>
                        </a:rPr>
                        <a:t>Not checked against real data</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300" b="0" i="0">
                          <a:solidFill>
                            <a:srgbClr val="000000"/>
                          </a:solidFill>
                          <a:latin typeface="Calibri"/>
                        </a:rPr>
                        <a:t>Every number checked against the user's data (0.979)</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r>
              <a:tr h="566928">
                <a:tc>
                  <a:txBody>
                    <a:bodyPr wrap="square"/>
                    <a:lstStyle/>
                    <a:p>
                      <a:pPr algn="l"/>
                      <a:r>
                        <a:rPr sz="1300" b="1" i="0">
                          <a:solidFill>
                            <a:srgbClr val="000000"/>
                          </a:solidFill>
                          <a:latin typeface="Calibri"/>
                        </a:rPr>
                        <a:t>Deandrea 2010, Hausdorff 2001</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Fall risk factors, gait variability</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Population level, no daily score</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Daily personal score using those odds ratios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r>
              <a:tr h="566928">
                <a:tc>
                  <a:txBody>
                    <a:bodyPr wrap="square"/>
                    <a:lstStyle/>
                    <a:p>
                      <a:pPr algn="l"/>
                      <a:r>
                        <a:rPr sz="1300" b="1" i="0">
                          <a:solidFill>
                            <a:srgbClr val="000000"/>
                          </a:solidFill>
                          <a:latin typeface="Calibri"/>
                        </a:rPr>
                        <a:t>Trained fall models (e.g. TCNs)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300" b="0" i="0">
                          <a:solidFill>
                            <a:srgbClr val="000000"/>
                          </a:solidFill>
                          <a:latin typeface="Calibri"/>
                        </a:rPr>
                        <a:t>High accuracy on labelled data</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300" b="0" i="0">
                          <a:solidFill>
                            <a:srgbClr val="000000"/>
                          </a:solidFill>
                          <a:latin typeface="Calibri"/>
                        </a:rPr>
                        <a:t>Black box, needs fall labels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300" b="0" i="0">
                          <a:solidFill>
                            <a:srgbClr val="000000"/>
                          </a:solidFill>
                          <a:latin typeface="Calibri"/>
                        </a:rPr>
                        <a:t>Untrained, explainable; AUC on par with TUG</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r>
              <a:tr h="566928">
                <a:tc>
                  <a:txBody>
                    <a:bodyPr wrap="square"/>
                    <a:lstStyle/>
                    <a:p>
                      <a:pPr algn="l"/>
                      <a:r>
                        <a:rPr sz="1300" b="1" i="0">
                          <a:solidFill>
                            <a:srgbClr val="000000"/>
                          </a:solidFill>
                          <a:latin typeface="Calibri"/>
                        </a:rPr>
                        <a:t>Wearable baselines (Oura, smartwatch studies)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Personal baselines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One baseline for the whole cycle</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Cycle-phase-matched baselines (−43%)</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r>
            </a:tbl>
          </a:graphicData>
        </a:graphic>
      </p:graphicFrame>
      <p:sp>
        <p:nvSpPr>
          <p:cNvPr id="5" name="Slide number"/>
          <p:cNvSpPr txBox="1"/>
          <p:nvPr/>
        </p:nvSpPr>
        <p:spPr>
          <a:xfrm>
            <a:off x="11457432" y="6446520"/>
            <a:ext cx="457200" cy="274320"/>
          </a:xfrm>
          <a:prstGeom prst="rect">
            <a:avLst/>
          </a:prstGeom>
          <a:noFill/>
        </p:spPr>
        <p:txBody>
          <a:bodyPr wrap="square" lIns="0" rIns="0" tIns="0" bIns="0" anchor="ctr">
            <a:spAutoFit/>
          </a:bodyPr>
          <a:lstStyle/>
          <a:p>
            <a:pPr marL="0" indent="0" algn="r">
              <a:spcAft>
                <a:spcPts val="0"/>
              </a:spcAft>
              <a:buNone/>
            </a:pPr>
            <a:r>
              <a:rPr sz="1000" b="0" i="0">
                <a:solidFill>
                  <a:srgbClr val="808080"/>
                </a:solidFill>
                <a:latin typeface="Calibri"/>
              </a:rPr>
              <a:t>15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9601200" cy="685800"/>
          </a:xfrm>
          <a:prstGeom prst="rect">
            <a:avLst/>
          </a:prstGeom>
          <a:noFill/>
        </p:spPr>
        <p:txBody>
          <a:bodyPr wrap="square" lIns="0" rIns="0" tIns="0" bIns="0" anchor="ctr">
            <a:spAutoFit/>
          </a:bodyPr>
          <a:lstStyle/>
          <a:p>
            <a:pPr marL="0" indent="0">
              <a:spcAft>
                <a:spcPts val="0"/>
              </a:spcAft>
              <a:buNone/>
            </a:pPr>
            <a:r>
              <a:rPr sz="2800" b="1" i="0">
                <a:solidFill>
                  <a:srgbClr val="1D2F82"/>
                </a:solidFill>
                <a:latin typeface="Calibri"/>
              </a:rPr>
              <a:t>Results — Performance Benchmarking &amp; Validation</a:t>
            </a:r>
          </a:p>
        </p:txBody>
      </p:sp>
      <p:pic>
        <p:nvPicPr>
          <p:cNvPr id="3" name="Logo" descr="image.png"/>
          <p:cNvPicPr>
            <a:picLocks noChangeAspect="1"/>
          </p:cNvPicPr>
          <p:nvPr/>
        </p:nvPicPr>
        <p:blipFill>
          <a:blip r:embed="rId2"/>
          <a:stretch>
            <a:fillRect/>
          </a:stretch>
        </p:blipFill>
        <p:spPr>
          <a:xfrm>
            <a:off x="10360152" y="320040"/>
            <a:ext cx="1371600" cy="521207"/>
          </a:xfrm>
          <a:prstGeom prst="rect">
            <a:avLst/>
          </a:prstGeom>
        </p:spPr>
      </p:pic>
      <p:graphicFrame>
        <p:nvGraphicFramePr>
          <p:cNvPr id="4" name="Chart 3"/>
          <p:cNvGraphicFramePr>
            <a:graphicFrameLocks noGrp="1"/>
          </p:cNvGraphicFramePr>
          <p:nvPr/>
        </p:nvGraphicFramePr>
        <p:xfrm>
          <a:off x="640080" y="1234440"/>
          <a:ext cx="5394960" cy="3931920"/>
        </p:xfrm>
        <a:graphic>
          <a:graphicData uri="http://schemas.openxmlformats.org/drawingml/2006/chart">
            <c:chart xmlns:c="http://schemas.openxmlformats.org/drawingml/2006/chart" r:id="rId4"/>
          </a:graphicData>
        </a:graphic>
      </p:graphicFrame>
      <p:sp>
        <p:nvSpPr>
          <p:cNvPr id="5" name="TextBox 4"/>
          <p:cNvSpPr txBox="1"/>
          <p:nvPr/>
        </p:nvSpPr>
        <p:spPr>
          <a:xfrm>
            <a:off x="640080" y="5257800"/>
            <a:ext cx="5394960" cy="868680"/>
          </a:xfrm>
          <a:prstGeom prst="rect">
            <a:avLst/>
          </a:prstGeom>
          <a:noFill/>
        </p:spPr>
        <p:txBody>
          <a:bodyPr wrap="square" lIns="0" rIns="0" tIns="0" bIns="0" anchor="t">
            <a:spAutoFit/>
          </a:bodyPr>
          <a:lstStyle/>
          <a:p>
            <a:pPr marL="0" indent="0">
              <a:spcAft>
                <a:spcPts val="0"/>
              </a:spcAft>
              <a:buNone/>
            </a:pPr>
            <a:r>
              <a:rPr sz="1400" b="0" i="0">
                <a:solidFill>
                  <a:srgbClr val="1D2F82"/>
                </a:solidFill>
                <a:latin typeface="Calibri"/>
              </a:rPr>
              <a:t>Live single query on the laptop: </a:t>
            </a:r>
            <a:r>
              <a:rPr sz="1400" b="1" i="0">
                <a:solidFill>
                  <a:srgbClr val="1D2F82"/>
                </a:solidFill>
                <a:latin typeface="Calibri"/>
              </a:rPr>
              <a:t>≈ 3.0 s</a:t>
            </a:r>
            <a:r>
              <a:rPr sz="1400" b="0" i="0">
                <a:solidFill>
                  <a:srgbClr val="1D2F82"/>
                </a:solidFill>
                <a:latin typeface="Calibri"/>
              </a:rPr>
              <a:t> (router + safety 1.4 s, fetch, answer + verify 1.6 s)</a:t>
            </a:r>
          </a:p>
        </p:txBody>
      </p:sp>
      <p:graphicFrame>
        <p:nvGraphicFramePr>
          <p:cNvPr id="6" name="Table 5"/>
          <p:cNvGraphicFramePr>
            <a:graphicFrameLocks noGrp="1"/>
          </p:cNvGraphicFramePr>
          <p:nvPr/>
        </p:nvGraphicFramePr>
        <p:xfrm>
          <a:off x="6309360" y="1280160"/>
          <a:ext cx="5212080" cy="3867912"/>
        </p:xfrm>
        <a:graphic>
          <a:graphicData uri="http://schemas.openxmlformats.org/drawingml/2006/table">
            <a:tbl>
              <a:tblPr firstRow="0" bandRow="0">
                <a:tableStyleId>{5940675A-B579-460E-94D1-54222C63F5DA}</a:tableStyleId>
              </a:tblPr>
              <a:tblGrid>
                <a:gridCol w="1508760"/>
                <a:gridCol w="2697480"/>
                <a:gridCol w="1005840"/>
              </a:tblGrid>
              <a:tr h="429768">
                <a:tc>
                  <a:txBody>
                    <a:bodyPr wrap="square"/>
                    <a:lstStyle/>
                    <a:p>
                      <a:pPr algn="ctr"/>
                      <a:r>
                        <a:rPr sz="1300" b="1" i="0">
                          <a:solidFill>
                            <a:srgbClr val="FFFFFF"/>
                          </a:solidFill>
                          <a:latin typeface="Calibri"/>
                        </a:rPr>
                        <a:t>Check</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c>
                  <a:txBody>
                    <a:bodyPr wrap="square"/>
                    <a:lstStyle/>
                    <a:p>
                      <a:pPr algn="ctr"/>
                      <a:r>
                        <a:rPr sz="1300" b="1" i="0">
                          <a:solidFill>
                            <a:srgbClr val="FFFFFF"/>
                          </a:solidFill>
                          <a:latin typeface="Calibri"/>
                        </a:rPr>
                        <a:t>What it verifies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c>
                  <a:txBody>
                    <a:bodyPr wrap="square"/>
                    <a:lstStyle/>
                    <a:p>
                      <a:pPr algn="ctr"/>
                      <a:r>
                        <a:rPr sz="1300" b="1" i="0">
                          <a:solidFill>
                            <a:srgbClr val="FFFFFF"/>
                          </a:solidFill>
                          <a:latin typeface="Calibri"/>
                        </a:rPr>
                        <a:t>Result</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1D2F82"/>
                    </a:solidFill>
                  </a:tcPr>
                </a:tc>
              </a:tr>
              <a:tr h="429768">
                <a:tc>
                  <a:txBody>
                    <a:bodyPr wrap="square"/>
                    <a:lstStyle/>
                    <a:p>
                      <a:pPr algn="l"/>
                      <a:r>
                        <a:rPr sz="1300" b="1" i="0">
                          <a:solidFill>
                            <a:srgbClr val="000000"/>
                          </a:solidFill>
                          <a:latin typeface="Calibri"/>
                        </a:rPr>
                        <a:t>Engine unit tests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Baselines, strain, cycle, tiers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ctr"/>
                      <a:r>
                        <a:rPr sz="1300" b="0" i="0">
                          <a:solidFill>
                            <a:srgbClr val="000000"/>
                          </a:solidFill>
                          <a:latin typeface="Calibri"/>
                        </a:rPr>
                        <a:t>Pass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r>
              <a:tr h="429768">
                <a:tc>
                  <a:txBody>
                    <a:bodyPr wrap="square"/>
                    <a:lstStyle/>
                    <a:p>
                      <a:pPr algn="l"/>
                      <a:r>
                        <a:rPr sz="1300" b="1" i="0">
                          <a:solidFill>
                            <a:srgbClr val="000000"/>
                          </a:solidFill>
                          <a:latin typeface="Calibri"/>
                        </a:rPr>
                        <a:t>Contribution sum</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300" b="0" i="0">
                          <a:solidFill>
                            <a:srgbClr val="000000"/>
                          </a:solidFill>
                          <a:latin typeface="Calibri"/>
                        </a:rPr>
                        <a:t>Points add up to the score</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ctr"/>
                      <a:r>
                        <a:rPr sz="1300" b="0" i="0">
                          <a:solidFill>
                            <a:srgbClr val="000000"/>
                          </a:solidFill>
                          <a:latin typeface="Calibri"/>
                        </a:rPr>
                        <a:t>Pass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r>
              <a:tr h="429768">
                <a:tc>
                  <a:txBody>
                    <a:bodyPr wrap="square"/>
                    <a:lstStyle/>
                    <a:p>
                      <a:pPr algn="l"/>
                      <a:r>
                        <a:rPr sz="1300" b="1" i="0">
                          <a:solidFill>
                            <a:srgbClr val="000000"/>
                          </a:solidFill>
                          <a:latin typeface="Calibri"/>
                        </a:rPr>
                        <a:t>Safety tests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"fell asleep" guard, override, biometric</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ctr"/>
                      <a:r>
                        <a:rPr sz="1300" b="0" i="0">
                          <a:solidFill>
                            <a:srgbClr val="000000"/>
                          </a:solidFill>
                          <a:latin typeface="Calibri"/>
                        </a:rPr>
                        <a:t>Pass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r>
              <a:tr h="429768">
                <a:tc>
                  <a:txBody>
                    <a:bodyPr wrap="square"/>
                    <a:lstStyle/>
                    <a:p>
                      <a:pPr algn="l"/>
                      <a:r>
                        <a:rPr sz="1300" b="1" i="0">
                          <a:solidFill>
                            <a:srgbClr val="000000"/>
                          </a:solidFill>
                          <a:latin typeface="Calibri"/>
                        </a:rPr>
                        <a:t>Grounding tests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300" b="0" i="0">
                          <a:solidFill>
                            <a:srgbClr val="000000"/>
                          </a:solidFill>
                          <a:latin typeface="Calibri"/>
                        </a:rPr>
                        <a:t>Digit-boundary matching</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ctr"/>
                      <a:r>
                        <a:rPr sz="1300" b="0" i="0">
                          <a:solidFill>
                            <a:srgbClr val="000000"/>
                          </a:solidFill>
                          <a:latin typeface="Calibri"/>
                        </a:rPr>
                        <a:t>Pass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r>
              <a:tr h="429768">
                <a:tc>
                  <a:txBody>
                    <a:bodyPr wrap="square"/>
                    <a:lstStyle/>
                    <a:p>
                      <a:pPr algn="l"/>
                      <a:r>
                        <a:rPr sz="1300" b="1" i="0">
                          <a:solidFill>
                            <a:srgbClr val="000000"/>
                          </a:solidFill>
                          <a:latin typeface="Calibri"/>
                        </a:rPr>
                        <a:t>Backend total</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123 tests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ctr"/>
                      <a:r>
                        <a:rPr sz="1300" b="0" i="0">
                          <a:solidFill>
                            <a:srgbClr val="000000"/>
                          </a:solidFill>
                          <a:latin typeface="Calibri"/>
                        </a:rPr>
                        <a:t>All pass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r>
              <a:tr h="429768">
                <a:tc>
                  <a:txBody>
                    <a:bodyPr wrap="square"/>
                    <a:lstStyle/>
                    <a:p>
                      <a:pPr algn="l"/>
                      <a:r>
                        <a:rPr sz="1300" b="1" i="0">
                          <a:solidFill>
                            <a:srgbClr val="000000"/>
                          </a:solidFill>
                          <a:latin typeface="Calibri"/>
                        </a:rPr>
                        <a:t>App total</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300" b="0" i="0">
                          <a:solidFill>
                            <a:srgbClr val="000000"/>
                          </a:solidFill>
                          <a:latin typeface="Calibri"/>
                        </a:rPr>
                        <a:t>127 tests, incl. 320 px layouts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ctr"/>
                      <a:r>
                        <a:rPr sz="1300" b="0" i="0">
                          <a:solidFill>
                            <a:srgbClr val="000000"/>
                          </a:solidFill>
                          <a:latin typeface="Calibri"/>
                        </a:rPr>
                        <a:t>All pass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r>
              <a:tr h="429768">
                <a:tc>
                  <a:txBody>
                    <a:bodyPr wrap="square"/>
                    <a:lstStyle/>
                    <a:p>
                      <a:pPr algn="l"/>
                      <a:r>
                        <a:rPr sz="1300" b="1" i="0">
                          <a:solidFill>
                            <a:srgbClr val="000000"/>
                          </a:solidFill>
                          <a:latin typeface="Calibri"/>
                        </a:rPr>
                        <a:t>Static analysis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l"/>
                      <a:r>
                        <a:rPr sz="1300" b="0" i="0">
                          <a:solidFill>
                            <a:srgbClr val="000000"/>
                          </a:solidFill>
                          <a:latin typeface="Calibri"/>
                        </a:rPr>
                        <a:t>flutter analyze</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c>
                  <a:txBody>
                    <a:bodyPr wrap="square"/>
                    <a:lstStyle/>
                    <a:p>
                      <a:pPr algn="ctr"/>
                      <a:r>
                        <a:rPr sz="1300" b="0" i="0">
                          <a:solidFill>
                            <a:srgbClr val="000000"/>
                          </a:solidFill>
                          <a:latin typeface="Calibri"/>
                        </a:rPr>
                        <a:t>No issues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FFFFF"/>
                    </a:solidFill>
                  </a:tcPr>
                </a:tc>
              </a:tr>
              <a:tr h="429768">
                <a:tc>
                  <a:txBody>
                    <a:bodyPr wrap="square"/>
                    <a:lstStyle/>
                    <a:p>
                      <a:pPr algn="l"/>
                      <a:r>
                        <a:rPr sz="1300" b="1" i="0">
                          <a:solidFill>
                            <a:srgbClr val="000000"/>
                          </a:solidFill>
                          <a:latin typeface="Calibri"/>
                        </a:rPr>
                        <a:t>Build</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l"/>
                      <a:r>
                        <a:rPr sz="1300" b="0" i="0">
                          <a:solidFill>
                            <a:srgbClr val="000000"/>
                          </a:solidFill>
                          <a:latin typeface="Calibri"/>
                        </a:rPr>
                        <a:t>GitHub Actions APK</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c>
                  <a:txBody>
                    <a:bodyPr wrap="square"/>
                    <a:lstStyle/>
                    <a:p>
                      <a:pPr algn="ctr"/>
                      <a:r>
                        <a:rPr sz="1300" b="0" i="0">
                          <a:solidFill>
                            <a:srgbClr val="000000"/>
                          </a:solidFill>
                          <a:latin typeface="Calibri"/>
                        </a:rPr>
                        <a:t>Success</a:t>
                      </a:r>
                    </a:p>
                  </a:txBody>
                  <a:tcPr marL="73152" marR="73152" marT="27432" marB="27432" anchor="ctr">
                    <a:lnL w="6350">
                      <a:solidFill>
                        <a:srgbClr val="C9CEDF"/>
                      </a:solidFill>
                    </a:lnL>
                    <a:lnR w="6350">
                      <a:solidFill>
                        <a:srgbClr val="C9CEDF"/>
                      </a:solidFill>
                    </a:lnR>
                    <a:lnT w="6350">
                      <a:solidFill>
                        <a:srgbClr val="C9CEDF"/>
                      </a:solidFill>
                    </a:lnT>
                    <a:lnB w="6350">
                      <a:solidFill>
                        <a:srgbClr val="C9CEDF"/>
                      </a:solidFill>
                    </a:lnB>
                    <a:solidFill>
                      <a:srgbClr val="F6F7FB"/>
                    </a:solidFill>
                  </a:tcPr>
                </a:tc>
              </a:tr>
            </a:tbl>
          </a:graphicData>
        </a:graphic>
      </p:graphicFrame>
      <p:sp>
        <p:nvSpPr>
          <p:cNvPr id="7" name="TextBox 6"/>
          <p:cNvSpPr txBox="1"/>
          <p:nvPr/>
        </p:nvSpPr>
        <p:spPr>
          <a:xfrm>
            <a:off x="6309360" y="5257800"/>
            <a:ext cx="5212080" cy="868680"/>
          </a:xfrm>
          <a:prstGeom prst="rect">
            <a:avLst/>
          </a:prstGeom>
          <a:noFill/>
        </p:spPr>
        <p:txBody>
          <a:bodyPr wrap="square" lIns="0" rIns="0" tIns="0" bIns="0" anchor="t">
            <a:spAutoFit/>
          </a:bodyPr>
          <a:lstStyle/>
          <a:p>
            <a:pPr marL="0" indent="0">
              <a:spcAft>
                <a:spcPts val="0"/>
              </a:spcAft>
              <a:buNone/>
            </a:pPr>
            <a:r>
              <a:rPr sz="1400" b="0" i="0">
                <a:solidFill>
                  <a:srgbClr val="1D2F82"/>
                </a:solidFill>
                <a:latin typeface="Calibri"/>
              </a:rPr>
              <a:t>Real-data validation: LTMM AUC 0.686 vs clinical TUG 0.683 (slide 14)</a:t>
            </a:r>
          </a:p>
        </p:txBody>
      </p:sp>
      <p:sp>
        <p:nvSpPr>
          <p:cNvPr id="8" name="Slide number"/>
          <p:cNvSpPr txBox="1"/>
          <p:nvPr/>
        </p:nvSpPr>
        <p:spPr>
          <a:xfrm>
            <a:off x="11457432" y="6446520"/>
            <a:ext cx="457200" cy="274320"/>
          </a:xfrm>
          <a:prstGeom prst="rect">
            <a:avLst/>
          </a:prstGeom>
          <a:noFill/>
        </p:spPr>
        <p:txBody>
          <a:bodyPr wrap="square" lIns="0" rIns="0" tIns="0" bIns="0" anchor="ctr">
            <a:spAutoFit/>
          </a:bodyPr>
          <a:lstStyle/>
          <a:p>
            <a:pPr marL="0" indent="0" algn="r">
              <a:spcAft>
                <a:spcPts val="0"/>
              </a:spcAft>
              <a:buNone/>
            </a:pPr>
            <a:r>
              <a:rPr sz="1000" b="0" i="0">
                <a:solidFill>
                  <a:srgbClr val="808080"/>
                </a:solidFill>
                <a:latin typeface="Calibri"/>
              </a:rPr>
              <a:t>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9601200" cy="685800"/>
          </a:xfrm>
          <a:prstGeom prst="rect">
            <a:avLst/>
          </a:prstGeom>
          <a:noFill/>
        </p:spPr>
        <p:txBody>
          <a:bodyPr wrap="square" lIns="0" rIns="0" tIns="0" bIns="0" anchor="ctr">
            <a:spAutoFit/>
          </a:bodyPr>
          <a:lstStyle/>
          <a:p>
            <a:pPr marL="0" indent="0">
              <a:spcAft>
                <a:spcPts val="0"/>
              </a:spcAft>
              <a:buNone/>
            </a:pPr>
            <a:r>
              <a:rPr sz="2800" b="1" i="0">
                <a:solidFill>
                  <a:srgbClr val="1D2F82"/>
                </a:solidFill>
                <a:latin typeface="Calibri"/>
              </a:rPr>
              <a:t>Standards Followed &amp; SDG Mapping</a:t>
            </a:r>
          </a:p>
        </p:txBody>
      </p:sp>
      <p:pic>
        <p:nvPicPr>
          <p:cNvPr id="3" name="Logo" descr="image.png"/>
          <p:cNvPicPr>
            <a:picLocks noChangeAspect="1"/>
          </p:cNvPicPr>
          <p:nvPr/>
        </p:nvPicPr>
        <p:blipFill>
          <a:blip r:embed="rId2"/>
          <a:stretch>
            <a:fillRect/>
          </a:stretch>
        </p:blipFill>
        <p:spPr>
          <a:xfrm>
            <a:off x="10360152" y="320040"/>
            <a:ext cx="1371600" cy="521207"/>
          </a:xfrm>
          <a:prstGeom prst="rect">
            <a:avLst/>
          </a:prstGeom>
        </p:spPr>
      </p:pic>
      <p:sp>
        <p:nvSpPr>
          <p:cNvPr id="4" name="TextBox 3"/>
          <p:cNvSpPr txBox="1"/>
          <p:nvPr/>
        </p:nvSpPr>
        <p:spPr>
          <a:xfrm>
            <a:off x="640080" y="1234440"/>
            <a:ext cx="5852160" cy="365760"/>
          </a:xfrm>
          <a:prstGeom prst="rect">
            <a:avLst/>
          </a:prstGeom>
          <a:noFill/>
        </p:spPr>
        <p:txBody>
          <a:bodyPr wrap="square" lIns="0" rIns="0" tIns="0" bIns="0" anchor="t">
            <a:spAutoFit/>
          </a:bodyPr>
          <a:lstStyle/>
          <a:p>
            <a:pPr marL="0" indent="0">
              <a:spcAft>
                <a:spcPts val="600"/>
              </a:spcAft>
              <a:buNone/>
            </a:pPr>
            <a:r>
              <a:rPr sz="1800" b="1" i="0">
                <a:solidFill>
                  <a:srgbClr val="1D2F82"/>
                </a:solidFill>
                <a:latin typeface="Calibri"/>
              </a:rPr>
              <a:t>Standards followed</a:t>
            </a:r>
          </a:p>
        </p:txBody>
      </p:sp>
      <p:sp>
        <p:nvSpPr>
          <p:cNvPr id="5" name="TextBox 4"/>
          <p:cNvSpPr txBox="1"/>
          <p:nvPr/>
        </p:nvSpPr>
        <p:spPr>
          <a:xfrm>
            <a:off x="640080" y="1691640"/>
            <a:ext cx="5852160" cy="4480560"/>
          </a:xfrm>
          <a:prstGeom prst="rect">
            <a:avLst/>
          </a:prstGeom>
          <a:noFill/>
        </p:spPr>
        <p:txBody>
          <a:bodyPr wrap="square" lIns="0" rIns="0" tIns="0" bIns="0" anchor="t">
            <a:spAutoFit/>
          </a:bodyPr>
          <a:lstStyle/>
          <a:p>
            <a:pPr marL="177800" indent="-177800">
              <a:spcAft>
                <a:spcPts val="900"/>
              </a:spcAft>
              <a:buSzPct val="100000"/>
              <a:buChar char="•"/>
            </a:pPr>
            <a:r>
              <a:rPr sz="1500" b="1" i="0">
                <a:solidFill>
                  <a:srgbClr val="000000"/>
                </a:solidFill>
                <a:latin typeface="Calibri"/>
              </a:rPr>
              <a:t>IEC 62304</a:t>
            </a:r>
            <a:r>
              <a:rPr sz="1500" b="0" i="0">
                <a:solidFill>
                  <a:srgbClr val="000000"/>
                </a:solidFill>
                <a:latin typeface="Calibri"/>
              </a:rPr>
              <a:t> — medical software life-cycle — structured development and testing</a:t>
            </a:r>
          </a:p>
          <a:p>
            <a:pPr marL="177800" indent="-177800">
              <a:spcAft>
                <a:spcPts val="900"/>
              </a:spcAft>
              <a:buSzPct val="100000"/>
              <a:buChar char="•"/>
            </a:pPr>
            <a:r>
              <a:rPr sz="1500" b="1" i="0">
                <a:solidFill>
                  <a:srgbClr val="000000"/>
                </a:solidFill>
                <a:latin typeface="Calibri"/>
              </a:rPr>
              <a:t>ISO 14971</a:t>
            </a:r>
            <a:r>
              <a:rPr sz="1500" b="0" i="0">
                <a:solidFill>
                  <a:srgbClr val="000000"/>
                </a:solidFill>
                <a:latin typeface="Calibri"/>
              </a:rPr>
              <a:t> — risk management — missed emergencies vs false alarms</a:t>
            </a:r>
          </a:p>
          <a:p>
            <a:pPr marL="177800" indent="-177800">
              <a:spcAft>
                <a:spcPts val="900"/>
              </a:spcAft>
              <a:buSzPct val="100000"/>
              <a:buChar char="•"/>
            </a:pPr>
            <a:r>
              <a:rPr sz="1500" b="1" i="0">
                <a:solidFill>
                  <a:srgbClr val="000000"/>
                </a:solidFill>
                <a:latin typeface="Calibri"/>
              </a:rPr>
              <a:t>IEC 82304-1</a:t>
            </a:r>
            <a:r>
              <a:rPr sz="1500" b="0" i="0">
                <a:solidFill>
                  <a:srgbClr val="000000"/>
                </a:solidFill>
                <a:latin typeface="Calibri"/>
              </a:rPr>
              <a:t> — health software safety — screening estimate, never a diagnosis</a:t>
            </a:r>
          </a:p>
          <a:p>
            <a:pPr marL="177800" indent="-177800">
              <a:spcAft>
                <a:spcPts val="900"/>
              </a:spcAft>
              <a:buSzPct val="100000"/>
              <a:buChar char="•"/>
            </a:pPr>
            <a:r>
              <a:rPr sz="1500" b="1" i="0">
                <a:solidFill>
                  <a:srgbClr val="000000"/>
                </a:solidFill>
                <a:latin typeface="Calibri"/>
              </a:rPr>
              <a:t>ISO/IEC 23894</a:t>
            </a:r>
            <a:r>
              <a:rPr sz="1500" b="0" i="0">
                <a:solidFill>
                  <a:srgbClr val="000000"/>
                </a:solidFill>
                <a:latin typeface="Calibri"/>
              </a:rPr>
              <a:t> — AI risk management — the LLM never computes the score</a:t>
            </a:r>
          </a:p>
          <a:p>
            <a:pPr marL="177800" indent="-177800">
              <a:spcAft>
                <a:spcPts val="900"/>
              </a:spcAft>
              <a:buSzPct val="100000"/>
              <a:buChar char="•"/>
            </a:pPr>
            <a:r>
              <a:rPr sz="1500" b="1" i="0">
                <a:solidFill>
                  <a:srgbClr val="000000"/>
                </a:solidFill>
                <a:latin typeface="Calibri"/>
              </a:rPr>
              <a:t>Bluetooth 5 (BLE), ISO/IEEE 11073</a:t>
            </a:r>
            <a:r>
              <a:rPr sz="1500" b="0" i="0">
                <a:solidFill>
                  <a:srgbClr val="000000"/>
                </a:solidFill>
                <a:latin typeface="Calibri"/>
              </a:rPr>
              <a:t> — ring–phone link, vital-sign data</a:t>
            </a:r>
          </a:p>
          <a:p>
            <a:pPr marL="177800" indent="-177800">
              <a:spcAft>
                <a:spcPts val="900"/>
              </a:spcAft>
              <a:buSzPct val="100000"/>
              <a:buChar char="•"/>
            </a:pPr>
            <a:r>
              <a:rPr sz="1500" b="1" i="0">
                <a:solidFill>
                  <a:srgbClr val="000000"/>
                </a:solidFill>
                <a:latin typeface="Calibri"/>
              </a:rPr>
              <a:t>ISO/IEC 27001, DPDP Act 2023</a:t>
            </a:r>
            <a:r>
              <a:rPr sz="1500" b="0" i="0">
                <a:solidFill>
                  <a:srgbClr val="000000"/>
                </a:solidFill>
                <a:latin typeface="Calibri"/>
              </a:rPr>
              <a:t> — protecting biometric data, consent, deletion</a:t>
            </a:r>
          </a:p>
          <a:p>
            <a:pPr marL="177800" indent="-177800">
              <a:spcAft>
                <a:spcPts val="900"/>
              </a:spcAft>
              <a:buSzPct val="100000"/>
              <a:buChar char="•"/>
            </a:pPr>
            <a:r>
              <a:rPr sz="1500" b="1" i="0">
                <a:solidFill>
                  <a:srgbClr val="000000"/>
                </a:solidFill>
                <a:latin typeface="Calibri"/>
              </a:rPr>
              <a:t>RFC 8446 (TLS 1.3), RFC 7519 (JWT)</a:t>
            </a:r>
            <a:r>
              <a:rPr sz="1500" b="0" i="0">
                <a:solidFill>
                  <a:srgbClr val="000000"/>
                </a:solidFill>
                <a:latin typeface="Calibri"/>
              </a:rPr>
              <a:t> — encrypted transport, user authentication</a:t>
            </a:r>
          </a:p>
          <a:p>
            <a:pPr marL="177800" indent="-177800">
              <a:spcAft>
                <a:spcPts val="900"/>
              </a:spcAft>
              <a:buSzPct val="100000"/>
              <a:buChar char="•"/>
            </a:pPr>
            <a:r>
              <a:rPr sz="1500" b="1" i="0">
                <a:solidFill>
                  <a:srgbClr val="000000"/>
                </a:solidFill>
                <a:latin typeface="Calibri"/>
              </a:rPr>
              <a:t>TRIPOD</a:t>
            </a:r>
            <a:r>
              <a:rPr sz="1500" b="0" i="0">
                <a:solidFill>
                  <a:srgbClr val="000000"/>
                </a:solidFill>
                <a:latin typeface="Calibri"/>
              </a:rPr>
              <a:t> — transparent reporting of the LTMM experiments</a:t>
            </a:r>
          </a:p>
        </p:txBody>
      </p:sp>
      <p:sp>
        <p:nvSpPr>
          <p:cNvPr id="6" name="TextBox 5"/>
          <p:cNvSpPr txBox="1"/>
          <p:nvPr/>
        </p:nvSpPr>
        <p:spPr>
          <a:xfrm>
            <a:off x="6766560" y="1234440"/>
            <a:ext cx="4754880" cy="365760"/>
          </a:xfrm>
          <a:prstGeom prst="rect">
            <a:avLst/>
          </a:prstGeom>
          <a:noFill/>
        </p:spPr>
        <p:txBody>
          <a:bodyPr wrap="square" lIns="0" rIns="0" tIns="0" bIns="0" anchor="t">
            <a:spAutoFit/>
          </a:bodyPr>
          <a:lstStyle/>
          <a:p>
            <a:pPr marL="0" indent="0">
              <a:spcAft>
                <a:spcPts val="600"/>
              </a:spcAft>
              <a:buNone/>
            </a:pPr>
            <a:r>
              <a:rPr sz="1800" b="1" i="0">
                <a:solidFill>
                  <a:srgbClr val="1D2F82"/>
                </a:solidFill>
                <a:latin typeface="Calibri"/>
              </a:rPr>
              <a:t>SDG mapping</a:t>
            </a:r>
          </a:p>
        </p:txBody>
      </p:sp>
      <p:sp>
        <p:nvSpPr>
          <p:cNvPr id="7" name="Rounded Rectangle 6"/>
          <p:cNvSpPr/>
          <p:nvPr/>
        </p:nvSpPr>
        <p:spPr>
          <a:xfrm>
            <a:off x="6766560" y="1691640"/>
            <a:ext cx="4754880" cy="96012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903720" y="1874520"/>
            <a:ext cx="594360" cy="594360"/>
          </a:xfrm>
          <a:prstGeom prst="ellipse">
            <a:avLst/>
          </a:prstGeom>
          <a:solidFill>
            <a:srgbClr val="4C9F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a:t>
            </a:r>
          </a:p>
        </p:txBody>
      </p:sp>
      <p:sp>
        <p:nvSpPr>
          <p:cNvPr id="9" name="TextBox 8"/>
          <p:cNvSpPr txBox="1"/>
          <p:nvPr/>
        </p:nvSpPr>
        <p:spPr>
          <a:xfrm>
            <a:off x="7635240" y="1783080"/>
            <a:ext cx="3749039" cy="822960"/>
          </a:xfrm>
          <a:prstGeom prst="rect">
            <a:avLst/>
          </a:prstGeom>
          <a:noFill/>
        </p:spPr>
        <p:txBody>
          <a:bodyPr wrap="square" lIns="0" rIns="0" tIns="0" bIns="0" anchor="ctr">
            <a:spAutoFit/>
          </a:bodyPr>
          <a:lstStyle/>
          <a:p>
            <a:pPr marL="0" indent="0">
              <a:spcAft>
                <a:spcPts val="200"/>
              </a:spcAft>
              <a:buNone/>
            </a:pPr>
            <a:r>
              <a:rPr sz="1400" b="1" i="0">
                <a:solidFill>
                  <a:srgbClr val="000000"/>
                </a:solidFill>
                <a:latin typeface="Calibri"/>
              </a:rPr>
              <a:t>SDG 3 — Good Health and Well-being</a:t>
            </a:r>
          </a:p>
          <a:p>
            <a:pPr marL="0" indent="0">
              <a:spcAft>
                <a:spcPts val="0"/>
              </a:spcAft>
              <a:buNone/>
            </a:pPr>
            <a:r>
              <a:rPr sz="1300" b="0" i="0">
                <a:solidFill>
                  <a:srgbClr val="595959"/>
                </a:solidFill>
                <a:latin typeface="Calibri"/>
              </a:rPr>
              <a:t>Early warning and emergency detection</a:t>
            </a:r>
          </a:p>
        </p:txBody>
      </p:sp>
      <p:sp>
        <p:nvSpPr>
          <p:cNvPr id="10" name="Rounded Rectangle 9"/>
          <p:cNvSpPr/>
          <p:nvPr/>
        </p:nvSpPr>
        <p:spPr>
          <a:xfrm>
            <a:off x="6766560" y="2788920"/>
            <a:ext cx="4754880" cy="96012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903720" y="2971800"/>
            <a:ext cx="594360" cy="594360"/>
          </a:xfrm>
          <a:prstGeom prst="ellipse">
            <a:avLst/>
          </a:prstGeom>
          <a:solidFill>
            <a:srgbClr val="FF3A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a:t>
            </a:r>
          </a:p>
        </p:txBody>
      </p:sp>
      <p:sp>
        <p:nvSpPr>
          <p:cNvPr id="12" name="TextBox 11"/>
          <p:cNvSpPr txBox="1"/>
          <p:nvPr/>
        </p:nvSpPr>
        <p:spPr>
          <a:xfrm>
            <a:off x="7635240" y="2880360"/>
            <a:ext cx="3749039" cy="822960"/>
          </a:xfrm>
          <a:prstGeom prst="rect">
            <a:avLst/>
          </a:prstGeom>
          <a:noFill/>
        </p:spPr>
        <p:txBody>
          <a:bodyPr wrap="square" lIns="0" rIns="0" tIns="0" bIns="0" anchor="ctr">
            <a:spAutoFit/>
          </a:bodyPr>
          <a:lstStyle/>
          <a:p>
            <a:pPr marL="0" indent="0">
              <a:spcAft>
                <a:spcPts val="200"/>
              </a:spcAft>
              <a:buNone/>
            </a:pPr>
            <a:r>
              <a:rPr sz="1400" b="1" i="0">
                <a:solidFill>
                  <a:srgbClr val="000000"/>
                </a:solidFill>
                <a:latin typeface="Calibri"/>
              </a:rPr>
              <a:t>SDG 5 — Gender Equality</a:t>
            </a:r>
          </a:p>
          <a:p>
            <a:pPr marL="0" indent="0">
              <a:spcAft>
                <a:spcPts val="0"/>
              </a:spcAft>
              <a:buNone/>
            </a:pPr>
            <a:r>
              <a:rPr sz="1300" b="0" i="0">
                <a:solidFill>
                  <a:srgbClr val="595959"/>
                </a:solidFill>
                <a:latin typeface="Calibri"/>
              </a:rPr>
              <a:t>Cycle-aware baselines give women fair scores</a:t>
            </a:r>
          </a:p>
        </p:txBody>
      </p:sp>
      <p:sp>
        <p:nvSpPr>
          <p:cNvPr id="13" name="Rounded Rectangle 12"/>
          <p:cNvSpPr/>
          <p:nvPr/>
        </p:nvSpPr>
        <p:spPr>
          <a:xfrm>
            <a:off x="6766560" y="3886200"/>
            <a:ext cx="4754880" cy="96012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903720" y="4069080"/>
            <a:ext cx="594360" cy="594360"/>
          </a:xfrm>
          <a:prstGeom prst="ellipse">
            <a:avLst/>
          </a:prstGeom>
          <a:solidFill>
            <a:srgbClr val="FD692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9</a:t>
            </a:r>
          </a:p>
        </p:txBody>
      </p:sp>
      <p:sp>
        <p:nvSpPr>
          <p:cNvPr id="15" name="TextBox 14"/>
          <p:cNvSpPr txBox="1"/>
          <p:nvPr/>
        </p:nvSpPr>
        <p:spPr>
          <a:xfrm>
            <a:off x="7635240" y="3977639"/>
            <a:ext cx="3749039" cy="822960"/>
          </a:xfrm>
          <a:prstGeom prst="rect">
            <a:avLst/>
          </a:prstGeom>
          <a:noFill/>
        </p:spPr>
        <p:txBody>
          <a:bodyPr wrap="square" lIns="0" rIns="0" tIns="0" bIns="0" anchor="ctr">
            <a:spAutoFit/>
          </a:bodyPr>
          <a:lstStyle/>
          <a:p>
            <a:pPr marL="0" indent="0">
              <a:spcAft>
                <a:spcPts val="200"/>
              </a:spcAft>
              <a:buNone/>
            </a:pPr>
            <a:r>
              <a:rPr sz="1400" b="1" i="0">
                <a:solidFill>
                  <a:srgbClr val="000000"/>
                </a:solidFill>
                <a:latin typeface="Calibri"/>
              </a:rPr>
              <a:t>SDG 9 — Industry, Innovation, Infrastructure</a:t>
            </a:r>
          </a:p>
          <a:p>
            <a:pPr marL="0" indent="0">
              <a:spcAft>
                <a:spcPts val="0"/>
              </a:spcAft>
              <a:buNone/>
            </a:pPr>
            <a:r>
              <a:rPr sz="1300" b="0" i="0">
                <a:solidFill>
                  <a:srgbClr val="595959"/>
                </a:solidFill>
                <a:latin typeface="Calibri"/>
              </a:rPr>
              <a:t>Ring + cloud + explainable AI</a:t>
            </a:r>
          </a:p>
        </p:txBody>
      </p:sp>
      <p:sp>
        <p:nvSpPr>
          <p:cNvPr id="16" name="Rounded Rectangle 15"/>
          <p:cNvSpPr/>
          <p:nvPr/>
        </p:nvSpPr>
        <p:spPr>
          <a:xfrm>
            <a:off x="6766560" y="4983479"/>
            <a:ext cx="4754880" cy="96012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903720" y="5166359"/>
            <a:ext cx="594360" cy="594360"/>
          </a:xfrm>
          <a:prstGeom prst="ellipse">
            <a:avLst/>
          </a:prstGeom>
          <a:solidFill>
            <a:srgbClr val="DD136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10</a:t>
            </a:r>
          </a:p>
        </p:txBody>
      </p:sp>
      <p:sp>
        <p:nvSpPr>
          <p:cNvPr id="18" name="TextBox 17"/>
          <p:cNvSpPr txBox="1"/>
          <p:nvPr/>
        </p:nvSpPr>
        <p:spPr>
          <a:xfrm>
            <a:off x="7635240" y="5074919"/>
            <a:ext cx="3749039" cy="822960"/>
          </a:xfrm>
          <a:prstGeom prst="rect">
            <a:avLst/>
          </a:prstGeom>
          <a:noFill/>
        </p:spPr>
        <p:txBody>
          <a:bodyPr wrap="square" lIns="0" rIns="0" tIns="0" bIns="0" anchor="ctr">
            <a:spAutoFit/>
          </a:bodyPr>
          <a:lstStyle/>
          <a:p>
            <a:pPr marL="0" indent="0">
              <a:spcAft>
                <a:spcPts val="200"/>
              </a:spcAft>
              <a:buNone/>
            </a:pPr>
            <a:r>
              <a:rPr sz="1400" b="1" i="0">
                <a:solidFill>
                  <a:srgbClr val="000000"/>
                </a:solidFill>
                <a:latin typeface="Calibri"/>
              </a:rPr>
              <a:t>SDG 10 — Reduced Inequalities</a:t>
            </a:r>
          </a:p>
          <a:p>
            <a:pPr marL="0" indent="0">
              <a:spcAft>
                <a:spcPts val="0"/>
              </a:spcAft>
              <a:buNone/>
            </a:pPr>
            <a:r>
              <a:rPr sz="1300" b="0" i="0">
                <a:solidFill>
                  <a:srgbClr val="595959"/>
                </a:solidFill>
                <a:latin typeface="Calibri"/>
              </a:rPr>
              <a:t>Affordable hardware, plain-language answers</a:t>
            </a:r>
          </a:p>
        </p:txBody>
      </p:sp>
      <p:sp>
        <p:nvSpPr>
          <p:cNvPr id="19" name="Slide number"/>
          <p:cNvSpPr txBox="1"/>
          <p:nvPr/>
        </p:nvSpPr>
        <p:spPr>
          <a:xfrm>
            <a:off x="11457432" y="6446520"/>
            <a:ext cx="457200" cy="274320"/>
          </a:xfrm>
          <a:prstGeom prst="rect">
            <a:avLst/>
          </a:prstGeom>
          <a:noFill/>
        </p:spPr>
        <p:txBody>
          <a:bodyPr wrap="square" lIns="0" rIns="0" tIns="0" bIns="0" anchor="ctr">
            <a:spAutoFit/>
          </a:bodyPr>
          <a:lstStyle/>
          <a:p>
            <a:pPr marL="0" indent="0" algn="r">
              <a:spcAft>
                <a:spcPts val="0"/>
              </a:spcAft>
              <a:buNone/>
            </a:pPr>
            <a:r>
              <a:rPr sz="1000" b="0" i="0">
                <a:solidFill>
                  <a:srgbClr val="808080"/>
                </a:solidFill>
                <a:latin typeface="Calibri"/>
              </a:rPr>
              <a:t>17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9601200" cy="685800"/>
          </a:xfrm>
          <a:prstGeom prst="rect">
            <a:avLst/>
          </a:prstGeom>
          <a:noFill/>
        </p:spPr>
        <p:txBody>
          <a:bodyPr wrap="square" lIns="0" rIns="0" tIns="0" bIns="0" anchor="ctr">
            <a:spAutoFit/>
          </a:bodyPr>
          <a:lstStyle/>
          <a:p>
            <a:pPr marL="0" indent="0">
              <a:spcAft>
                <a:spcPts val="0"/>
              </a:spcAft>
              <a:buNone/>
            </a:pPr>
            <a:r>
              <a:rPr sz="2800" b="1" i="0">
                <a:solidFill>
                  <a:srgbClr val="1D2F82"/>
                </a:solidFill>
                <a:latin typeface="Calibri"/>
              </a:rPr>
              <a:t>Live &amp; Video Demonstration</a:t>
            </a:r>
          </a:p>
        </p:txBody>
      </p:sp>
      <p:pic>
        <p:nvPicPr>
          <p:cNvPr id="3" name="Logo" descr="image.png"/>
          <p:cNvPicPr>
            <a:picLocks noChangeAspect="1"/>
          </p:cNvPicPr>
          <p:nvPr/>
        </p:nvPicPr>
        <p:blipFill>
          <a:blip r:embed="rId2"/>
          <a:stretch>
            <a:fillRect/>
          </a:stretch>
        </p:blipFill>
        <p:spPr>
          <a:xfrm>
            <a:off x="10360152" y="320040"/>
            <a:ext cx="1371600" cy="521207"/>
          </a:xfrm>
          <a:prstGeom prst="rect">
            <a:avLst/>
          </a:prstGeom>
        </p:spPr>
      </p:pic>
      <p:sp>
        <p:nvSpPr>
          <p:cNvPr id="4" name="TextBox 3"/>
          <p:cNvSpPr txBox="1"/>
          <p:nvPr/>
        </p:nvSpPr>
        <p:spPr>
          <a:xfrm>
            <a:off x="640080" y="1234440"/>
            <a:ext cx="6400800" cy="365760"/>
          </a:xfrm>
          <a:prstGeom prst="rect">
            <a:avLst/>
          </a:prstGeom>
          <a:noFill/>
        </p:spPr>
        <p:txBody>
          <a:bodyPr wrap="square" lIns="0" rIns="0" tIns="0" bIns="0" anchor="t">
            <a:spAutoFit/>
          </a:bodyPr>
          <a:lstStyle/>
          <a:p>
            <a:pPr marL="0" indent="0">
              <a:spcAft>
                <a:spcPts val="600"/>
              </a:spcAft>
              <a:buNone/>
            </a:pPr>
            <a:r>
              <a:rPr sz="1800" b="1" i="0">
                <a:solidFill>
                  <a:srgbClr val="1D2F82"/>
                </a:solidFill>
                <a:latin typeface="Calibri"/>
              </a:rPr>
              <a:t>Live demonstration plan (≈ 8 min)</a:t>
            </a:r>
          </a:p>
        </p:txBody>
      </p:sp>
      <p:sp>
        <p:nvSpPr>
          <p:cNvPr id="5" name="Oval 4"/>
          <p:cNvSpPr/>
          <p:nvPr/>
        </p:nvSpPr>
        <p:spPr>
          <a:xfrm>
            <a:off x="640080" y="1737360"/>
            <a:ext cx="384048" cy="384048"/>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1</a:t>
            </a:r>
          </a:p>
        </p:txBody>
      </p:sp>
      <p:sp>
        <p:nvSpPr>
          <p:cNvPr id="6" name="TextBox 5"/>
          <p:cNvSpPr txBox="1"/>
          <p:nvPr/>
        </p:nvSpPr>
        <p:spPr>
          <a:xfrm>
            <a:off x="1188720" y="1719072"/>
            <a:ext cx="5852160" cy="640080"/>
          </a:xfrm>
          <a:prstGeom prst="rect">
            <a:avLst/>
          </a:prstGeom>
          <a:noFill/>
        </p:spPr>
        <p:txBody>
          <a:bodyPr wrap="square" lIns="0" rIns="0" tIns="0" bIns="0" anchor="ctr">
            <a:spAutoFit/>
          </a:bodyPr>
          <a:lstStyle/>
          <a:p>
            <a:pPr marL="0" indent="0">
              <a:spcAft>
                <a:spcPts val="0"/>
              </a:spcAft>
              <a:buNone/>
            </a:pPr>
            <a:r>
              <a:rPr sz="1500" b="1" i="0">
                <a:solidFill>
                  <a:srgbClr val="000000"/>
                </a:solidFill>
                <a:latin typeface="Calibri"/>
              </a:rPr>
              <a:t>Home</a:t>
            </a:r>
            <a:r>
              <a:rPr sz="1500" b="0" i="0">
                <a:solidFill>
                  <a:srgbClr val="000000"/>
                </a:solidFill>
                <a:latin typeface="Calibri"/>
              </a:rPr>
              <a:t> — ring connected with battery %; open a vital card and its chart</a:t>
            </a:r>
          </a:p>
        </p:txBody>
      </p:sp>
      <p:sp>
        <p:nvSpPr>
          <p:cNvPr id="7" name="Oval 6"/>
          <p:cNvSpPr/>
          <p:nvPr/>
        </p:nvSpPr>
        <p:spPr>
          <a:xfrm>
            <a:off x="640080" y="2450591"/>
            <a:ext cx="384048" cy="384048"/>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2</a:t>
            </a:r>
          </a:p>
        </p:txBody>
      </p:sp>
      <p:sp>
        <p:nvSpPr>
          <p:cNvPr id="8" name="TextBox 7"/>
          <p:cNvSpPr txBox="1"/>
          <p:nvPr/>
        </p:nvSpPr>
        <p:spPr>
          <a:xfrm>
            <a:off x="1188720" y="2432303"/>
            <a:ext cx="5852160" cy="640080"/>
          </a:xfrm>
          <a:prstGeom prst="rect">
            <a:avLst/>
          </a:prstGeom>
          <a:noFill/>
        </p:spPr>
        <p:txBody>
          <a:bodyPr wrap="square" lIns="0" rIns="0" tIns="0" bIns="0" anchor="ctr">
            <a:spAutoFit/>
          </a:bodyPr>
          <a:lstStyle/>
          <a:p>
            <a:pPr marL="0" indent="0">
              <a:spcAft>
                <a:spcPts val="0"/>
              </a:spcAft>
              <a:buNone/>
            </a:pPr>
            <a:r>
              <a:rPr sz="1500" b="1" i="0">
                <a:solidFill>
                  <a:srgbClr val="000000"/>
                </a:solidFill>
                <a:latin typeface="Calibri"/>
              </a:rPr>
              <a:t>Pair / Disconnect</a:t>
            </a:r>
            <a:r>
              <a:rPr sz="1500" b="0" i="0">
                <a:solidFill>
                  <a:srgbClr val="000000"/>
                </a:solidFill>
                <a:latin typeface="Calibri"/>
              </a:rPr>
              <a:t> — disconnect, pair again — measurements start within seconds</a:t>
            </a:r>
          </a:p>
        </p:txBody>
      </p:sp>
      <p:sp>
        <p:nvSpPr>
          <p:cNvPr id="9" name="Oval 8"/>
          <p:cNvSpPr/>
          <p:nvPr/>
        </p:nvSpPr>
        <p:spPr>
          <a:xfrm>
            <a:off x="640080" y="3163824"/>
            <a:ext cx="384048" cy="384048"/>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3</a:t>
            </a:r>
          </a:p>
        </p:txBody>
      </p:sp>
      <p:sp>
        <p:nvSpPr>
          <p:cNvPr id="10" name="TextBox 9"/>
          <p:cNvSpPr txBox="1"/>
          <p:nvPr/>
        </p:nvSpPr>
        <p:spPr>
          <a:xfrm>
            <a:off x="1188720" y="3145536"/>
            <a:ext cx="5852160" cy="640080"/>
          </a:xfrm>
          <a:prstGeom prst="rect">
            <a:avLst/>
          </a:prstGeom>
          <a:noFill/>
        </p:spPr>
        <p:txBody>
          <a:bodyPr wrap="square" lIns="0" rIns="0" tIns="0" bIns="0" anchor="ctr">
            <a:spAutoFit/>
          </a:bodyPr>
          <a:lstStyle/>
          <a:p>
            <a:pPr marL="0" indent="0">
              <a:spcAft>
                <a:spcPts val="0"/>
              </a:spcAft>
              <a:buNone/>
            </a:pPr>
            <a:r>
              <a:rPr sz="1500" b="1" i="0">
                <a:solidFill>
                  <a:srgbClr val="000000"/>
                </a:solidFill>
                <a:latin typeface="Calibri"/>
              </a:rPr>
              <a:t>Fall Risk</a:t>
            </a:r>
            <a:r>
              <a:rPr sz="1500" b="0" i="0">
                <a:solidFill>
                  <a:srgbClr val="000000"/>
                </a:solidFill>
                <a:latin typeface="Calibri"/>
              </a:rPr>
              <a:t> — score and tier → "How your score is calculated", one layer's points</a:t>
            </a:r>
          </a:p>
        </p:txBody>
      </p:sp>
      <p:sp>
        <p:nvSpPr>
          <p:cNvPr id="11" name="Oval 10"/>
          <p:cNvSpPr/>
          <p:nvPr/>
        </p:nvSpPr>
        <p:spPr>
          <a:xfrm>
            <a:off x="640080" y="3877056"/>
            <a:ext cx="384048" cy="384048"/>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4</a:t>
            </a:r>
          </a:p>
        </p:txBody>
      </p:sp>
      <p:sp>
        <p:nvSpPr>
          <p:cNvPr id="12" name="TextBox 11"/>
          <p:cNvSpPr txBox="1"/>
          <p:nvPr/>
        </p:nvSpPr>
        <p:spPr>
          <a:xfrm>
            <a:off x="1188720" y="3858768"/>
            <a:ext cx="5852160" cy="640080"/>
          </a:xfrm>
          <a:prstGeom prst="rect">
            <a:avLst/>
          </a:prstGeom>
          <a:noFill/>
        </p:spPr>
        <p:txBody>
          <a:bodyPr wrap="square" lIns="0" rIns="0" tIns="0" bIns="0" anchor="ctr">
            <a:spAutoFit/>
          </a:bodyPr>
          <a:lstStyle/>
          <a:p>
            <a:pPr marL="0" indent="0">
              <a:spcAft>
                <a:spcPts val="0"/>
              </a:spcAft>
              <a:buNone/>
            </a:pPr>
            <a:r>
              <a:rPr sz="1500" b="1" i="0">
                <a:solidFill>
                  <a:srgbClr val="000000"/>
                </a:solidFill>
                <a:latin typeface="Calibri"/>
              </a:rPr>
              <a:t>AI Assist</a:t>
            </a:r>
            <a:r>
              <a:rPr sz="1500" b="0" i="0">
                <a:solidFill>
                  <a:srgbClr val="000000"/>
                </a:solidFill>
                <a:latin typeface="Calibri"/>
              </a:rPr>
              <a:t> — "How is my overall health?" → real numbers matching Home</a:t>
            </a:r>
          </a:p>
        </p:txBody>
      </p:sp>
      <p:sp>
        <p:nvSpPr>
          <p:cNvPr id="13" name="Oval 12"/>
          <p:cNvSpPr/>
          <p:nvPr/>
        </p:nvSpPr>
        <p:spPr>
          <a:xfrm>
            <a:off x="640080" y="4590288"/>
            <a:ext cx="384048" cy="384048"/>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5</a:t>
            </a:r>
          </a:p>
        </p:txBody>
      </p:sp>
      <p:sp>
        <p:nvSpPr>
          <p:cNvPr id="14" name="TextBox 13"/>
          <p:cNvSpPr txBox="1"/>
          <p:nvPr/>
        </p:nvSpPr>
        <p:spPr>
          <a:xfrm>
            <a:off x="1188720" y="4572000"/>
            <a:ext cx="5852160" cy="640080"/>
          </a:xfrm>
          <a:prstGeom prst="rect">
            <a:avLst/>
          </a:prstGeom>
          <a:noFill/>
        </p:spPr>
        <p:txBody>
          <a:bodyPr wrap="square" lIns="0" rIns="0" tIns="0" bIns="0" anchor="ctr">
            <a:spAutoFit/>
          </a:bodyPr>
          <a:lstStyle/>
          <a:p>
            <a:pPr marL="0" indent="0">
              <a:spcAft>
                <a:spcPts val="0"/>
              </a:spcAft>
              <a:buNone/>
            </a:pPr>
            <a:r>
              <a:rPr sz="1500" b="1" i="0">
                <a:solidFill>
                  <a:srgbClr val="000000"/>
                </a:solidFill>
                <a:latin typeface="Calibri"/>
              </a:rPr>
              <a:t>Safety</a:t>
            </a:r>
            <a:r>
              <a:rPr sz="1500" b="0" i="0">
                <a:solidFill>
                  <a:srgbClr val="000000"/>
                </a:solidFill>
                <a:latin typeface="Calibri"/>
              </a:rPr>
              <a:t> — "I fell and feel dizzy" → emergency mode</a:t>
            </a:r>
          </a:p>
        </p:txBody>
      </p:sp>
      <p:sp>
        <p:nvSpPr>
          <p:cNvPr id="15" name="Oval 14"/>
          <p:cNvSpPr/>
          <p:nvPr/>
        </p:nvSpPr>
        <p:spPr>
          <a:xfrm>
            <a:off x="640080" y="5303520"/>
            <a:ext cx="384048" cy="384048"/>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6</a:t>
            </a:r>
          </a:p>
        </p:txBody>
      </p:sp>
      <p:sp>
        <p:nvSpPr>
          <p:cNvPr id="16" name="TextBox 15"/>
          <p:cNvSpPr txBox="1"/>
          <p:nvPr/>
        </p:nvSpPr>
        <p:spPr>
          <a:xfrm>
            <a:off x="1188720" y="5285232"/>
            <a:ext cx="5852160" cy="640080"/>
          </a:xfrm>
          <a:prstGeom prst="rect">
            <a:avLst/>
          </a:prstGeom>
          <a:noFill/>
        </p:spPr>
        <p:txBody>
          <a:bodyPr wrap="square" lIns="0" rIns="0" tIns="0" bIns="0" anchor="ctr">
            <a:spAutoFit/>
          </a:bodyPr>
          <a:lstStyle/>
          <a:p>
            <a:pPr marL="0" indent="0">
              <a:spcAft>
                <a:spcPts val="0"/>
              </a:spcAft>
              <a:buNone/>
            </a:pPr>
            <a:r>
              <a:rPr sz="1500" b="1" i="0">
                <a:solidFill>
                  <a:srgbClr val="000000"/>
                </a:solidFill>
                <a:latin typeface="Calibri"/>
              </a:rPr>
              <a:t>Laptop log</a:t>
            </a:r>
            <a:r>
              <a:rPr sz="1500" b="0" i="0">
                <a:solidFill>
                  <a:srgbClr val="000000"/>
                </a:solidFill>
                <a:latin typeface="Calibri"/>
              </a:rPr>
              <a:t> — router streams, three safety signals, timing, grounding score</a:t>
            </a:r>
          </a:p>
        </p:txBody>
      </p:sp>
      <p:sp>
        <p:nvSpPr>
          <p:cNvPr id="17" name="Rounded Rectangle 16"/>
          <p:cNvSpPr/>
          <p:nvPr/>
        </p:nvSpPr>
        <p:spPr>
          <a:xfrm>
            <a:off x="7406640" y="1280160"/>
            <a:ext cx="4114800" cy="480060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635240" y="1417320"/>
            <a:ext cx="3657600" cy="4572000"/>
          </a:xfrm>
          <a:prstGeom prst="rect">
            <a:avLst/>
          </a:prstGeom>
          <a:noFill/>
        </p:spPr>
        <p:txBody>
          <a:bodyPr wrap="square" lIns="0" rIns="0" tIns="0" bIns="0" anchor="t">
            <a:spAutoFit/>
          </a:bodyPr>
          <a:lstStyle/>
          <a:p>
            <a:pPr marL="0" indent="0">
              <a:spcAft>
                <a:spcPts val="800"/>
              </a:spcAft>
              <a:buNone/>
            </a:pPr>
            <a:r>
              <a:rPr sz="1800" b="1" i="0">
                <a:solidFill>
                  <a:srgbClr val="1D2F82"/>
                </a:solidFill>
                <a:latin typeface="Calibri"/>
              </a:rPr>
              <a:t>Video demonstration</a:t>
            </a:r>
          </a:p>
          <a:p>
            <a:pPr marL="0" indent="0">
              <a:spcAft>
                <a:spcPts val="1200"/>
              </a:spcAft>
              <a:buNone/>
            </a:pPr>
            <a:r>
              <a:rPr sz="1500" b="0" i="0">
                <a:solidFill>
                  <a:srgbClr val="000000"/>
                </a:solidFill>
                <a:latin typeface="Calibri"/>
              </a:rPr>
              <a:t>Screen recording of the same flow (phone screen + laptop log), kept as a backup and played if the Wi-Fi or the ring fails during the review.</a:t>
            </a:r>
          </a:p>
          <a:p>
            <a:pPr marL="0" indent="0">
              <a:spcAft>
                <a:spcPts val="400"/>
              </a:spcAft>
              <a:buNone/>
            </a:pPr>
            <a:r>
              <a:rPr sz="1600" b="1" i="0">
                <a:solidFill>
                  <a:srgbClr val="1D2F82"/>
                </a:solidFill>
                <a:latin typeface="Calibri"/>
              </a:rPr>
              <a:t>Setup</a:t>
            </a:r>
          </a:p>
          <a:p>
            <a:pPr marL="177800" indent="-177800">
              <a:spcAft>
                <a:spcPts val="300"/>
              </a:spcAft>
              <a:buSzPct val="100000"/>
              <a:buChar char="•"/>
            </a:pPr>
            <a:r>
              <a:rPr sz="1400" b="0" i="0">
                <a:solidFill>
                  <a:srgbClr val="000000"/>
                </a:solidFill>
                <a:latin typeface="Calibri"/>
              </a:rPr>
              <a:t>Phone and laptop on the phone's hotspot</a:t>
            </a:r>
          </a:p>
          <a:p>
            <a:pPr marL="177800" indent="-177800">
              <a:spcAft>
                <a:spcPts val="300"/>
              </a:spcAft>
              <a:buSzPct val="100000"/>
              <a:buChar char="•"/>
            </a:pPr>
            <a:r>
              <a:rPr sz="1400" b="0" i="0">
                <a:solidFill>
                  <a:srgbClr val="000000"/>
                </a:solidFill>
                <a:latin typeface="Calibri"/>
              </a:rPr>
              <a:t>uvicorn main:app --host 0.0.0.0 --port 8000</a:t>
            </a:r>
          </a:p>
          <a:p>
            <a:pPr marL="177800" indent="-177800">
              <a:spcAft>
                <a:spcPts val="0"/>
              </a:spcAft>
              <a:buSzPct val="100000"/>
              <a:buChar char="•"/>
            </a:pPr>
            <a:r>
              <a:rPr sz="1400" b="0" i="0">
                <a:solidFill>
                  <a:srgbClr val="000000"/>
                </a:solidFill>
                <a:latin typeface="Calibri"/>
              </a:rPr>
              <a:t>Laptop IP entered in AI Assist → server</a:t>
            </a:r>
          </a:p>
        </p:txBody>
      </p:sp>
      <p:sp>
        <p:nvSpPr>
          <p:cNvPr id="19" name="Slide number"/>
          <p:cNvSpPr txBox="1"/>
          <p:nvPr/>
        </p:nvSpPr>
        <p:spPr>
          <a:xfrm>
            <a:off x="11457432" y="6446520"/>
            <a:ext cx="457200" cy="274320"/>
          </a:xfrm>
          <a:prstGeom prst="rect">
            <a:avLst/>
          </a:prstGeom>
          <a:noFill/>
        </p:spPr>
        <p:txBody>
          <a:bodyPr wrap="square" lIns="0" rIns="0" tIns="0" bIns="0" anchor="ctr">
            <a:spAutoFit/>
          </a:bodyPr>
          <a:lstStyle/>
          <a:p>
            <a:pPr marL="0" indent="0" algn="r">
              <a:spcAft>
                <a:spcPts val="0"/>
              </a:spcAft>
              <a:buNone/>
            </a:pPr>
            <a:r>
              <a:rPr sz="1000" b="0" i="0">
                <a:solidFill>
                  <a:srgbClr val="808080"/>
                </a:solidFill>
                <a:latin typeface="Calibri"/>
              </a:rPr>
              <a:t>18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9601200" cy="685800"/>
          </a:xfrm>
          <a:prstGeom prst="rect">
            <a:avLst/>
          </a:prstGeom>
          <a:noFill/>
        </p:spPr>
        <p:txBody>
          <a:bodyPr wrap="square" lIns="0" rIns="0" tIns="0" bIns="0" anchor="ctr">
            <a:spAutoFit/>
          </a:bodyPr>
          <a:lstStyle/>
          <a:p>
            <a:pPr marL="0" indent="0">
              <a:spcAft>
                <a:spcPts val="0"/>
              </a:spcAft>
              <a:buNone/>
            </a:pPr>
            <a:r>
              <a:rPr sz="2800" b="1" i="0">
                <a:solidFill>
                  <a:srgbClr val="1D2F82"/>
                </a:solidFill>
                <a:latin typeface="Calibri"/>
              </a:rPr>
              <a:t>Conclusion — Project Achievements</a:t>
            </a:r>
          </a:p>
        </p:txBody>
      </p:sp>
      <p:pic>
        <p:nvPicPr>
          <p:cNvPr id="3" name="Logo" descr="image.png"/>
          <p:cNvPicPr>
            <a:picLocks noChangeAspect="1"/>
          </p:cNvPicPr>
          <p:nvPr/>
        </p:nvPicPr>
        <p:blipFill>
          <a:blip r:embed="rId2"/>
          <a:stretch>
            <a:fillRect/>
          </a:stretch>
        </p:blipFill>
        <p:spPr>
          <a:xfrm>
            <a:off x="10360152" y="320040"/>
            <a:ext cx="1371600" cy="521207"/>
          </a:xfrm>
          <a:prstGeom prst="rect">
            <a:avLst/>
          </a:prstGeom>
        </p:spPr>
      </p:pic>
      <p:sp>
        <p:nvSpPr>
          <p:cNvPr id="4" name="Rounded Rectangle 3"/>
          <p:cNvSpPr/>
          <p:nvPr/>
        </p:nvSpPr>
        <p:spPr>
          <a:xfrm>
            <a:off x="640080" y="1280160"/>
            <a:ext cx="2560320" cy="192024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19" y="1417320"/>
            <a:ext cx="2377440" cy="777240"/>
          </a:xfrm>
          <a:prstGeom prst="rect">
            <a:avLst/>
          </a:prstGeom>
          <a:noFill/>
        </p:spPr>
        <p:txBody>
          <a:bodyPr wrap="square" lIns="0" rIns="0" tIns="0" bIns="0" anchor="ctr">
            <a:spAutoFit/>
          </a:bodyPr>
          <a:lstStyle/>
          <a:p>
            <a:pPr marL="0" indent="0" algn="ctr">
              <a:spcAft>
                <a:spcPts val="0"/>
              </a:spcAft>
              <a:buNone/>
            </a:pPr>
            <a:r>
              <a:rPr sz="3600" b="1" i="0">
                <a:solidFill>
                  <a:srgbClr val="D96C1E"/>
                </a:solidFill>
                <a:latin typeface="Calibri"/>
              </a:rPr>
              <a:t>3 / 3</a:t>
            </a:r>
          </a:p>
        </p:txBody>
      </p:sp>
      <p:sp>
        <p:nvSpPr>
          <p:cNvPr id="6" name="TextBox 5"/>
          <p:cNvSpPr txBox="1"/>
          <p:nvPr/>
        </p:nvSpPr>
        <p:spPr>
          <a:xfrm>
            <a:off x="777240" y="2240280"/>
            <a:ext cx="2286000" cy="868680"/>
          </a:xfrm>
          <a:prstGeom prst="rect">
            <a:avLst/>
          </a:prstGeom>
          <a:noFill/>
        </p:spPr>
        <p:txBody>
          <a:bodyPr wrap="square" lIns="0" rIns="0" tIns="0" bIns="0" anchor="t">
            <a:spAutoFit/>
          </a:bodyPr>
          <a:lstStyle/>
          <a:p>
            <a:pPr marL="0" indent="0" algn="ctr">
              <a:spcAft>
                <a:spcPts val="0"/>
              </a:spcAft>
              <a:buNone/>
            </a:pPr>
            <a:r>
              <a:rPr sz="1400" b="0" i="0">
                <a:solidFill>
                  <a:srgbClr val="000000"/>
                </a:solidFill>
                <a:latin typeface="Calibri"/>
              </a:rPr>
              <a:t>emergencies caught,</a:t>
            </a:r>
          </a:p>
          <a:p>
            <a:pPr marL="0" indent="0" algn="ctr">
              <a:spcAft>
                <a:spcPts val="0"/>
              </a:spcAft>
              <a:buNone/>
            </a:pPr>
            <a:r>
              <a:rPr sz="1400" b="0" i="0">
                <a:solidFill>
                  <a:srgbClr val="000000"/>
                </a:solidFill>
                <a:latin typeface="Calibri"/>
              </a:rPr>
              <a:t>0 false alarms</a:t>
            </a:r>
          </a:p>
        </p:txBody>
      </p:sp>
      <p:sp>
        <p:nvSpPr>
          <p:cNvPr id="7" name="Rounded Rectangle 6"/>
          <p:cNvSpPr/>
          <p:nvPr/>
        </p:nvSpPr>
        <p:spPr>
          <a:xfrm>
            <a:off x="3383280" y="1280160"/>
            <a:ext cx="2560320" cy="192024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474720" y="1417320"/>
            <a:ext cx="2377440" cy="777240"/>
          </a:xfrm>
          <a:prstGeom prst="rect">
            <a:avLst/>
          </a:prstGeom>
          <a:noFill/>
        </p:spPr>
        <p:txBody>
          <a:bodyPr wrap="square" lIns="0" rIns="0" tIns="0" bIns="0" anchor="ctr">
            <a:spAutoFit/>
          </a:bodyPr>
          <a:lstStyle/>
          <a:p>
            <a:pPr marL="0" indent="0" algn="ctr">
              <a:spcAft>
                <a:spcPts val="0"/>
              </a:spcAft>
              <a:buNone/>
            </a:pPr>
            <a:r>
              <a:rPr sz="3600" b="1" i="0">
                <a:solidFill>
                  <a:srgbClr val="D96C1E"/>
                </a:solidFill>
                <a:latin typeface="Calibri"/>
              </a:rPr>
              <a:t>0.979</a:t>
            </a:r>
          </a:p>
        </p:txBody>
      </p:sp>
      <p:sp>
        <p:nvSpPr>
          <p:cNvPr id="9" name="TextBox 8"/>
          <p:cNvSpPr txBox="1"/>
          <p:nvPr/>
        </p:nvSpPr>
        <p:spPr>
          <a:xfrm>
            <a:off x="3520440" y="2240280"/>
            <a:ext cx="2286000" cy="868680"/>
          </a:xfrm>
          <a:prstGeom prst="rect">
            <a:avLst/>
          </a:prstGeom>
          <a:noFill/>
        </p:spPr>
        <p:txBody>
          <a:bodyPr wrap="square" lIns="0" rIns="0" tIns="0" bIns="0" anchor="t">
            <a:spAutoFit/>
          </a:bodyPr>
          <a:lstStyle/>
          <a:p>
            <a:pPr marL="0" indent="0" algn="ctr">
              <a:spcAft>
                <a:spcPts val="0"/>
              </a:spcAft>
              <a:buNone/>
            </a:pPr>
            <a:r>
              <a:rPr sz="1400" b="0" i="0">
                <a:solidFill>
                  <a:srgbClr val="000000"/>
                </a:solidFill>
                <a:latin typeface="Calibri"/>
              </a:rPr>
              <a:t>numeric grounding</a:t>
            </a:r>
          </a:p>
          <a:p>
            <a:pPr marL="0" indent="0" algn="ctr">
              <a:spcAft>
                <a:spcPts val="0"/>
              </a:spcAft>
              <a:buNone/>
            </a:pPr>
            <a:r>
              <a:rPr sz="1400" b="0" i="0">
                <a:solidFill>
                  <a:srgbClr val="000000"/>
                </a:solidFill>
                <a:latin typeface="Calibri"/>
              </a:rPr>
              <a:t>(plain LLM 0.723)</a:t>
            </a:r>
          </a:p>
        </p:txBody>
      </p:sp>
      <p:sp>
        <p:nvSpPr>
          <p:cNvPr id="10" name="Rounded Rectangle 9"/>
          <p:cNvSpPr/>
          <p:nvPr/>
        </p:nvSpPr>
        <p:spPr>
          <a:xfrm>
            <a:off x="6126480" y="1280160"/>
            <a:ext cx="2560320" cy="192024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217920" y="1417320"/>
            <a:ext cx="2377440" cy="777240"/>
          </a:xfrm>
          <a:prstGeom prst="rect">
            <a:avLst/>
          </a:prstGeom>
          <a:noFill/>
        </p:spPr>
        <p:txBody>
          <a:bodyPr wrap="square" lIns="0" rIns="0" tIns="0" bIns="0" anchor="ctr">
            <a:spAutoFit/>
          </a:bodyPr>
          <a:lstStyle/>
          <a:p>
            <a:pPr marL="0" indent="0" algn="ctr">
              <a:spcAft>
                <a:spcPts val="0"/>
              </a:spcAft>
              <a:buNone/>
            </a:pPr>
            <a:r>
              <a:rPr sz="3600" b="1" i="0">
                <a:solidFill>
                  <a:srgbClr val="D96C1E"/>
                </a:solidFill>
                <a:latin typeface="Calibri"/>
              </a:rPr>
              <a:t>0.686</a:t>
            </a:r>
          </a:p>
        </p:txBody>
      </p:sp>
      <p:sp>
        <p:nvSpPr>
          <p:cNvPr id="12" name="TextBox 11"/>
          <p:cNvSpPr txBox="1"/>
          <p:nvPr/>
        </p:nvSpPr>
        <p:spPr>
          <a:xfrm>
            <a:off x="6263640" y="2240280"/>
            <a:ext cx="2286000" cy="868680"/>
          </a:xfrm>
          <a:prstGeom prst="rect">
            <a:avLst/>
          </a:prstGeom>
          <a:noFill/>
        </p:spPr>
        <p:txBody>
          <a:bodyPr wrap="square" lIns="0" rIns="0" tIns="0" bIns="0" anchor="t">
            <a:spAutoFit/>
          </a:bodyPr>
          <a:lstStyle/>
          <a:p>
            <a:pPr marL="0" indent="0" algn="ctr">
              <a:spcAft>
                <a:spcPts val="0"/>
              </a:spcAft>
              <a:buNone/>
            </a:pPr>
            <a:r>
              <a:rPr sz="1400" b="0" i="0">
                <a:solidFill>
                  <a:srgbClr val="000000"/>
                </a:solidFill>
                <a:latin typeface="Calibri"/>
              </a:rPr>
              <a:t>AUC on real data —</a:t>
            </a:r>
          </a:p>
          <a:p>
            <a:pPr marL="0" indent="0" algn="ctr">
              <a:spcAft>
                <a:spcPts val="0"/>
              </a:spcAft>
              <a:buNone/>
            </a:pPr>
            <a:r>
              <a:rPr sz="1400" b="0" i="0">
                <a:solidFill>
                  <a:srgbClr val="000000"/>
                </a:solidFill>
                <a:latin typeface="Calibri"/>
              </a:rPr>
              <a:t>clinical TUG 0.683</a:t>
            </a:r>
          </a:p>
        </p:txBody>
      </p:sp>
      <p:sp>
        <p:nvSpPr>
          <p:cNvPr id="13" name="Rounded Rectangle 12"/>
          <p:cNvSpPr/>
          <p:nvPr/>
        </p:nvSpPr>
        <p:spPr>
          <a:xfrm>
            <a:off x="8869680" y="1280160"/>
            <a:ext cx="2560320" cy="192024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961119" y="1417320"/>
            <a:ext cx="2377440" cy="777240"/>
          </a:xfrm>
          <a:prstGeom prst="rect">
            <a:avLst/>
          </a:prstGeom>
          <a:noFill/>
        </p:spPr>
        <p:txBody>
          <a:bodyPr wrap="square" lIns="0" rIns="0" tIns="0" bIns="0" anchor="ctr">
            <a:spAutoFit/>
          </a:bodyPr>
          <a:lstStyle/>
          <a:p>
            <a:pPr marL="0" indent="0" algn="ctr">
              <a:spcAft>
                <a:spcPts val="0"/>
              </a:spcAft>
              <a:buNone/>
            </a:pPr>
            <a:r>
              <a:rPr sz="3600" b="1" i="0">
                <a:solidFill>
                  <a:srgbClr val="D96C1E"/>
                </a:solidFill>
                <a:latin typeface="Calibri"/>
              </a:rPr>
              <a:t>−43%</a:t>
            </a:r>
          </a:p>
        </p:txBody>
      </p:sp>
      <p:sp>
        <p:nvSpPr>
          <p:cNvPr id="15" name="TextBox 14"/>
          <p:cNvSpPr txBox="1"/>
          <p:nvPr/>
        </p:nvSpPr>
        <p:spPr>
          <a:xfrm>
            <a:off x="9006840" y="2240280"/>
            <a:ext cx="2286000" cy="868680"/>
          </a:xfrm>
          <a:prstGeom prst="rect">
            <a:avLst/>
          </a:prstGeom>
          <a:noFill/>
        </p:spPr>
        <p:txBody>
          <a:bodyPr wrap="square" lIns="0" rIns="0" tIns="0" bIns="0" anchor="t">
            <a:spAutoFit/>
          </a:bodyPr>
          <a:lstStyle/>
          <a:p>
            <a:pPr marL="0" indent="0" algn="ctr">
              <a:spcAft>
                <a:spcPts val="0"/>
              </a:spcAft>
              <a:buNone/>
            </a:pPr>
            <a:r>
              <a:rPr sz="1400" b="0" i="0">
                <a:solidFill>
                  <a:srgbClr val="000000"/>
                </a:solidFill>
                <a:latin typeface="Calibri"/>
              </a:rPr>
              <a:t>false physiology risk</a:t>
            </a:r>
          </a:p>
          <a:p>
            <a:pPr marL="0" indent="0" algn="ctr">
              <a:spcAft>
                <a:spcPts val="0"/>
              </a:spcAft>
              <a:buNone/>
            </a:pPr>
            <a:r>
              <a:rPr sz="1400" b="0" i="0">
                <a:solidFill>
                  <a:srgbClr val="000000"/>
                </a:solidFill>
                <a:latin typeface="Calibri"/>
              </a:rPr>
              <a:t>on normal luteal days</a:t>
            </a:r>
          </a:p>
        </p:txBody>
      </p:sp>
      <p:sp>
        <p:nvSpPr>
          <p:cNvPr id="16" name="TextBox 15"/>
          <p:cNvSpPr txBox="1"/>
          <p:nvPr/>
        </p:nvSpPr>
        <p:spPr>
          <a:xfrm>
            <a:off x="640080" y="3474720"/>
            <a:ext cx="10881360" cy="2651760"/>
          </a:xfrm>
          <a:prstGeom prst="rect">
            <a:avLst/>
          </a:prstGeom>
          <a:noFill/>
        </p:spPr>
        <p:txBody>
          <a:bodyPr wrap="square" lIns="0" rIns="0" tIns="0" bIns="0" anchor="t">
            <a:spAutoFit/>
          </a:bodyPr>
          <a:lstStyle/>
          <a:p>
            <a:pPr marL="177800" indent="-177800">
              <a:spcAft>
                <a:spcPts val="800"/>
              </a:spcAft>
              <a:buSzPct val="100000"/>
              <a:buChar char="•"/>
            </a:pPr>
            <a:r>
              <a:rPr sz="1600" b="0" i="0">
                <a:solidFill>
                  <a:srgbClr val="000000"/>
                </a:solidFill>
                <a:latin typeface="Calibri"/>
              </a:rPr>
              <a:t>A complete system: smart ring → Android app → Supabase → explainable engine → verified AI agent, all modules integrated and working</a:t>
            </a:r>
          </a:p>
          <a:p>
            <a:pPr marL="177800" indent="-177800">
              <a:spcAft>
                <a:spcPts val="800"/>
              </a:spcAft>
              <a:buSzPct val="100000"/>
              <a:buChar char="•"/>
            </a:pPr>
            <a:r>
              <a:rPr sz="1600" b="0" i="0">
                <a:solidFill>
                  <a:srgbClr val="000000"/>
                </a:solidFill>
                <a:latin typeface="Calibri"/>
              </a:rPr>
              <a:t>A transparent Fall Risk Score: personal baselines, evidence-derived weights, every point traceable in the app</a:t>
            </a:r>
          </a:p>
          <a:p>
            <a:pPr marL="177800" indent="-177800">
              <a:spcAft>
                <a:spcPts val="800"/>
              </a:spcAft>
              <a:buSzPct val="100000"/>
              <a:buChar char="•"/>
            </a:pPr>
            <a:r>
              <a:rPr sz="1600" b="0" i="0">
                <a:solidFill>
                  <a:srgbClr val="000000"/>
                </a:solidFill>
                <a:latin typeface="Calibri"/>
              </a:rPr>
              <a:t>An agent that never computes the score itself, checks every number, discloses stale data, and catches emergencies from text and from the ring</a:t>
            </a:r>
          </a:p>
          <a:p>
            <a:pPr marL="177800" indent="-177800">
              <a:spcAft>
                <a:spcPts val="0"/>
              </a:spcAft>
              <a:buSzPct val="100000"/>
              <a:buChar char="•"/>
            </a:pPr>
            <a:r>
              <a:rPr sz="1600" b="0" i="0">
                <a:solidFill>
                  <a:srgbClr val="000000"/>
                </a:solidFill>
                <a:latin typeface="Calibri"/>
              </a:rPr>
              <a:t>An untrained, explainable method that performs on par with a clinical test on real older adults</a:t>
            </a:r>
          </a:p>
        </p:txBody>
      </p:sp>
      <p:sp>
        <p:nvSpPr>
          <p:cNvPr id="17" name="Slide number"/>
          <p:cNvSpPr txBox="1"/>
          <p:nvPr/>
        </p:nvSpPr>
        <p:spPr>
          <a:xfrm>
            <a:off x="11457432" y="6446520"/>
            <a:ext cx="457200" cy="274320"/>
          </a:xfrm>
          <a:prstGeom prst="rect">
            <a:avLst/>
          </a:prstGeom>
          <a:noFill/>
        </p:spPr>
        <p:txBody>
          <a:bodyPr wrap="square" lIns="0" rIns="0" tIns="0" bIns="0" anchor="ctr">
            <a:spAutoFit/>
          </a:bodyPr>
          <a:lstStyle/>
          <a:p>
            <a:pPr marL="0" indent="0" algn="r">
              <a:spcAft>
                <a:spcPts val="0"/>
              </a:spcAft>
              <a:buNone/>
            </a:pPr>
            <a:r>
              <a:rPr sz="1000" b="0" i="0">
                <a:solidFill>
                  <a:srgbClr val="808080"/>
                </a:solidFill>
                <a:latin typeface="Calibri"/>
              </a:rPr>
              <a:t>19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9601200" cy="685800"/>
          </a:xfrm>
          <a:prstGeom prst="rect">
            <a:avLst/>
          </a:prstGeom>
          <a:noFill/>
        </p:spPr>
        <p:txBody>
          <a:bodyPr wrap="square" lIns="0" rIns="0" tIns="0" bIns="0" anchor="ctr">
            <a:spAutoFit/>
          </a:bodyPr>
          <a:lstStyle/>
          <a:p>
            <a:pPr marL="0" indent="0">
              <a:spcAft>
                <a:spcPts val="0"/>
              </a:spcAft>
              <a:buNone/>
            </a:pPr>
            <a:r>
              <a:rPr sz="2800" b="1" i="0">
                <a:solidFill>
                  <a:srgbClr val="1D2F82"/>
                </a:solidFill>
                <a:latin typeface="Calibri"/>
              </a:rPr>
              <a:t>Limitations &amp; Future Scope</a:t>
            </a:r>
          </a:p>
        </p:txBody>
      </p:sp>
      <p:pic>
        <p:nvPicPr>
          <p:cNvPr id="3" name="Logo" descr="image.png"/>
          <p:cNvPicPr>
            <a:picLocks noChangeAspect="1"/>
          </p:cNvPicPr>
          <p:nvPr/>
        </p:nvPicPr>
        <p:blipFill>
          <a:blip r:embed="rId2"/>
          <a:stretch>
            <a:fillRect/>
          </a:stretch>
        </p:blipFill>
        <p:spPr>
          <a:xfrm>
            <a:off x="10360152" y="320040"/>
            <a:ext cx="1371600" cy="521207"/>
          </a:xfrm>
          <a:prstGeom prst="rect">
            <a:avLst/>
          </a:prstGeom>
        </p:spPr>
      </p:pic>
      <p:sp>
        <p:nvSpPr>
          <p:cNvPr id="4" name="Rounded Rectangle 3"/>
          <p:cNvSpPr/>
          <p:nvPr/>
        </p:nvSpPr>
        <p:spPr>
          <a:xfrm>
            <a:off x="640080" y="1280160"/>
            <a:ext cx="5349240" cy="480060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1417320"/>
            <a:ext cx="4846320" cy="457200"/>
          </a:xfrm>
          <a:prstGeom prst="rect">
            <a:avLst/>
          </a:prstGeom>
          <a:noFill/>
        </p:spPr>
        <p:txBody>
          <a:bodyPr wrap="square" lIns="0" rIns="0" tIns="0" bIns="0" anchor="ctr">
            <a:spAutoFit/>
          </a:bodyPr>
          <a:lstStyle/>
          <a:p>
            <a:pPr marL="0" indent="0">
              <a:spcAft>
                <a:spcPts val="0"/>
              </a:spcAft>
              <a:buNone/>
            </a:pPr>
            <a:r>
              <a:rPr sz="2000" b="1" i="0">
                <a:solidFill>
                  <a:srgbClr val="1D2F82"/>
                </a:solidFill>
                <a:latin typeface="Calibri"/>
              </a:rPr>
              <a:t>Limitations</a:t>
            </a:r>
          </a:p>
        </p:txBody>
      </p:sp>
      <p:sp>
        <p:nvSpPr>
          <p:cNvPr id="6" name="Oval 5"/>
          <p:cNvSpPr/>
          <p:nvPr/>
        </p:nvSpPr>
        <p:spPr>
          <a:xfrm>
            <a:off x="914400" y="2103120"/>
            <a:ext cx="347472" cy="347472"/>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Calibri"/>
              </a:rPr>
              <a:t>1</a:t>
            </a:r>
          </a:p>
        </p:txBody>
      </p:sp>
      <p:sp>
        <p:nvSpPr>
          <p:cNvPr id="7" name="TextBox 6"/>
          <p:cNvSpPr txBox="1"/>
          <p:nvPr/>
        </p:nvSpPr>
        <p:spPr>
          <a:xfrm>
            <a:off x="1417319" y="2057400"/>
            <a:ext cx="4343400" cy="731520"/>
          </a:xfrm>
          <a:prstGeom prst="rect">
            <a:avLst/>
          </a:prstGeom>
          <a:noFill/>
        </p:spPr>
        <p:txBody>
          <a:bodyPr wrap="square" lIns="0" rIns="0" tIns="0" bIns="0" anchor="ctr">
            <a:spAutoFit/>
          </a:bodyPr>
          <a:lstStyle/>
          <a:p>
            <a:pPr marL="0" indent="0">
              <a:spcAft>
                <a:spcPts val="0"/>
              </a:spcAft>
              <a:buNone/>
            </a:pPr>
            <a:r>
              <a:rPr sz="1500" b="0" i="0">
                <a:solidFill>
                  <a:srgbClr val="000000"/>
                </a:solidFill>
                <a:latin typeface="Calibri"/>
              </a:rPr>
              <a:t>No real fall outcomes from ring users yet (validation used LTMM)</a:t>
            </a:r>
          </a:p>
        </p:txBody>
      </p:sp>
      <p:sp>
        <p:nvSpPr>
          <p:cNvPr id="8" name="Oval 7"/>
          <p:cNvSpPr/>
          <p:nvPr/>
        </p:nvSpPr>
        <p:spPr>
          <a:xfrm>
            <a:off x="914400" y="2889503"/>
            <a:ext cx="347472" cy="347472"/>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Calibri"/>
              </a:rPr>
              <a:t>2</a:t>
            </a:r>
          </a:p>
        </p:txBody>
      </p:sp>
      <p:sp>
        <p:nvSpPr>
          <p:cNvPr id="9" name="TextBox 8"/>
          <p:cNvSpPr txBox="1"/>
          <p:nvPr/>
        </p:nvSpPr>
        <p:spPr>
          <a:xfrm>
            <a:off x="1417319" y="2843784"/>
            <a:ext cx="4343400" cy="731520"/>
          </a:xfrm>
          <a:prstGeom prst="rect">
            <a:avLst/>
          </a:prstGeom>
          <a:noFill/>
        </p:spPr>
        <p:txBody>
          <a:bodyPr wrap="square" lIns="0" rIns="0" tIns="0" bIns="0" anchor="ctr">
            <a:spAutoFit/>
          </a:bodyPr>
          <a:lstStyle/>
          <a:p>
            <a:pPr marL="0" indent="0">
              <a:spcAft>
                <a:spcPts val="0"/>
              </a:spcAft>
              <a:buNone/>
            </a:pPr>
            <a:r>
              <a:rPr sz="1500" b="0" i="0">
                <a:solidFill>
                  <a:srgbClr val="000000"/>
                </a:solidFill>
                <a:latin typeface="Calibri"/>
              </a:rPr>
              <a:t>LTMM sensor is on the lower back; the ring gives no raw accelerometer stream</a:t>
            </a:r>
          </a:p>
        </p:txBody>
      </p:sp>
      <p:sp>
        <p:nvSpPr>
          <p:cNvPr id="10" name="Oval 9"/>
          <p:cNvSpPr/>
          <p:nvPr/>
        </p:nvSpPr>
        <p:spPr>
          <a:xfrm>
            <a:off x="914400" y="3675887"/>
            <a:ext cx="347472" cy="347472"/>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Calibri"/>
              </a:rPr>
              <a:t>3</a:t>
            </a:r>
          </a:p>
        </p:txBody>
      </p:sp>
      <p:sp>
        <p:nvSpPr>
          <p:cNvPr id="11" name="TextBox 10"/>
          <p:cNvSpPr txBox="1"/>
          <p:nvPr/>
        </p:nvSpPr>
        <p:spPr>
          <a:xfrm>
            <a:off x="1417319" y="3630168"/>
            <a:ext cx="4343400" cy="731520"/>
          </a:xfrm>
          <a:prstGeom prst="rect">
            <a:avLst/>
          </a:prstGeom>
          <a:noFill/>
        </p:spPr>
        <p:txBody>
          <a:bodyPr wrap="square" lIns="0" rIns="0" tIns="0" bIns="0" anchor="ctr">
            <a:spAutoFit/>
          </a:bodyPr>
          <a:lstStyle/>
          <a:p>
            <a:pPr marL="0" indent="0">
              <a:spcAft>
                <a:spcPts val="0"/>
              </a:spcAft>
              <a:buNone/>
            </a:pPr>
            <a:r>
              <a:rPr sz="1500" b="0" i="0">
                <a:solidFill>
                  <a:srgbClr val="000000"/>
                </a:solidFill>
                <a:latin typeface="Calibri"/>
              </a:rPr>
              <a:t>Phone-detected falls are not yet uploaded to the backend</a:t>
            </a:r>
          </a:p>
        </p:txBody>
      </p:sp>
      <p:sp>
        <p:nvSpPr>
          <p:cNvPr id="12" name="Oval 11"/>
          <p:cNvSpPr/>
          <p:nvPr/>
        </p:nvSpPr>
        <p:spPr>
          <a:xfrm>
            <a:off x="914400" y="4462272"/>
            <a:ext cx="347472" cy="347472"/>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Calibri"/>
              </a:rPr>
              <a:t>4</a:t>
            </a:r>
          </a:p>
        </p:txBody>
      </p:sp>
      <p:sp>
        <p:nvSpPr>
          <p:cNvPr id="13" name="TextBox 12"/>
          <p:cNvSpPr txBox="1"/>
          <p:nvPr/>
        </p:nvSpPr>
        <p:spPr>
          <a:xfrm>
            <a:off x="1417319" y="4416552"/>
            <a:ext cx="4343400" cy="731520"/>
          </a:xfrm>
          <a:prstGeom prst="rect">
            <a:avLst/>
          </a:prstGeom>
          <a:noFill/>
        </p:spPr>
        <p:txBody>
          <a:bodyPr wrap="square" lIns="0" rIns="0" tIns="0" bIns="0" anchor="ctr">
            <a:spAutoFit/>
          </a:bodyPr>
          <a:lstStyle/>
          <a:p>
            <a:pPr marL="0" indent="0">
              <a:spcAft>
                <a:spcPts val="0"/>
              </a:spcAft>
              <a:buNone/>
            </a:pPr>
            <a:r>
              <a:rPr sz="1500" b="0" i="0">
                <a:solidFill>
                  <a:srgbClr val="000000"/>
                </a:solidFill>
                <a:latin typeface="Calibri"/>
              </a:rPr>
              <a:t>Backend runs on a laptop on the same Wi-Fi</a:t>
            </a:r>
          </a:p>
        </p:txBody>
      </p:sp>
      <p:sp>
        <p:nvSpPr>
          <p:cNvPr id="14" name="Oval 13"/>
          <p:cNvSpPr/>
          <p:nvPr/>
        </p:nvSpPr>
        <p:spPr>
          <a:xfrm>
            <a:off x="914400" y="5248655"/>
            <a:ext cx="347472" cy="347472"/>
          </a:xfrm>
          <a:prstGeom prst="ellipse">
            <a:avLst/>
          </a:prstGeom>
          <a:solidFill>
            <a:srgbClr val="1D2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Calibri"/>
              </a:rPr>
              <a:t>5</a:t>
            </a:r>
          </a:p>
        </p:txBody>
      </p:sp>
      <p:sp>
        <p:nvSpPr>
          <p:cNvPr id="15" name="TextBox 14"/>
          <p:cNvSpPr txBox="1"/>
          <p:nvPr/>
        </p:nvSpPr>
        <p:spPr>
          <a:xfrm>
            <a:off x="1417319" y="5202936"/>
            <a:ext cx="4343400" cy="731520"/>
          </a:xfrm>
          <a:prstGeom prst="rect">
            <a:avLst/>
          </a:prstGeom>
          <a:noFill/>
        </p:spPr>
        <p:txBody>
          <a:bodyPr wrap="square" lIns="0" rIns="0" tIns="0" bIns="0" anchor="ctr">
            <a:spAutoFit/>
          </a:bodyPr>
          <a:lstStyle/>
          <a:p>
            <a:pPr marL="0" indent="0">
              <a:spcAft>
                <a:spcPts val="0"/>
              </a:spcAft>
              <a:buNone/>
            </a:pPr>
            <a:r>
              <a:rPr sz="1500" b="0" i="0">
                <a:solidFill>
                  <a:srgbClr val="000000"/>
                </a:solidFill>
                <a:latin typeface="Calibri"/>
              </a:rPr>
              <a:t>Weights come from published studies, not calibrated on our users</a:t>
            </a:r>
          </a:p>
        </p:txBody>
      </p:sp>
      <p:sp>
        <p:nvSpPr>
          <p:cNvPr id="16" name="Rounded Rectangle 15"/>
          <p:cNvSpPr/>
          <p:nvPr/>
        </p:nvSpPr>
        <p:spPr>
          <a:xfrm>
            <a:off x="6172200" y="1280160"/>
            <a:ext cx="5349240" cy="4800600"/>
          </a:xfrm>
          <a:prstGeom prst="roundRect">
            <a:avLst>
              <a:gd name="adj" fmla="val 6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46520" y="1417320"/>
            <a:ext cx="4846320" cy="457200"/>
          </a:xfrm>
          <a:prstGeom prst="rect">
            <a:avLst/>
          </a:prstGeom>
          <a:noFill/>
        </p:spPr>
        <p:txBody>
          <a:bodyPr wrap="square" lIns="0" rIns="0" tIns="0" bIns="0" anchor="ctr">
            <a:spAutoFit/>
          </a:bodyPr>
          <a:lstStyle/>
          <a:p>
            <a:pPr marL="0" indent="0">
              <a:spcAft>
                <a:spcPts val="0"/>
              </a:spcAft>
              <a:buNone/>
            </a:pPr>
            <a:r>
              <a:rPr sz="2000" b="1" i="0">
                <a:solidFill>
                  <a:srgbClr val="D96C1E"/>
                </a:solidFill>
                <a:latin typeface="Calibri"/>
              </a:rPr>
              <a:t>Future scope</a:t>
            </a:r>
          </a:p>
        </p:txBody>
      </p:sp>
      <p:sp>
        <p:nvSpPr>
          <p:cNvPr id="18" name="Oval 17"/>
          <p:cNvSpPr/>
          <p:nvPr/>
        </p:nvSpPr>
        <p:spPr>
          <a:xfrm>
            <a:off x="6446520" y="2103120"/>
            <a:ext cx="347472" cy="347472"/>
          </a:xfrm>
          <a:prstGeom prst="ellipse">
            <a:avLst/>
          </a:prstGeom>
          <a:solidFill>
            <a:srgbClr val="D96C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Calibri"/>
              </a:rPr>
              <a:t>1</a:t>
            </a:r>
          </a:p>
        </p:txBody>
      </p:sp>
      <p:sp>
        <p:nvSpPr>
          <p:cNvPr id="19" name="TextBox 18"/>
          <p:cNvSpPr txBox="1"/>
          <p:nvPr/>
        </p:nvSpPr>
        <p:spPr>
          <a:xfrm>
            <a:off x="6949440" y="2057400"/>
            <a:ext cx="4343400" cy="731520"/>
          </a:xfrm>
          <a:prstGeom prst="rect">
            <a:avLst/>
          </a:prstGeom>
          <a:noFill/>
        </p:spPr>
        <p:txBody>
          <a:bodyPr wrap="square" lIns="0" rIns="0" tIns="0" bIns="0" anchor="ctr">
            <a:spAutoFit/>
          </a:bodyPr>
          <a:lstStyle/>
          <a:p>
            <a:pPr marL="0" indent="0">
              <a:spcAft>
                <a:spcPts val="0"/>
              </a:spcAft>
              <a:buNone/>
            </a:pPr>
            <a:r>
              <a:rPr sz="1500" b="0" i="0">
                <a:solidFill>
                  <a:srgbClr val="000000"/>
                </a:solidFill>
                <a:latin typeface="Calibri"/>
              </a:rPr>
              <a:t>Prospective study: follow users for months and record real falls</a:t>
            </a:r>
          </a:p>
        </p:txBody>
      </p:sp>
      <p:sp>
        <p:nvSpPr>
          <p:cNvPr id="20" name="Oval 19"/>
          <p:cNvSpPr/>
          <p:nvPr/>
        </p:nvSpPr>
        <p:spPr>
          <a:xfrm>
            <a:off x="6446520" y="2889503"/>
            <a:ext cx="347472" cy="347472"/>
          </a:xfrm>
          <a:prstGeom prst="ellipse">
            <a:avLst/>
          </a:prstGeom>
          <a:solidFill>
            <a:srgbClr val="D96C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Calibri"/>
              </a:rPr>
              <a:t>2</a:t>
            </a:r>
          </a:p>
        </p:txBody>
      </p:sp>
      <p:sp>
        <p:nvSpPr>
          <p:cNvPr id="21" name="TextBox 20"/>
          <p:cNvSpPr txBox="1"/>
          <p:nvPr/>
        </p:nvSpPr>
        <p:spPr>
          <a:xfrm>
            <a:off x="6949440" y="2843784"/>
            <a:ext cx="4343400" cy="731520"/>
          </a:xfrm>
          <a:prstGeom prst="rect">
            <a:avLst/>
          </a:prstGeom>
          <a:noFill/>
        </p:spPr>
        <p:txBody>
          <a:bodyPr wrap="square" lIns="0" rIns="0" tIns="0" bIns="0" anchor="ctr">
            <a:spAutoFit/>
          </a:bodyPr>
          <a:lstStyle/>
          <a:p>
            <a:pPr marL="0" indent="0">
              <a:spcAft>
                <a:spcPts val="0"/>
              </a:spcAft>
              <a:buNone/>
            </a:pPr>
            <a:r>
              <a:rPr sz="1500" b="0" i="0">
                <a:solidFill>
                  <a:srgbClr val="000000"/>
                </a:solidFill>
                <a:latin typeface="Calibri"/>
              </a:rPr>
              <a:t>Use the ring's own motion data for gait features when the SDK allows</a:t>
            </a:r>
          </a:p>
        </p:txBody>
      </p:sp>
      <p:sp>
        <p:nvSpPr>
          <p:cNvPr id="22" name="Oval 21"/>
          <p:cNvSpPr/>
          <p:nvPr/>
        </p:nvSpPr>
        <p:spPr>
          <a:xfrm>
            <a:off x="6446520" y="3675887"/>
            <a:ext cx="347472" cy="347472"/>
          </a:xfrm>
          <a:prstGeom prst="ellipse">
            <a:avLst/>
          </a:prstGeom>
          <a:solidFill>
            <a:srgbClr val="D96C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Calibri"/>
              </a:rPr>
              <a:t>3</a:t>
            </a:r>
          </a:p>
        </p:txBody>
      </p:sp>
      <p:sp>
        <p:nvSpPr>
          <p:cNvPr id="23" name="TextBox 22"/>
          <p:cNvSpPr txBox="1"/>
          <p:nvPr/>
        </p:nvSpPr>
        <p:spPr>
          <a:xfrm>
            <a:off x="6949440" y="3630168"/>
            <a:ext cx="4343400" cy="731520"/>
          </a:xfrm>
          <a:prstGeom prst="rect">
            <a:avLst/>
          </a:prstGeom>
          <a:noFill/>
        </p:spPr>
        <p:txBody>
          <a:bodyPr wrap="square" lIns="0" rIns="0" tIns="0" bIns="0" anchor="ctr">
            <a:spAutoFit/>
          </a:bodyPr>
          <a:lstStyle/>
          <a:p>
            <a:pPr marL="0" indent="0">
              <a:spcAft>
                <a:spcPts val="0"/>
              </a:spcAft>
              <a:buNone/>
            </a:pPr>
            <a:r>
              <a:rPr sz="1500" b="0" i="0">
                <a:solidFill>
                  <a:srgbClr val="000000"/>
                </a:solidFill>
                <a:latin typeface="Calibri"/>
              </a:rPr>
              <a:t>Upload phone fall events so the biometric safety signal works on real falls</a:t>
            </a:r>
          </a:p>
        </p:txBody>
      </p:sp>
      <p:sp>
        <p:nvSpPr>
          <p:cNvPr id="24" name="Oval 23"/>
          <p:cNvSpPr/>
          <p:nvPr/>
        </p:nvSpPr>
        <p:spPr>
          <a:xfrm>
            <a:off x="6446520" y="4462272"/>
            <a:ext cx="347472" cy="347472"/>
          </a:xfrm>
          <a:prstGeom prst="ellipse">
            <a:avLst/>
          </a:prstGeom>
          <a:solidFill>
            <a:srgbClr val="D96C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Calibri"/>
              </a:rPr>
              <a:t>4</a:t>
            </a:r>
          </a:p>
        </p:txBody>
      </p:sp>
      <p:sp>
        <p:nvSpPr>
          <p:cNvPr id="25" name="TextBox 24"/>
          <p:cNvSpPr txBox="1"/>
          <p:nvPr/>
        </p:nvSpPr>
        <p:spPr>
          <a:xfrm>
            <a:off x="6949440" y="4416552"/>
            <a:ext cx="4343400" cy="731520"/>
          </a:xfrm>
          <a:prstGeom prst="rect">
            <a:avLst/>
          </a:prstGeom>
          <a:noFill/>
        </p:spPr>
        <p:txBody>
          <a:bodyPr wrap="square" lIns="0" rIns="0" tIns="0" bIns="0" anchor="ctr">
            <a:spAutoFit/>
          </a:bodyPr>
          <a:lstStyle/>
          <a:p>
            <a:pPr marL="0" indent="0">
              <a:spcAft>
                <a:spcPts val="0"/>
              </a:spcAft>
              <a:buNone/>
            </a:pPr>
            <a:r>
              <a:rPr sz="1500" b="0" i="0">
                <a:solidFill>
                  <a:srgbClr val="000000"/>
                </a:solidFill>
                <a:latin typeface="Calibri"/>
              </a:rPr>
              <a:t>Deploy the backend to the cloud for use anywhere</a:t>
            </a:r>
          </a:p>
        </p:txBody>
      </p:sp>
      <p:sp>
        <p:nvSpPr>
          <p:cNvPr id="26" name="Oval 25"/>
          <p:cNvSpPr/>
          <p:nvPr/>
        </p:nvSpPr>
        <p:spPr>
          <a:xfrm>
            <a:off x="6446520" y="5248655"/>
            <a:ext cx="347472" cy="347472"/>
          </a:xfrm>
          <a:prstGeom prst="ellipse">
            <a:avLst/>
          </a:prstGeom>
          <a:solidFill>
            <a:srgbClr val="D96C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Calibri"/>
              </a:rPr>
              <a:t>5</a:t>
            </a:r>
          </a:p>
        </p:txBody>
      </p:sp>
      <p:sp>
        <p:nvSpPr>
          <p:cNvPr id="27" name="TextBox 26"/>
          <p:cNvSpPr txBox="1"/>
          <p:nvPr/>
        </p:nvSpPr>
        <p:spPr>
          <a:xfrm>
            <a:off x="6949440" y="5202936"/>
            <a:ext cx="4343400" cy="731520"/>
          </a:xfrm>
          <a:prstGeom prst="rect">
            <a:avLst/>
          </a:prstGeom>
          <a:noFill/>
        </p:spPr>
        <p:txBody>
          <a:bodyPr wrap="square" lIns="0" rIns="0" tIns="0" bIns="0" anchor="ctr">
            <a:spAutoFit/>
          </a:bodyPr>
          <a:lstStyle/>
          <a:p>
            <a:pPr marL="0" indent="0">
              <a:spcAft>
                <a:spcPts val="0"/>
              </a:spcAft>
              <a:buNone/>
            </a:pPr>
            <a:r>
              <a:rPr sz="1500" b="0" i="0">
                <a:solidFill>
                  <a:srgbClr val="000000"/>
                </a:solidFill>
                <a:latin typeface="Calibri"/>
              </a:rPr>
              <a:t>Calibrate weights on real outcomes; caregiver alerts with consent</a:t>
            </a:r>
          </a:p>
        </p:txBody>
      </p:sp>
      <p:sp>
        <p:nvSpPr>
          <p:cNvPr id="28" name="Slide number"/>
          <p:cNvSpPr txBox="1"/>
          <p:nvPr/>
        </p:nvSpPr>
        <p:spPr>
          <a:xfrm>
            <a:off x="11457432" y="6446520"/>
            <a:ext cx="457200" cy="274320"/>
          </a:xfrm>
          <a:prstGeom prst="rect">
            <a:avLst/>
          </a:prstGeom>
          <a:noFill/>
        </p:spPr>
        <p:txBody>
          <a:bodyPr wrap="square" lIns="0" rIns="0" tIns="0" bIns="0" anchor="ctr">
            <a:spAutoFit/>
          </a:bodyPr>
          <a:lstStyle/>
          <a:p>
            <a:pPr marL="0" indent="0" algn="r">
              <a:spcAft>
                <a:spcPts val="0"/>
              </a:spcAft>
              <a:buNone/>
            </a:pPr>
            <a:r>
              <a:rPr sz="1000" b="0" i="0">
                <a:solidFill>
                  <a:srgbClr val="808080"/>
                </a:solidFill>
                <a:latin typeface="Calibri"/>
              </a:rPr>
              <a:t>20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9601200" cy="685800"/>
          </a:xfrm>
          <a:prstGeom prst="rect">
            <a:avLst/>
          </a:prstGeom>
          <a:noFill/>
        </p:spPr>
        <p:txBody>
          <a:bodyPr wrap="square" lIns="0" rIns="0" tIns="0" bIns="0" anchor="ctr">
            <a:spAutoFit/>
          </a:bodyPr>
          <a:lstStyle/>
          <a:p>
            <a:pPr marL="0" indent="0">
              <a:spcAft>
                <a:spcPts val="0"/>
              </a:spcAft>
              <a:buNone/>
            </a:pPr>
            <a:r>
              <a:rPr sz="2800" b="1" i="0">
                <a:solidFill>
                  <a:srgbClr val="1D2F82"/>
                </a:solidFill>
                <a:latin typeface="Calibri"/>
              </a:rPr>
              <a:t>References (1/2)</a:t>
            </a:r>
          </a:p>
        </p:txBody>
      </p:sp>
      <p:pic>
        <p:nvPicPr>
          <p:cNvPr id="3" name="Logo" descr="image.png"/>
          <p:cNvPicPr>
            <a:picLocks noChangeAspect="1"/>
          </p:cNvPicPr>
          <p:nvPr/>
        </p:nvPicPr>
        <p:blipFill>
          <a:blip r:embed="rId2"/>
          <a:stretch>
            <a:fillRect/>
          </a:stretch>
        </p:blipFill>
        <p:spPr>
          <a:xfrm>
            <a:off x="10360152" y="320040"/>
            <a:ext cx="1371600" cy="521207"/>
          </a:xfrm>
          <a:prstGeom prst="rect">
            <a:avLst/>
          </a:prstGeom>
        </p:spPr>
      </p:pic>
      <p:sp>
        <p:nvSpPr>
          <p:cNvPr id="4" name="TextBox 3"/>
          <p:cNvSpPr txBox="1"/>
          <p:nvPr/>
        </p:nvSpPr>
        <p:spPr>
          <a:xfrm>
            <a:off x="640080" y="1234440"/>
            <a:ext cx="10881360" cy="4937760"/>
          </a:xfrm>
          <a:prstGeom prst="rect">
            <a:avLst/>
          </a:prstGeom>
          <a:noFill/>
        </p:spPr>
        <p:txBody>
          <a:bodyPr wrap="square" lIns="0" rIns="0" tIns="0" bIns="0" anchor="t">
            <a:spAutoFit/>
          </a:bodyPr>
          <a:lstStyle/>
          <a:p>
            <a:pPr marL="0" indent="0">
              <a:spcAft>
                <a:spcPts val="600"/>
              </a:spcAft>
              <a:buNone/>
            </a:pPr>
            <a:r>
              <a:rPr sz="1200" b="0" i="0">
                <a:solidFill>
                  <a:srgbClr val="000000"/>
                </a:solidFill>
                <a:latin typeface="Calibri"/>
              </a:rPr>
              <a:t>[1]  H. H. Mohammed, G. Kiss, J. A. Serrano, and F. Lindseth, “Agentic health analytics for personalized insights from wearable data,” in </a:t>
            </a:r>
            <a:r>
              <a:rPr sz="1200" b="0" i="1">
                <a:solidFill>
                  <a:srgbClr val="000000"/>
                </a:solidFill>
                <a:latin typeface="Calibri"/>
              </a:rPr>
              <a:t>Proc. 18th Int. Conf. Agents and Artificial Intelligence (ICAART)</a:t>
            </a:r>
            <a:r>
              <a:rPr sz="1200" b="0" i="0">
                <a:solidFill>
                  <a:srgbClr val="000000"/>
                </a:solidFill>
                <a:latin typeface="Calibri"/>
              </a:rPr>
              <a:t>, Marbella, Spain, vol. 3, pp. 2050–2061, 2026.</a:t>
            </a:r>
          </a:p>
          <a:p>
            <a:pPr marL="0" indent="0">
              <a:spcAft>
                <a:spcPts val="600"/>
              </a:spcAft>
              <a:buNone/>
            </a:pPr>
            <a:r>
              <a:rPr sz="1200" b="0" i="0">
                <a:solidFill>
                  <a:srgbClr val="000000"/>
                </a:solidFill>
                <a:latin typeface="Calibri"/>
              </a:rPr>
              <a:t>[2]  M. A. Merrill </a:t>
            </a:r>
            <a:r>
              <a:rPr sz="1200" b="0" i="1">
                <a:solidFill>
                  <a:srgbClr val="000000"/>
                </a:solidFill>
                <a:latin typeface="Calibri"/>
              </a:rPr>
              <a:t>et al.</a:t>
            </a:r>
            <a:r>
              <a:rPr sz="1200" b="0" i="0">
                <a:solidFill>
                  <a:srgbClr val="000000"/>
                </a:solidFill>
                <a:latin typeface="Calibri"/>
              </a:rPr>
              <a:t>, “Transforming wearable data into personal health insights using large language model agents,” </a:t>
            </a:r>
            <a:r>
              <a:rPr sz="1200" b="0" i="1">
                <a:solidFill>
                  <a:srgbClr val="000000"/>
                </a:solidFill>
                <a:latin typeface="Calibri"/>
              </a:rPr>
              <a:t>Nature Communications</a:t>
            </a:r>
            <a:r>
              <a:rPr sz="1200" b="0" i="0">
                <a:solidFill>
                  <a:srgbClr val="000000"/>
                </a:solidFill>
                <a:latin typeface="Calibri"/>
              </a:rPr>
              <a:t>, vol. 17, Art. no. 1143, 2026.</a:t>
            </a:r>
          </a:p>
          <a:p>
            <a:pPr marL="0" indent="0">
              <a:spcAft>
                <a:spcPts val="600"/>
              </a:spcAft>
              <a:buNone/>
            </a:pPr>
            <a:r>
              <a:rPr sz="1200" b="0" i="0">
                <a:solidFill>
                  <a:srgbClr val="000000"/>
                </a:solidFill>
                <a:latin typeface="Calibri"/>
              </a:rPr>
              <a:t>[3]  Z. Lu, M. Abbasian, and A. M. Rahmani, “Query-conditioned graph retrieval for contextualized LLM reasoning in personalized wearable data,” arXiv:2605.18763, 2026.</a:t>
            </a:r>
          </a:p>
          <a:p>
            <a:pPr marL="0" indent="0">
              <a:spcAft>
                <a:spcPts val="600"/>
              </a:spcAft>
              <a:buNone/>
            </a:pPr>
            <a:r>
              <a:rPr sz="1200" b="0" i="0">
                <a:solidFill>
                  <a:srgbClr val="000000"/>
                </a:solidFill>
                <a:latin typeface="Calibri"/>
              </a:rPr>
              <a:t>[4]  W. Zhang </a:t>
            </a:r>
            <a:r>
              <a:rPr sz="1200" b="0" i="1">
                <a:solidFill>
                  <a:srgbClr val="000000"/>
                </a:solidFill>
                <a:latin typeface="Calibri"/>
              </a:rPr>
              <a:t>et al.</a:t>
            </a:r>
            <a:r>
              <a:rPr sz="1200" b="0" i="0">
                <a:solidFill>
                  <a:srgbClr val="000000"/>
                </a:solidFill>
                <a:latin typeface="Calibri"/>
              </a:rPr>
              <a:t>, “RubricsTree: Scalable and evolving open-ended evaluation of personal health agents across health memory and medical skills,” arXiv:2606.18203, 2026.</a:t>
            </a:r>
          </a:p>
          <a:p>
            <a:pPr marL="0" indent="0">
              <a:spcAft>
                <a:spcPts val="600"/>
              </a:spcAft>
              <a:buNone/>
            </a:pPr>
            <a:r>
              <a:rPr sz="1200" b="0" i="0">
                <a:solidFill>
                  <a:srgbClr val="000000"/>
                </a:solidFill>
                <a:latin typeface="Calibri"/>
              </a:rPr>
              <a:t>[5]  P. Saha </a:t>
            </a:r>
            <a:r>
              <a:rPr sz="1200" b="0" i="1">
                <a:solidFill>
                  <a:srgbClr val="000000"/>
                </a:solidFill>
                <a:latin typeface="Calibri"/>
              </a:rPr>
              <a:t>et al.</a:t>
            </a:r>
            <a:r>
              <a:rPr sz="1200" b="0" i="0">
                <a:solidFill>
                  <a:srgbClr val="000000"/>
                </a:solidFill>
                <a:latin typeface="Calibri"/>
              </a:rPr>
              <a:t>, “Picking the right specialist: Attentive neural process-based selection of task-specialized models as tools for agentic healthcare systems,” arXiv:2602.14901, 2026.</a:t>
            </a:r>
          </a:p>
          <a:p>
            <a:pPr marL="0" indent="0">
              <a:spcAft>
                <a:spcPts val="600"/>
              </a:spcAft>
              <a:buNone/>
            </a:pPr>
            <a:r>
              <a:rPr sz="1200" b="0" i="0">
                <a:solidFill>
                  <a:srgbClr val="000000"/>
                </a:solidFill>
                <a:latin typeface="Calibri"/>
              </a:rPr>
              <a:t>[6]  S. Yao </a:t>
            </a:r>
            <a:r>
              <a:rPr sz="1200" b="0" i="1">
                <a:solidFill>
                  <a:srgbClr val="000000"/>
                </a:solidFill>
                <a:latin typeface="Calibri"/>
              </a:rPr>
              <a:t>et al.</a:t>
            </a:r>
            <a:r>
              <a:rPr sz="1200" b="0" i="0">
                <a:solidFill>
                  <a:srgbClr val="000000"/>
                </a:solidFill>
                <a:latin typeface="Calibri"/>
              </a:rPr>
              <a:t>, “ReAct: Synergizing reasoning and acting in language models,” in </a:t>
            </a:r>
            <a:r>
              <a:rPr sz="1200" b="0" i="1">
                <a:solidFill>
                  <a:srgbClr val="000000"/>
                </a:solidFill>
                <a:latin typeface="Calibri"/>
              </a:rPr>
              <a:t>Proc. Int. Conf. Learning Representations (ICLR)</a:t>
            </a:r>
            <a:r>
              <a:rPr sz="1200" b="0" i="0">
                <a:solidFill>
                  <a:srgbClr val="000000"/>
                </a:solidFill>
                <a:latin typeface="Calibri"/>
              </a:rPr>
              <a:t>, 2023.</a:t>
            </a:r>
          </a:p>
          <a:p>
            <a:pPr marL="0" indent="0">
              <a:spcAft>
                <a:spcPts val="600"/>
              </a:spcAft>
              <a:buNone/>
            </a:pPr>
            <a:r>
              <a:rPr sz="1200" b="0" i="0">
                <a:solidFill>
                  <a:srgbClr val="000000"/>
                </a:solidFill>
                <a:latin typeface="Calibri"/>
              </a:rPr>
              <a:t>[7]  P. Manakul, A. Liusie, and M. J. F. Gales, “SelfCheckGPT: Zero-resource black-box hallucination detection for generative large language models,” in </a:t>
            </a:r>
            <a:r>
              <a:rPr sz="1200" b="0" i="1">
                <a:solidFill>
                  <a:srgbClr val="000000"/>
                </a:solidFill>
                <a:latin typeface="Calibri"/>
              </a:rPr>
              <a:t>Proc. Conf. Empirical Methods in Natural Language Processing (EMNLP)</a:t>
            </a:r>
            <a:r>
              <a:rPr sz="1200" b="0" i="0">
                <a:solidFill>
                  <a:srgbClr val="000000"/>
                </a:solidFill>
                <a:latin typeface="Calibri"/>
              </a:rPr>
              <a:t>, pp. 9004–9017, 2023.</a:t>
            </a:r>
          </a:p>
          <a:p>
            <a:pPr marL="0" indent="0">
              <a:spcAft>
                <a:spcPts val="600"/>
              </a:spcAft>
              <a:buNone/>
            </a:pPr>
            <a:r>
              <a:rPr sz="1200" b="0" i="0">
                <a:solidFill>
                  <a:srgbClr val="000000"/>
                </a:solidFill>
                <a:latin typeface="Calibri"/>
              </a:rPr>
              <a:t>[8]  A. Madaan </a:t>
            </a:r>
            <a:r>
              <a:rPr sz="1200" b="0" i="1">
                <a:solidFill>
                  <a:srgbClr val="000000"/>
                </a:solidFill>
                <a:latin typeface="Calibri"/>
              </a:rPr>
              <a:t>et al.</a:t>
            </a:r>
            <a:r>
              <a:rPr sz="1200" b="0" i="0">
                <a:solidFill>
                  <a:srgbClr val="000000"/>
                </a:solidFill>
                <a:latin typeface="Calibri"/>
              </a:rPr>
              <a:t>, “Self-Refine: Iterative refinement with self-feedback,” in </a:t>
            </a:r>
            <a:r>
              <a:rPr sz="1200" b="0" i="1">
                <a:solidFill>
                  <a:srgbClr val="000000"/>
                </a:solidFill>
                <a:latin typeface="Calibri"/>
              </a:rPr>
              <a:t>Advances in Neural Information Processing Systems (NeurIPS)</a:t>
            </a:r>
            <a:r>
              <a:rPr sz="1200" b="0" i="0">
                <a:solidFill>
                  <a:srgbClr val="000000"/>
                </a:solidFill>
                <a:latin typeface="Calibri"/>
              </a:rPr>
              <a:t>, vol. 36, 2023.</a:t>
            </a:r>
          </a:p>
          <a:p>
            <a:pPr marL="0" indent="0">
              <a:spcAft>
                <a:spcPts val="600"/>
              </a:spcAft>
              <a:buNone/>
            </a:pPr>
            <a:r>
              <a:rPr sz="1200" b="0" i="0">
                <a:solidFill>
                  <a:srgbClr val="000000"/>
                </a:solidFill>
                <a:latin typeface="Calibri"/>
              </a:rPr>
              <a:t>[9]  S. Ateia and U. Kruschwitz, “Can language models critique themselves? Investigating self-feedback for retrieval augmented generation at BioASQ 2025,” in </a:t>
            </a:r>
            <a:r>
              <a:rPr sz="1200" b="0" i="1">
                <a:solidFill>
                  <a:srgbClr val="000000"/>
                </a:solidFill>
                <a:latin typeface="Calibri"/>
              </a:rPr>
              <a:t>CLEF 2025 Working Notes (BioASQ Lab)</a:t>
            </a:r>
            <a:r>
              <a:rPr sz="1200" b="0" i="0">
                <a:solidFill>
                  <a:srgbClr val="000000"/>
                </a:solidFill>
                <a:latin typeface="Calibri"/>
              </a:rPr>
              <a:t>, 2025.</a:t>
            </a:r>
          </a:p>
          <a:p>
            <a:pPr marL="0" indent="0">
              <a:spcAft>
                <a:spcPts val="600"/>
              </a:spcAft>
              <a:buNone/>
            </a:pPr>
            <a:r>
              <a:rPr sz="1200" b="0" i="0">
                <a:solidFill>
                  <a:srgbClr val="000000"/>
                </a:solidFill>
                <a:latin typeface="Calibri"/>
              </a:rPr>
              <a:t>[10]  Z. Fu, F. Li, J. Gu, H. Wang, P. Nakov, B. Hooi, M.-Y. Kan, and J. Wu, “Better with experience: Self-evolving LLM agents for evidence-grounded health community notes,” arXiv:2606.02215, 2026.</a:t>
            </a:r>
          </a:p>
          <a:p>
            <a:pPr marL="0" indent="0">
              <a:spcAft>
                <a:spcPts val="600"/>
              </a:spcAft>
              <a:buNone/>
            </a:pPr>
            <a:r>
              <a:rPr sz="1200" b="0" i="0">
                <a:solidFill>
                  <a:srgbClr val="000000"/>
                </a:solidFill>
                <a:latin typeface="Calibri"/>
              </a:rPr>
              <a:t>[11]  S. Deandrea, E. Lucenteforte, F. Bravi, R. Foschi, C. La Vecchia, and E. Negri, “Risk factors for falls in community-dwelling older people: A systematic review and meta-analysis,” </a:t>
            </a:r>
            <a:r>
              <a:rPr sz="1200" b="0" i="1">
                <a:solidFill>
                  <a:srgbClr val="000000"/>
                </a:solidFill>
                <a:latin typeface="Calibri"/>
              </a:rPr>
              <a:t>Epidemiology</a:t>
            </a:r>
            <a:r>
              <a:rPr sz="1200" b="0" i="0">
                <a:solidFill>
                  <a:srgbClr val="000000"/>
                </a:solidFill>
                <a:latin typeface="Calibri"/>
              </a:rPr>
              <a:t>, vol. 21, no. 5, pp. 658–668, 2010.</a:t>
            </a:r>
          </a:p>
          <a:p>
            <a:pPr marL="0" indent="0">
              <a:spcAft>
                <a:spcPts val="600"/>
              </a:spcAft>
              <a:buNone/>
            </a:pPr>
            <a:r>
              <a:rPr sz="1200" b="0" i="0">
                <a:solidFill>
                  <a:srgbClr val="000000"/>
                </a:solidFill>
                <a:latin typeface="Calibri"/>
              </a:rPr>
              <a:t>[12]  J. M. Hausdorff, D. A. Rios, and H. K. Edelberg, “Gait variability and fall risk in community-living older adults: A 1-year prospective study,” </a:t>
            </a:r>
            <a:r>
              <a:rPr sz="1200" b="0" i="1">
                <a:solidFill>
                  <a:srgbClr val="000000"/>
                </a:solidFill>
                <a:latin typeface="Calibri"/>
              </a:rPr>
              <a:t>Arch. Phys. Med. Rehabil.</a:t>
            </a:r>
            <a:r>
              <a:rPr sz="1200" b="0" i="0">
                <a:solidFill>
                  <a:srgbClr val="000000"/>
                </a:solidFill>
                <a:latin typeface="Calibri"/>
              </a:rPr>
              <a:t>, vol. 82, no. 8, pp. 1050–1056, 2001.</a:t>
            </a:r>
          </a:p>
        </p:txBody>
      </p:sp>
      <p:sp>
        <p:nvSpPr>
          <p:cNvPr id="5" name="Slide number"/>
          <p:cNvSpPr txBox="1"/>
          <p:nvPr/>
        </p:nvSpPr>
        <p:spPr>
          <a:xfrm>
            <a:off x="11457432" y="6446520"/>
            <a:ext cx="457200" cy="274320"/>
          </a:xfrm>
          <a:prstGeom prst="rect">
            <a:avLst/>
          </a:prstGeom>
          <a:noFill/>
        </p:spPr>
        <p:txBody>
          <a:bodyPr wrap="square" lIns="0" rIns="0" tIns="0" bIns="0" anchor="ctr">
            <a:spAutoFit/>
          </a:bodyPr>
          <a:lstStyle/>
          <a:p>
            <a:pPr marL="0" indent="0" algn="r">
              <a:spcAft>
                <a:spcPts val="0"/>
              </a:spcAft>
              <a:buNone/>
            </a:pPr>
            <a:r>
              <a:rPr sz="1000" b="0" i="0">
                <a:solidFill>
                  <a:srgbClr val="808080"/>
                </a:solidFill>
                <a:latin typeface="Calibri"/>
              </a:rPr>
              <a:t>21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9601200" cy="685800"/>
          </a:xfrm>
          <a:prstGeom prst="rect">
            <a:avLst/>
          </a:prstGeom>
          <a:noFill/>
        </p:spPr>
        <p:txBody>
          <a:bodyPr wrap="square" lIns="0" rIns="0" tIns="0" bIns="0" anchor="ctr">
            <a:spAutoFit/>
          </a:bodyPr>
          <a:lstStyle/>
          <a:p>
            <a:pPr marL="0" indent="0">
              <a:spcAft>
                <a:spcPts val="0"/>
              </a:spcAft>
              <a:buNone/>
            </a:pPr>
            <a:r>
              <a:rPr sz="2800" b="1" i="0">
                <a:solidFill>
                  <a:srgbClr val="1D2F82"/>
                </a:solidFill>
                <a:latin typeface="Calibri"/>
              </a:rPr>
              <a:t>References (2/2)</a:t>
            </a:r>
          </a:p>
        </p:txBody>
      </p:sp>
      <p:pic>
        <p:nvPicPr>
          <p:cNvPr id="3" name="Logo" descr="image.png"/>
          <p:cNvPicPr>
            <a:picLocks noChangeAspect="1"/>
          </p:cNvPicPr>
          <p:nvPr/>
        </p:nvPicPr>
        <p:blipFill>
          <a:blip r:embed="rId2"/>
          <a:stretch>
            <a:fillRect/>
          </a:stretch>
        </p:blipFill>
        <p:spPr>
          <a:xfrm>
            <a:off x="10360152" y="320040"/>
            <a:ext cx="1371600" cy="521207"/>
          </a:xfrm>
          <a:prstGeom prst="rect">
            <a:avLst/>
          </a:prstGeom>
        </p:spPr>
      </p:pic>
      <p:sp>
        <p:nvSpPr>
          <p:cNvPr id="4" name="TextBox 3"/>
          <p:cNvSpPr txBox="1"/>
          <p:nvPr/>
        </p:nvSpPr>
        <p:spPr>
          <a:xfrm>
            <a:off x="640080" y="1234440"/>
            <a:ext cx="10881360" cy="4937760"/>
          </a:xfrm>
          <a:prstGeom prst="rect">
            <a:avLst/>
          </a:prstGeom>
          <a:noFill/>
        </p:spPr>
        <p:txBody>
          <a:bodyPr wrap="square" lIns="0" rIns="0" tIns="0" bIns="0" anchor="t">
            <a:spAutoFit/>
          </a:bodyPr>
          <a:lstStyle/>
          <a:p>
            <a:pPr marL="0" indent="0">
              <a:spcAft>
                <a:spcPts val="600"/>
              </a:spcAft>
              <a:buNone/>
            </a:pPr>
            <a:r>
              <a:rPr sz="1200" b="0" i="0">
                <a:solidFill>
                  <a:srgbClr val="000000"/>
                </a:solidFill>
                <a:latin typeface="Calibri"/>
              </a:rPr>
              <a:t>[13]  A. Mol, P. T. Bui Hoang, S. Sharmin, E. M. Reijnierse, R. J. van Wezel, C. G. Meskers, and A. B. Maier, “Orthostatic hypotension and falls in older adults: A systematic review and meta-analysis,” </a:t>
            </a:r>
            <a:r>
              <a:rPr sz="1200" b="0" i="1">
                <a:solidFill>
                  <a:srgbClr val="000000"/>
                </a:solidFill>
                <a:latin typeface="Calibri"/>
              </a:rPr>
              <a:t>J. Am. Med. Dir. Assoc.</a:t>
            </a:r>
            <a:r>
              <a:rPr sz="1200" b="0" i="0">
                <a:solidFill>
                  <a:srgbClr val="000000"/>
                </a:solidFill>
                <a:latin typeface="Calibri"/>
              </a:rPr>
              <a:t>, vol. 20, no. 5, pp. 589–597, 2019, doi: 10.1016/j.jamda.2018.11.003.</a:t>
            </a:r>
          </a:p>
          <a:p>
            <a:pPr marL="0" indent="0">
              <a:spcAft>
                <a:spcPts val="600"/>
              </a:spcAft>
              <a:buNone/>
            </a:pPr>
            <a:r>
              <a:rPr sz="1200" b="0" i="0">
                <a:solidFill>
                  <a:srgbClr val="000000"/>
                </a:solidFill>
                <a:latin typeface="Calibri"/>
              </a:rPr>
              <a:t>[14]  J. Baker, M. Hood, L. Swanson, C. Kline, K. Ylitalo, J. Cauley, R. Green, and C. Karvonen-Gutierrez, “Sleep quality and duration and risk of falls in older adult women: The Study of Women’s Health Across the Nation (SWAN),” </a:t>
            </a:r>
            <a:r>
              <a:rPr sz="1200" b="0" i="1">
                <a:solidFill>
                  <a:srgbClr val="000000"/>
                </a:solidFill>
                <a:latin typeface="Calibri"/>
              </a:rPr>
              <a:t>Innovation in Aging</a:t>
            </a:r>
            <a:r>
              <a:rPr sz="1200" b="0" i="0">
                <a:solidFill>
                  <a:srgbClr val="000000"/>
                </a:solidFill>
                <a:latin typeface="Calibri"/>
              </a:rPr>
              <a:t>, vol. 8, suppl. 1, p. 112, 2024, doi: 10.1093/geroni/igae098.0360.</a:t>
            </a:r>
          </a:p>
          <a:p>
            <a:pPr marL="0" indent="0">
              <a:spcAft>
                <a:spcPts val="600"/>
              </a:spcAft>
              <a:buNone/>
            </a:pPr>
            <a:r>
              <a:rPr sz="1200" b="0" i="0">
                <a:solidFill>
                  <a:srgbClr val="000000"/>
                </a:solidFill>
                <a:latin typeface="Calibri"/>
              </a:rPr>
              <a:t>[15]  T. Mishra </a:t>
            </a:r>
            <a:r>
              <a:rPr sz="1200" b="0" i="1">
                <a:solidFill>
                  <a:srgbClr val="000000"/>
                </a:solidFill>
                <a:latin typeface="Calibri"/>
              </a:rPr>
              <a:t>et al.</a:t>
            </a:r>
            <a:r>
              <a:rPr sz="1200" b="0" i="0">
                <a:solidFill>
                  <a:srgbClr val="000000"/>
                </a:solidFill>
                <a:latin typeface="Calibri"/>
              </a:rPr>
              <a:t>, “Pre-symptomatic detection of COVID-19 from smartwatch data,” </a:t>
            </a:r>
            <a:r>
              <a:rPr sz="1200" b="0" i="1">
                <a:solidFill>
                  <a:srgbClr val="000000"/>
                </a:solidFill>
                <a:latin typeface="Calibri"/>
              </a:rPr>
              <a:t>Nature Biomedical Engineering</a:t>
            </a:r>
            <a:r>
              <a:rPr sz="1200" b="0" i="0">
                <a:solidFill>
                  <a:srgbClr val="000000"/>
                </a:solidFill>
                <a:latin typeface="Calibri"/>
              </a:rPr>
              <a:t>, vol. 4, no. 12, pp. 1208–1220, 2020.</a:t>
            </a:r>
          </a:p>
          <a:p>
            <a:pPr marL="0" indent="0">
              <a:spcAft>
                <a:spcPts val="600"/>
              </a:spcAft>
              <a:buNone/>
            </a:pPr>
            <a:r>
              <a:rPr sz="1200" b="0" i="0">
                <a:solidFill>
                  <a:srgbClr val="000000"/>
                </a:solidFill>
                <a:latin typeface="Calibri"/>
              </a:rPr>
              <a:t>[16]  E. Alzueta </a:t>
            </a:r>
            <a:r>
              <a:rPr sz="1200" b="0" i="1">
                <a:solidFill>
                  <a:srgbClr val="000000"/>
                </a:solidFill>
                <a:latin typeface="Calibri"/>
              </a:rPr>
              <a:t>et al.</a:t>
            </a:r>
            <a:r>
              <a:rPr sz="1200" b="0" i="0">
                <a:solidFill>
                  <a:srgbClr val="000000"/>
                </a:solidFill>
                <a:latin typeface="Calibri"/>
              </a:rPr>
              <a:t>, “Tracking sleep, temperature, heart rate, and daily symptoms across the menstrual cycle with the Oura ring in healthy women,” </a:t>
            </a:r>
            <a:r>
              <a:rPr sz="1200" b="0" i="1">
                <a:solidFill>
                  <a:srgbClr val="000000"/>
                </a:solidFill>
                <a:latin typeface="Calibri"/>
              </a:rPr>
              <a:t>Int. J. Women’s Health</a:t>
            </a:r>
            <a:r>
              <a:rPr sz="1200" b="0" i="0">
                <a:solidFill>
                  <a:srgbClr val="000000"/>
                </a:solidFill>
                <a:latin typeface="Calibri"/>
              </a:rPr>
              <a:t>, vol. 14, pp. 491–503, 2022, doi: 10.2147/IJWH.S341917.</a:t>
            </a:r>
          </a:p>
          <a:p>
            <a:pPr marL="0" indent="0">
              <a:spcAft>
                <a:spcPts val="600"/>
              </a:spcAft>
              <a:buNone/>
            </a:pPr>
            <a:r>
              <a:rPr sz="1200" b="0" i="0">
                <a:solidFill>
                  <a:srgbClr val="000000"/>
                </a:solidFill>
                <a:latin typeface="Calibri"/>
              </a:rPr>
              <a:t>[17]  E. de Jager, B. Caulfield, E. Angelidi, B. MacNamee, and S. Holden, “Wearable-derived heart rate variability across the menstrual cycle, hormonal contraceptive use, and reproductive life stages in females: A living systematic review,” </a:t>
            </a:r>
            <a:r>
              <a:rPr sz="1200" b="0" i="1">
                <a:solidFill>
                  <a:srgbClr val="000000"/>
                </a:solidFill>
                <a:latin typeface="Calibri"/>
              </a:rPr>
              <a:t>Sports Medicine</a:t>
            </a:r>
            <a:r>
              <a:rPr sz="1200" b="0" i="0">
                <a:solidFill>
                  <a:srgbClr val="000000"/>
                </a:solidFill>
                <a:latin typeface="Calibri"/>
              </a:rPr>
              <a:t>, vol. 56, no. 5, pp. 1153–1173, 2026, doi: 10.1007/s40279-025-02388-y.</a:t>
            </a:r>
          </a:p>
          <a:p>
            <a:pPr marL="0" indent="0">
              <a:spcAft>
                <a:spcPts val="600"/>
              </a:spcAft>
              <a:buNone/>
            </a:pPr>
            <a:r>
              <a:rPr sz="1200" b="0" i="0">
                <a:solidFill>
                  <a:srgbClr val="000000"/>
                </a:solidFill>
                <a:latin typeface="Calibri"/>
              </a:rPr>
              <a:t>[18]  A. Askhatova </a:t>
            </a:r>
            <a:r>
              <a:rPr sz="1200" b="0" i="1">
                <a:solidFill>
                  <a:srgbClr val="000000"/>
                </a:solidFill>
                <a:latin typeface="Calibri"/>
              </a:rPr>
              <a:t>et al.</a:t>
            </a:r>
            <a:r>
              <a:rPr sz="1200" b="0" i="0">
                <a:solidFill>
                  <a:srgbClr val="000000"/>
                </a:solidFill>
                <a:latin typeface="Calibri"/>
              </a:rPr>
              <a:t>, “A temporal convolutional network approach for gait-based fall risk prediction to support safe sport participation in older adults,” </a:t>
            </a:r>
            <a:r>
              <a:rPr sz="1200" b="0" i="1">
                <a:solidFill>
                  <a:srgbClr val="000000"/>
                </a:solidFill>
                <a:latin typeface="Calibri"/>
              </a:rPr>
              <a:t>MethodsX</a:t>
            </a:r>
            <a:r>
              <a:rPr sz="1200" b="0" i="0">
                <a:solidFill>
                  <a:srgbClr val="000000"/>
                </a:solidFill>
                <a:latin typeface="Calibri"/>
              </a:rPr>
              <a:t>, vol. 16, Art. no. 103845, 2026, doi: 10.1016/j.mex.2026.103845.</a:t>
            </a:r>
          </a:p>
          <a:p>
            <a:pPr marL="0" indent="0">
              <a:spcAft>
                <a:spcPts val="600"/>
              </a:spcAft>
              <a:buNone/>
            </a:pPr>
            <a:r>
              <a:rPr sz="1200" b="0" i="0">
                <a:solidFill>
                  <a:srgbClr val="000000"/>
                </a:solidFill>
                <a:latin typeface="Calibri"/>
              </a:rPr>
              <a:t>[19]  A. Weiss, M. Brozgol, M. Dorfman, T. Herman, S. Shema, N. Giladi, and J. M. Hausdorff, “Does the evaluation of gait quality during daily life provide insight into fall risk? A novel approach using 3-day accelerometer recordings,” </a:t>
            </a:r>
            <a:r>
              <a:rPr sz="1200" b="0" i="1">
                <a:solidFill>
                  <a:srgbClr val="000000"/>
                </a:solidFill>
                <a:latin typeface="Calibri"/>
              </a:rPr>
              <a:t>Neurorehabil. Neural Repair</a:t>
            </a:r>
            <a:r>
              <a:rPr sz="1200" b="0" i="0">
                <a:solidFill>
                  <a:srgbClr val="000000"/>
                </a:solidFill>
                <a:latin typeface="Calibri"/>
              </a:rPr>
              <a:t>, vol. 27, no. 8, pp. 742–752, 2013.</a:t>
            </a:r>
          </a:p>
          <a:p>
            <a:pPr marL="0" indent="0">
              <a:spcAft>
                <a:spcPts val="600"/>
              </a:spcAft>
              <a:buNone/>
            </a:pPr>
            <a:r>
              <a:rPr sz="1200" b="0" i="0">
                <a:solidFill>
                  <a:srgbClr val="000000"/>
                </a:solidFill>
                <a:latin typeface="Calibri"/>
              </a:rPr>
              <a:t>[20]  J. McCamley, M. Donati, E. Grimpampi, and C. Mazzà, “An enhanced estimate of initial contact and final contact instants of time using lower trunk inertial sensor data,” </a:t>
            </a:r>
            <a:r>
              <a:rPr sz="1200" b="0" i="1">
                <a:solidFill>
                  <a:srgbClr val="000000"/>
                </a:solidFill>
                <a:latin typeface="Calibri"/>
              </a:rPr>
              <a:t>Gait &amp; Posture</a:t>
            </a:r>
            <a:r>
              <a:rPr sz="1200" b="0" i="0">
                <a:solidFill>
                  <a:srgbClr val="000000"/>
                </a:solidFill>
                <a:latin typeface="Calibri"/>
              </a:rPr>
              <a:t>, vol. 36, no. 2, pp. 316–318, 2012.</a:t>
            </a:r>
          </a:p>
          <a:p>
            <a:pPr marL="0" indent="0">
              <a:spcAft>
                <a:spcPts val="600"/>
              </a:spcAft>
              <a:buNone/>
            </a:pPr>
            <a:r>
              <a:rPr sz="1200" b="0" i="0">
                <a:solidFill>
                  <a:srgbClr val="000000"/>
                </a:solidFill>
                <a:latin typeface="Calibri"/>
              </a:rPr>
              <a:t>[21]  R. Moe-Nilssen and J. L. Helbostad, “Estimation of gait cycle characteristics by trunk accelerometry,” </a:t>
            </a:r>
            <a:r>
              <a:rPr sz="1200" b="0" i="1">
                <a:solidFill>
                  <a:srgbClr val="000000"/>
                </a:solidFill>
                <a:latin typeface="Calibri"/>
              </a:rPr>
              <a:t>J. Biomechanics</a:t>
            </a:r>
            <a:r>
              <a:rPr sz="1200" b="0" i="0">
                <a:solidFill>
                  <a:srgbClr val="000000"/>
                </a:solidFill>
                <a:latin typeface="Calibri"/>
              </a:rPr>
              <a:t>, vol. 37, no. 1, pp. 121–126, 2004.</a:t>
            </a:r>
          </a:p>
          <a:p>
            <a:pPr marL="0" indent="0">
              <a:spcAft>
                <a:spcPts val="600"/>
              </a:spcAft>
              <a:buNone/>
            </a:pPr>
            <a:r>
              <a:rPr sz="1200" b="0" i="0">
                <a:solidFill>
                  <a:srgbClr val="000000"/>
                </a:solidFill>
                <a:latin typeface="Calibri"/>
              </a:rPr>
              <a:t>[22]  D. Drover, J. Howcroft, J. Kofman, and E. D. Lemaire, “Faller classification in older adults using wearable sensors based on turn and straight-walking accelerometer-based features,” </a:t>
            </a:r>
            <a:r>
              <a:rPr sz="1200" b="0" i="1">
                <a:solidFill>
                  <a:srgbClr val="000000"/>
                </a:solidFill>
                <a:latin typeface="Calibri"/>
              </a:rPr>
              <a:t>Sensors</a:t>
            </a:r>
            <a:r>
              <a:rPr sz="1200" b="0" i="0">
                <a:solidFill>
                  <a:srgbClr val="000000"/>
                </a:solidFill>
                <a:latin typeface="Calibri"/>
              </a:rPr>
              <a:t>, vol. 17, no. 6, Art. no. 1321, 2017.</a:t>
            </a:r>
          </a:p>
          <a:p>
            <a:pPr marL="0" indent="0">
              <a:spcAft>
                <a:spcPts val="600"/>
              </a:spcAft>
              <a:buNone/>
            </a:pPr>
            <a:r>
              <a:rPr sz="1200" b="0" i="0">
                <a:solidFill>
                  <a:srgbClr val="000000"/>
                </a:solidFill>
                <a:latin typeface="Calibri"/>
              </a:rPr>
              <a:t>[23]  J. M. Hausdorff, “Long Term Movement Monitoring Database (LTMM), version 1.0.0,” PhysioNet, doi: 10.13026/C2S59C.</a:t>
            </a:r>
          </a:p>
        </p:txBody>
      </p:sp>
      <p:sp>
        <p:nvSpPr>
          <p:cNvPr id="5" name="Slide number"/>
          <p:cNvSpPr txBox="1"/>
          <p:nvPr/>
        </p:nvSpPr>
        <p:spPr>
          <a:xfrm>
            <a:off x="11457432" y="6446520"/>
            <a:ext cx="457200" cy="274320"/>
          </a:xfrm>
          <a:prstGeom prst="rect">
            <a:avLst/>
          </a:prstGeom>
          <a:noFill/>
        </p:spPr>
        <p:txBody>
          <a:bodyPr wrap="square" lIns="0" rIns="0" tIns="0" bIns="0" anchor="ctr">
            <a:spAutoFit/>
          </a:bodyPr>
          <a:lstStyle/>
          <a:p>
            <a:pPr marL="0" indent="0" algn="r">
              <a:spcAft>
                <a:spcPts val="0"/>
              </a:spcAft>
              <a:buNone/>
            </a:pPr>
            <a:r>
              <a:rPr sz="1000" b="0" i="0">
                <a:solidFill>
                  <a:srgbClr val="808080"/>
                </a:solidFill>
                <a:latin typeface="Calibri"/>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498</Words>
  <Application>Microsoft Macintosh PowerPoint</Application>
  <PresentationFormat>Widescreen</PresentationFormat>
  <Paragraphs>96</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mark kandan</cp:lastModifiedBy>
  <cp:revision>2</cp:revision>
  <dcterms:created xsi:type="dcterms:W3CDTF">2026-08-27T09:57:11Z</dcterms:created>
  <dcterms:modified xsi:type="dcterms:W3CDTF">2026-10-08T04:54:00Z</dcterms:modified>
</cp:coreProperties>
</file>